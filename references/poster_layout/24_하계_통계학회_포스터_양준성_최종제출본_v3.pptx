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8" r:id="rId2"/>
  </p:sldIdLst>
  <p:sldSz cx="21383625" cy="30275213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735" userDrawn="1">
          <p15:clr>
            <a:srgbClr val="A4A3A4"/>
          </p15:clr>
        </p15:guide>
        <p15:guide id="2" pos="271" userDrawn="1">
          <p15:clr>
            <a:srgbClr val="A4A3A4"/>
          </p15:clr>
        </p15:guide>
        <p15:guide id="4" orient="horz" pos="1938" userDrawn="1">
          <p15:clr>
            <a:srgbClr val="A4A3A4"/>
          </p15:clr>
        </p15:guide>
        <p15:guide id="5" pos="6984" userDrawn="1">
          <p15:clr>
            <a:srgbClr val="A4A3A4"/>
          </p15:clr>
        </p15:guide>
        <p15:guide id="6" pos="6486" userDrawn="1">
          <p15:clr>
            <a:srgbClr val="A4A3A4"/>
          </p15:clr>
        </p15:guide>
        <p15:guide id="7" pos="131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7F"/>
    <a:srgbClr val="DEDEDE"/>
    <a:srgbClr val="0C77C3"/>
    <a:srgbClr val="2F5597"/>
    <a:srgbClr val="0070C0"/>
    <a:srgbClr val="FFFFFF"/>
    <a:srgbClr val="E9EBF5"/>
    <a:srgbClr val="CFD5EA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1" autoAdjust="0"/>
    <p:restoredTop sz="96724" autoAdjust="0"/>
  </p:normalViewPr>
  <p:slideViewPr>
    <p:cSldViewPr snapToGrid="0">
      <p:cViewPr>
        <p:scale>
          <a:sx n="75" d="100"/>
          <a:sy n="75" d="100"/>
        </p:scale>
        <p:origin x="1926" y="-5658"/>
      </p:cViewPr>
      <p:guideLst>
        <p:guide pos="6735"/>
        <p:guide pos="271"/>
        <p:guide orient="horz" pos="1938"/>
        <p:guide pos="6984"/>
        <p:guide pos="6486"/>
        <p:guide pos="13199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E438BE-BD49-42F6-8562-7406FB9FE3DA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19325" y="1243013"/>
            <a:ext cx="23685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5D2A3-1706-4EE3-AF9E-E81C0D6E0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90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11630" rtl="0" eaLnBrk="1" latinLnBrk="1" hangingPunct="1">
      <a:defRPr sz="2115" kern="1200">
        <a:solidFill>
          <a:schemeClr val="tx1"/>
        </a:solidFill>
        <a:latin typeface="+mn-lt"/>
        <a:ea typeface="+mn-ea"/>
        <a:cs typeface="+mn-cs"/>
      </a:defRPr>
    </a:lvl1pPr>
    <a:lvl2pPr marL="805815" algn="l" defTabSz="1611630" rtl="0" eaLnBrk="1" latinLnBrk="1" hangingPunct="1">
      <a:defRPr sz="2115" kern="1200">
        <a:solidFill>
          <a:schemeClr val="tx1"/>
        </a:solidFill>
        <a:latin typeface="+mn-lt"/>
        <a:ea typeface="+mn-ea"/>
        <a:cs typeface="+mn-cs"/>
      </a:defRPr>
    </a:lvl2pPr>
    <a:lvl3pPr marL="1611630" algn="l" defTabSz="1611630" rtl="0" eaLnBrk="1" latinLnBrk="1" hangingPunct="1">
      <a:defRPr sz="2115" kern="1200">
        <a:solidFill>
          <a:schemeClr val="tx1"/>
        </a:solidFill>
        <a:latin typeface="+mn-lt"/>
        <a:ea typeface="+mn-ea"/>
        <a:cs typeface="+mn-cs"/>
      </a:defRPr>
    </a:lvl3pPr>
    <a:lvl4pPr marL="2417445" algn="l" defTabSz="1611630" rtl="0" eaLnBrk="1" latinLnBrk="1" hangingPunct="1">
      <a:defRPr sz="2115" kern="1200">
        <a:solidFill>
          <a:schemeClr val="tx1"/>
        </a:solidFill>
        <a:latin typeface="+mn-lt"/>
        <a:ea typeface="+mn-ea"/>
        <a:cs typeface="+mn-cs"/>
      </a:defRPr>
    </a:lvl4pPr>
    <a:lvl5pPr marL="3223260" algn="l" defTabSz="1611630" rtl="0" eaLnBrk="1" latinLnBrk="1" hangingPunct="1">
      <a:defRPr sz="2115" kern="1200">
        <a:solidFill>
          <a:schemeClr val="tx1"/>
        </a:solidFill>
        <a:latin typeface="+mn-lt"/>
        <a:ea typeface="+mn-ea"/>
        <a:cs typeface="+mn-cs"/>
      </a:defRPr>
    </a:lvl5pPr>
    <a:lvl6pPr marL="4029075" algn="l" defTabSz="1611630" rtl="0" eaLnBrk="1" latinLnBrk="1" hangingPunct="1">
      <a:defRPr sz="2115" kern="1200">
        <a:solidFill>
          <a:schemeClr val="tx1"/>
        </a:solidFill>
        <a:latin typeface="+mn-lt"/>
        <a:ea typeface="+mn-ea"/>
        <a:cs typeface="+mn-cs"/>
      </a:defRPr>
    </a:lvl6pPr>
    <a:lvl7pPr marL="4834890" algn="l" defTabSz="1611630" rtl="0" eaLnBrk="1" latinLnBrk="1" hangingPunct="1">
      <a:defRPr sz="2115" kern="1200">
        <a:solidFill>
          <a:schemeClr val="tx1"/>
        </a:solidFill>
        <a:latin typeface="+mn-lt"/>
        <a:ea typeface="+mn-ea"/>
        <a:cs typeface="+mn-cs"/>
      </a:defRPr>
    </a:lvl7pPr>
    <a:lvl8pPr marL="5640705" algn="l" defTabSz="1611630" rtl="0" eaLnBrk="1" latinLnBrk="1" hangingPunct="1">
      <a:defRPr sz="2115" kern="1200">
        <a:solidFill>
          <a:schemeClr val="tx1"/>
        </a:solidFill>
        <a:latin typeface="+mn-lt"/>
        <a:ea typeface="+mn-ea"/>
        <a:cs typeface="+mn-cs"/>
      </a:defRPr>
    </a:lvl8pPr>
    <a:lvl9pPr marL="6446520" algn="l" defTabSz="1611630" rtl="0" eaLnBrk="1" latinLnBrk="1" hangingPunct="1">
      <a:defRPr sz="21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5D2A3-1706-4EE3-AF9E-E81C0D6E0D7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863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40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26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470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434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55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03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410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23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43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28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24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F0A96-EEBB-43A9-9D56-279051C22529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34E75-B712-4737-93FE-377FC78F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68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822152-7186-4EF1-958E-45C336946CF0}"/>
              </a:ext>
            </a:extLst>
          </p:cNvPr>
          <p:cNvSpPr/>
          <p:nvPr/>
        </p:nvSpPr>
        <p:spPr>
          <a:xfrm flipV="1">
            <a:off x="14564" y="2737275"/>
            <a:ext cx="21369061" cy="948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565"/>
          </a:p>
        </p:txBody>
      </p:sp>
      <p:pic>
        <p:nvPicPr>
          <p:cNvPr id="8" name="Picture 4592" descr="https://www.hanyang.ac.kr/documents/20182/73809/HYU_logo_singlecolor_png.png/b8aabfbe-a488-437d-b4a5-bd616d1577da?t=1474070795276">
            <a:extLst>
              <a:ext uri="{FF2B5EF4-FFF2-40B4-BE49-F238E27FC236}">
                <a16:creationId xmlns:a16="http://schemas.microsoft.com/office/drawing/2014/main" id="{C7F1F3E4-3026-4464-8C3A-0C71E5549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79" y="342102"/>
            <a:ext cx="2185878" cy="218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65">
            <a:extLst>
              <a:ext uri="{FF2B5EF4-FFF2-40B4-BE49-F238E27FC236}">
                <a16:creationId xmlns:a16="http://schemas.microsoft.com/office/drawing/2014/main" id="{41FECDE7-7D6E-46FD-8238-A77C308DB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938" y="-19594"/>
            <a:ext cx="21406032" cy="1359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0" rIns="72000" bIns="0" anchor="b">
            <a:noAutofit/>
          </a:bodyPr>
          <a:lstStyle/>
          <a:p>
            <a:pPr marL="0" marR="0" indent="0" algn="ctr" fontAlgn="base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4800" b="1" kern="0" spc="0" dirty="0" smtClean="0">
                <a:effectLst/>
                <a:ea typeface="HY신명조" panose="02030600000101010101" pitchFamily="18" charset="-127"/>
                <a:cs typeface="Times New Roman" panose="02020603050405020304" pitchFamily="18" charset="0"/>
              </a:rPr>
              <a:t>Active learning</a:t>
            </a:r>
            <a:r>
              <a:rPr lang="ko-KR" altLang="en-US" sz="4800" b="1" kern="0" spc="0" dirty="0" smtClean="0">
                <a:effectLst/>
                <a:ea typeface="HY신명조" panose="02030600000101010101" pitchFamily="18" charset="-127"/>
                <a:cs typeface="Times New Roman" panose="02020603050405020304" pitchFamily="18" charset="0"/>
              </a:rPr>
              <a:t>의 성능 향상을 위한 불확실성 측도 비교</a:t>
            </a:r>
            <a:endParaRPr lang="ko-KR" altLang="en-US" sz="4800" b="1" kern="0" spc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14" name="TextBox 66">
            <a:extLst>
              <a:ext uri="{FF2B5EF4-FFF2-40B4-BE49-F238E27FC236}">
                <a16:creationId xmlns:a16="http://schemas.microsoft.com/office/drawing/2014/main" id="{E537FB44-EC49-4099-8E82-58DEB958A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938" y="1383561"/>
            <a:ext cx="21406032" cy="136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 bIns="0">
            <a:spAutoFit/>
          </a:bodyPr>
          <a:lstStyle/>
          <a:p>
            <a:pPr marL="0" marR="0" indent="0" algn="ctr" fontAlgn="base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kern="0" dirty="0" err="1" smtClean="0">
                <a:solidFill>
                  <a:srgbClr val="000000"/>
                </a:solidFill>
                <a:ea typeface="HY신명조" panose="02030600000101010101" pitchFamily="18" charset="-127"/>
                <a:cs typeface="Times New Roman" panose="02020603050405020304" pitchFamily="18" charset="0"/>
              </a:rPr>
              <a:t>양준성</a:t>
            </a:r>
            <a:r>
              <a:rPr lang="en-US" altLang="ko-KR" sz="2800" b="1" kern="0" spc="0" baseline="30000" dirty="0" smtClean="0">
                <a:solidFill>
                  <a:srgbClr val="000000"/>
                </a:solidFill>
                <a:effectLst/>
                <a:ea typeface="HY신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800" b="1" kern="0" spc="0" baseline="30000" dirty="0">
                <a:solidFill>
                  <a:srgbClr val="000000"/>
                </a:solidFill>
                <a:effectLst/>
                <a:ea typeface="HY신명조" panose="0203060000010101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ea typeface="HY신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800" b="1" kern="0" spc="0" dirty="0">
                <a:solidFill>
                  <a:srgbClr val="000000"/>
                </a:solidFill>
                <a:effectLst/>
                <a:ea typeface="HY신명조" panose="02030600000101010101" pitchFamily="18" charset="-127"/>
                <a:cs typeface="Times New Roman" panose="02020603050405020304" pitchFamily="18" charset="0"/>
              </a:rPr>
              <a:t>·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ea typeface="HY신명조" panose="02030600000101010101" pitchFamily="18" charset="-127"/>
                <a:cs typeface="Times New Roman" panose="02020603050405020304" pitchFamily="18" charset="0"/>
              </a:rPr>
              <a:t> 정혜영</a:t>
            </a:r>
            <a:r>
              <a:rPr lang="en-US" altLang="ko-KR" sz="2800" b="1" kern="0" spc="0" baseline="30000" dirty="0">
                <a:solidFill>
                  <a:srgbClr val="000000"/>
                </a:solidFill>
                <a:effectLst/>
                <a:ea typeface="HY신명조" panose="02030600000101010101" pitchFamily="18" charset="-127"/>
                <a:cs typeface="Times New Roman" panose="02020603050405020304" pitchFamily="18" charset="0"/>
              </a:rPr>
              <a:t> 2</a:t>
            </a:r>
            <a:endParaRPr lang="ko-KR" altLang="en-US" sz="2800" b="1" kern="0" spc="0" baseline="3000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marR="0" indent="0" algn="ctr" fontAlgn="base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baseline="30000" dirty="0">
                <a:solidFill>
                  <a:srgbClr val="000000"/>
                </a:solidFill>
                <a:ea typeface="HY신명조" panose="0203060000010101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ea typeface="HY신명조" panose="02030600000101010101" pitchFamily="18" charset="-127"/>
                <a:cs typeface="Times New Roman" panose="02020603050405020304" pitchFamily="18" charset="0"/>
              </a:rPr>
              <a:t>한양대학교 일반대학원 응용수학과</a:t>
            </a:r>
            <a:endParaRPr lang="en-US" altLang="ko-KR" sz="2000" kern="0" spc="0" dirty="0">
              <a:solidFill>
                <a:srgbClr val="000000"/>
              </a:solidFill>
              <a:effectLst/>
              <a:ea typeface="HY신명조" panose="02030600000101010101" pitchFamily="18" charset="-127"/>
              <a:cs typeface="Times New Roman" panose="02020603050405020304" pitchFamily="18" charset="0"/>
            </a:endParaRPr>
          </a:p>
          <a:p>
            <a:pPr algn="ctr" fontAlgn="base">
              <a:lnSpc>
                <a:spcPct val="130000"/>
              </a:lnSpc>
            </a:pPr>
            <a:r>
              <a:rPr lang="en-US" altLang="ko-KR" sz="2000" kern="0" baseline="30000" dirty="0">
                <a:solidFill>
                  <a:srgbClr val="000000"/>
                </a:solidFill>
                <a:ea typeface="HY신명조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 kern="0" dirty="0">
                <a:solidFill>
                  <a:srgbClr val="000000"/>
                </a:solidFill>
                <a:ea typeface="HY신명조" panose="02030600000101010101" pitchFamily="18" charset="-127"/>
                <a:cs typeface="Times New Roman" panose="02020603050405020304" pitchFamily="18" charset="0"/>
              </a:rPr>
              <a:t>한양대학교 </a:t>
            </a:r>
            <a:r>
              <a:rPr lang="en-US" altLang="ko-KR" sz="2000" kern="0" dirty="0">
                <a:solidFill>
                  <a:srgbClr val="000000"/>
                </a:solidFill>
                <a:ea typeface="HY신명조" panose="02030600000101010101" pitchFamily="18" charset="-127"/>
                <a:cs typeface="Times New Roman" panose="02020603050405020304" pitchFamily="18" charset="0"/>
              </a:rPr>
              <a:t>ERICA</a:t>
            </a:r>
            <a:r>
              <a:rPr lang="ko-KR" altLang="en-US" sz="2000" kern="0" dirty="0">
                <a:solidFill>
                  <a:srgbClr val="000000"/>
                </a:solidFill>
                <a:ea typeface="HY신명조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kern="0" dirty="0" smtClean="0">
                <a:solidFill>
                  <a:srgbClr val="000000"/>
                </a:solidFill>
                <a:ea typeface="HY신명조" panose="02030600000101010101" pitchFamily="18" charset="-127"/>
                <a:cs typeface="Times New Roman" panose="02020603050405020304" pitchFamily="18" charset="0"/>
              </a:rPr>
              <a:t>수리데이터사이언스학과</a:t>
            </a:r>
            <a:endParaRPr lang="en-US" altLang="ko-KR" sz="2000" kern="0" dirty="0">
              <a:solidFill>
                <a:srgbClr val="000000"/>
              </a:solidFill>
              <a:ea typeface="HY신명조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BB7996-34F7-43B9-AE43-8B1447BDF1ED}"/>
              </a:ext>
            </a:extLst>
          </p:cNvPr>
          <p:cNvSpPr/>
          <p:nvPr/>
        </p:nvSpPr>
        <p:spPr>
          <a:xfrm>
            <a:off x="342428" y="3092802"/>
            <a:ext cx="10040366" cy="461377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3400" b="1" dirty="0"/>
              <a:t>  Abstract</a:t>
            </a:r>
            <a:endParaRPr lang="ko-KR" altLang="en-US" sz="3400" b="1" dirty="0"/>
          </a:p>
        </p:txBody>
      </p:sp>
      <p:cxnSp>
        <p:nvCxnSpPr>
          <p:cNvPr id="16" name="AutoShape 1279">
            <a:extLst>
              <a:ext uri="{FF2B5EF4-FFF2-40B4-BE49-F238E27FC236}">
                <a16:creationId xmlns:a16="http://schemas.microsoft.com/office/drawing/2014/main" id="{ABCDBD80-28E3-4A55-8AEC-E158ED97E712}"/>
              </a:ext>
            </a:extLst>
          </p:cNvPr>
          <p:cNvCxnSpPr>
            <a:cxnSpLocks noChangeShapeType="1"/>
            <a:endCxn id="81" idx="2"/>
          </p:cNvCxnSpPr>
          <p:nvPr/>
        </p:nvCxnSpPr>
        <p:spPr bwMode="auto">
          <a:xfrm flipH="1">
            <a:off x="10691054" y="2907433"/>
            <a:ext cx="571" cy="26796422"/>
          </a:xfrm>
          <a:prstGeom prst="straightConnector1">
            <a:avLst/>
          </a:prstGeom>
          <a:noFill/>
          <a:ln w="19050">
            <a:solidFill>
              <a:srgbClr val="97B3DE"/>
            </a:solidFill>
            <a:round/>
            <a:headEnd/>
            <a:tailEnd/>
          </a:ln>
          <a:effectLst/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BBE7FD4-56CF-4119-96CD-7916DB8C61A3}"/>
              </a:ext>
            </a:extLst>
          </p:cNvPr>
          <p:cNvSpPr txBox="1"/>
          <p:nvPr/>
        </p:nvSpPr>
        <p:spPr>
          <a:xfrm>
            <a:off x="342428" y="3567288"/>
            <a:ext cx="10040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 latinLnBrk="1"/>
            <a:r>
              <a:rPr lang="en-US" altLang="ko-KR" dirty="0" smtClean="0"/>
              <a:t> Active learning (AL</a:t>
            </a:r>
            <a:r>
              <a:rPr lang="en-US" altLang="ko-KR" dirty="0"/>
              <a:t>) aims to enhances the </a:t>
            </a:r>
            <a:r>
              <a:rPr lang="en-US" altLang="ko-KR" dirty="0" smtClean="0"/>
              <a:t>performance of </a:t>
            </a:r>
            <a:r>
              <a:rPr lang="en-US" altLang="ko-KR" dirty="0"/>
              <a:t>deep learning models by selecting the most informative samples from unlabeled </a:t>
            </a:r>
            <a:r>
              <a:rPr lang="en-US" altLang="ko-KR" dirty="0" smtClean="0"/>
              <a:t>pool set. </a:t>
            </a:r>
            <a:r>
              <a:rPr lang="en-US" altLang="ko-KR" dirty="0"/>
              <a:t>Even though </a:t>
            </a:r>
            <a:r>
              <a:rPr lang="en-US" altLang="ko-KR" dirty="0" smtClean="0"/>
              <a:t>effective with </a:t>
            </a:r>
            <a:r>
              <a:rPr lang="en-US" altLang="ko-KR" dirty="0"/>
              <a:t>homogeneous data, AL </a:t>
            </a:r>
            <a:r>
              <a:rPr lang="en-US" altLang="ko-KR" dirty="0" smtClean="0"/>
              <a:t>can struggle </a:t>
            </a:r>
            <a:r>
              <a:rPr lang="en-US" altLang="ko-KR" dirty="0"/>
              <a:t>with Out-Of-Distribution (OOD) or contaminated </a:t>
            </a:r>
            <a:r>
              <a:rPr lang="en-US" altLang="ko-KR" dirty="0" smtClean="0"/>
              <a:t>data</a:t>
            </a:r>
            <a:r>
              <a:rPr lang="en-US" altLang="ko-KR" dirty="0"/>
              <a:t> </a:t>
            </a:r>
            <a:r>
              <a:rPr lang="en-US" altLang="ko-KR" dirty="0" smtClean="0"/>
              <a:t>of </a:t>
            </a:r>
            <a:r>
              <a:rPr lang="en-US" altLang="ko-KR" dirty="0"/>
              <a:t>real world.</a:t>
            </a:r>
            <a:r>
              <a:rPr lang="en-US" altLang="ko-KR" dirty="0" smtClean="0"/>
              <a:t> </a:t>
            </a:r>
            <a:r>
              <a:rPr lang="en-US" altLang="ko-KR" dirty="0"/>
              <a:t>This study aims to compare and verify the performance of </a:t>
            </a:r>
            <a:r>
              <a:rPr lang="en-US" altLang="ko-KR" dirty="0" smtClean="0"/>
              <a:t>AL using various </a:t>
            </a:r>
            <a:r>
              <a:rPr lang="en-US" altLang="ko-KR" dirty="0"/>
              <a:t>uncertainty </a:t>
            </a:r>
            <a:r>
              <a:rPr lang="en-US" altLang="ko-KR" dirty="0" smtClean="0"/>
              <a:t>measures with real-world scenarios.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E40BC4-550A-464D-BA71-440439050768}"/>
              </a:ext>
            </a:extLst>
          </p:cNvPr>
          <p:cNvSpPr txBox="1"/>
          <p:nvPr/>
        </p:nvSpPr>
        <p:spPr>
          <a:xfrm>
            <a:off x="450166" y="24281620"/>
            <a:ext cx="9866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b="1" dirty="0" smtClean="0">
                <a:solidFill>
                  <a:srgbClr val="0070C0"/>
                </a:solidFill>
              </a:rPr>
              <a:t>Pool sets</a:t>
            </a:r>
            <a:endParaRPr lang="en-US" altLang="ko-KR" b="1" dirty="0">
              <a:solidFill>
                <a:srgbClr val="0070C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 smtClean="0"/>
              <a:t>Unlabeled pool set of real world contains samples with high </a:t>
            </a:r>
            <a:r>
              <a:rPr lang="en-US" altLang="ko-KR" dirty="0" err="1" smtClean="0"/>
              <a:t>aleatoric</a:t>
            </a:r>
            <a:r>
              <a:rPr lang="en-US" altLang="ko-KR" dirty="0" smtClean="0"/>
              <a:t> uncertainty.</a:t>
            </a:r>
          </a:p>
        </p:txBody>
      </p:sp>
      <p:sp>
        <p:nvSpPr>
          <p:cNvPr id="81" name="Rectangle 1386"/>
          <p:cNvSpPr>
            <a:spLocks noChangeArrowheads="1"/>
          </p:cNvSpPr>
          <p:nvPr/>
        </p:nvSpPr>
        <p:spPr bwMode="auto">
          <a:xfrm>
            <a:off x="428695" y="29646446"/>
            <a:ext cx="20524717" cy="57409"/>
          </a:xfrm>
          <a:prstGeom prst="rect">
            <a:avLst/>
          </a:prstGeom>
          <a:solidFill>
            <a:srgbClr val="096EB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4176713" latinLnBrk="1">
              <a:spcBef>
                <a:spcPct val="20000"/>
              </a:spcBef>
              <a:buChar char="•"/>
              <a:defRPr kumimoji="1" sz="14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394075" indent="-1306513" defTabSz="4176713" latinLnBrk="1">
              <a:spcBef>
                <a:spcPct val="20000"/>
              </a:spcBef>
              <a:buChar char="–"/>
              <a:defRPr kumimoji="1" sz="1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5221288" indent="-1044575" defTabSz="4176713" latinLnBrk="1">
              <a:spcBef>
                <a:spcPct val="20000"/>
              </a:spcBef>
              <a:buChar char="•"/>
              <a:defRPr kumimoji="1" sz="1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7308850" indent="-1044575" defTabSz="4176713" latinLnBrk="1">
              <a:spcBef>
                <a:spcPct val="20000"/>
              </a:spcBef>
              <a:buChar char="–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9396413" indent="-1042988" defTabSz="4176713" latinLnBrk="1">
              <a:spcBef>
                <a:spcPct val="20000"/>
              </a:spcBef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98536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103108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107680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11225213" indent="-1042988" defTabSz="41767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ko-KR" altLang="ko-KR" sz="3600" b="1">
              <a:solidFill>
                <a:schemeClr val="bg1"/>
              </a:solidFill>
              <a:latin typeface="+mn-lt"/>
              <a:ea typeface="돋움" panose="020B0600000101010101" pitchFamily="50" charset="-127"/>
            </a:endParaRPr>
          </a:p>
        </p:txBody>
      </p:sp>
      <p:sp>
        <p:nvSpPr>
          <p:cNvPr id="82" name="직사각형 1"/>
          <p:cNvSpPr>
            <a:spLocks noChangeArrowheads="1"/>
          </p:cNvSpPr>
          <p:nvPr/>
        </p:nvSpPr>
        <p:spPr bwMode="auto">
          <a:xfrm>
            <a:off x="447007" y="29732373"/>
            <a:ext cx="202798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14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1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1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+mn-lt"/>
                <a:ea typeface="+mj-ea"/>
              </a:rPr>
              <a:t>본 논문은 한국연구재단 연구자지원사업</a:t>
            </a:r>
            <a:r>
              <a:rPr lang="en-US" altLang="ko-KR" sz="1800" dirty="0" smtClean="0">
                <a:latin typeface="+mn-lt"/>
                <a:ea typeface="+mj-ea"/>
              </a:rPr>
              <a:t>(</a:t>
            </a:r>
            <a:r>
              <a:rPr lang="en-US" altLang="ko-KR" sz="1800" dirty="0" smtClean="0">
                <a:latin typeface="+mn-lt"/>
                <a:ea typeface="+mn-ea"/>
              </a:rPr>
              <a:t>KRF-2022R1F1A1074939</a:t>
            </a:r>
            <a:r>
              <a:rPr lang="en-US" altLang="ko-KR" sz="1800" dirty="0" smtClean="0">
                <a:latin typeface="+mn-lt"/>
                <a:ea typeface="+mj-ea"/>
              </a:rPr>
              <a:t>)</a:t>
            </a:r>
            <a:r>
              <a:rPr lang="ko-KR" altLang="en-US" sz="1800" dirty="0">
                <a:latin typeface="+mn-lt"/>
                <a:ea typeface="+mj-ea"/>
              </a:rPr>
              <a:t>의 지원을 받아 수행된 연구임</a:t>
            </a:r>
            <a:r>
              <a:rPr lang="en-US" altLang="ko-KR" sz="1800" dirty="0">
                <a:latin typeface="+mn-lt"/>
                <a:ea typeface="+mj-ea"/>
              </a:rPr>
              <a:t>.</a:t>
            </a:r>
            <a:endParaRPr lang="ko-KR" altLang="en-US" sz="1800" dirty="0">
              <a:latin typeface="+mn-lt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8E4D2A-3A02-4DEF-98B2-8BAA3AB3C42D}"/>
                  </a:ext>
                </a:extLst>
              </p:cNvPr>
              <p:cNvSpPr txBox="1"/>
              <p:nvPr/>
            </p:nvSpPr>
            <p:spPr>
              <a:xfrm>
                <a:off x="342428" y="5271792"/>
                <a:ext cx="10192835" cy="9611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ko-KR" dirty="0" smtClean="0"/>
                  <a:t> Uncertainty </a:t>
                </a:r>
                <a:r>
                  <a:rPr lang="en-US" altLang="ko-KR" dirty="0"/>
                  <a:t>arises from various sources. </a:t>
                </a:r>
                <a:r>
                  <a:rPr lang="en-US" altLang="ko-KR" dirty="0" err="1"/>
                  <a:t>Aleatoric</a:t>
                </a:r>
                <a:r>
                  <a:rPr lang="en-US" altLang="ko-KR" dirty="0"/>
                  <a:t> uncertainty, caused by inherent noise in data, cannot be reduced with </a:t>
                </a:r>
                <a:r>
                  <a:rPr lang="en-US" altLang="ko-KR" dirty="0" smtClean="0"/>
                  <a:t>more training </a:t>
                </a:r>
                <a:r>
                  <a:rPr lang="en-US" altLang="ko-KR" dirty="0"/>
                  <a:t>samples. In contrast, epistemic uncertainty due to insufficient data can be reduced by increasing the training set. OOD-related uncertainty also plays a crucial role in AL strategies. Methods to estimate these uncertainties are divided into two main approaches: multiple forward passes that estimate predictive distribution, and single forward pass methods that utilize distances between data </a:t>
                </a:r>
                <a:r>
                  <a:rPr lang="en-US" altLang="ko-KR" dirty="0" smtClean="0"/>
                  <a:t>points.</a:t>
                </a:r>
              </a:p>
              <a:p>
                <a:pPr algn="just"/>
                <a:endParaRPr lang="en-US" altLang="ko-KR" sz="1000" dirty="0"/>
              </a:p>
              <a:p>
                <a:pPr algn="just"/>
                <a:r>
                  <a:rPr lang="en-US" altLang="ko-KR" sz="2000" b="1" dirty="0" smtClean="0">
                    <a:solidFill>
                      <a:srgbClr val="0070C0"/>
                    </a:solidFill>
                  </a:rPr>
                  <a:t>Multiple forward based method : MC dropout (2017)</a:t>
                </a:r>
                <a:endParaRPr lang="en-US" altLang="ko-KR" sz="2000" b="1" dirty="0">
                  <a:solidFill>
                    <a:srgbClr val="0070C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 smtClean="0"/>
                  <a:t> MC </a:t>
                </a:r>
                <a:r>
                  <a:rPr lang="en-US" altLang="ko-KR" dirty="0"/>
                  <a:t>dropout, </a:t>
                </a:r>
                <a:r>
                  <a:rPr lang="en-US" altLang="ko-KR" dirty="0" smtClean="0"/>
                  <a:t>which estimates the prediction distribution by applying </a:t>
                </a:r>
                <a:r>
                  <a:rPr lang="en-US" altLang="ko-KR" dirty="0"/>
                  <a:t>dropout </a:t>
                </a:r>
                <a:r>
                  <a:rPr lang="en-US" altLang="ko-KR" dirty="0" smtClean="0"/>
                  <a:t>at the test time, </a:t>
                </a:r>
                <a:r>
                  <a:rPr lang="en-US" altLang="ko-KR" dirty="0"/>
                  <a:t>is </a:t>
                </a:r>
                <a:r>
                  <a:rPr lang="en-US" altLang="ko-KR" dirty="0" smtClean="0"/>
                  <a:t>representative.</a:t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endParaRPr lang="en-US" altLang="ko-K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dirty="0" smtClean="0"/>
                  <a:t> Multiple forward based methods depend on various measure quantifying uncertainty</a:t>
                </a:r>
              </a:p>
              <a:p>
                <a:pPr algn="just"/>
                <a:endParaRPr lang="en-US" altLang="ko-KR" sz="1000" b="1" dirty="0" smtClean="0">
                  <a:solidFill>
                    <a:srgbClr val="0070C0"/>
                  </a:solidFill>
                </a:endParaRPr>
              </a:p>
              <a:p>
                <a:pPr algn="just"/>
                <a:r>
                  <a:rPr lang="en-US" altLang="ko-KR" sz="2000" b="1" dirty="0" smtClean="0">
                    <a:solidFill>
                      <a:srgbClr val="0070C0"/>
                    </a:solidFill>
                  </a:rPr>
                  <a:t>Single </a:t>
                </a:r>
                <a:r>
                  <a:rPr lang="en-US" altLang="ko-KR" sz="2000" b="1" dirty="0">
                    <a:solidFill>
                      <a:srgbClr val="0070C0"/>
                    </a:solidFill>
                  </a:rPr>
                  <a:t>forward based method : Deep Deterministic Uncertainty (</a:t>
                </a:r>
                <a:r>
                  <a:rPr lang="en-US" altLang="ko-KR" sz="2000" b="1" dirty="0" smtClean="0">
                    <a:solidFill>
                      <a:srgbClr val="0070C0"/>
                    </a:solidFill>
                  </a:rPr>
                  <a:t>DDU, 2022)</a:t>
                </a:r>
                <a:endParaRPr lang="en-US" altLang="ko-KR" sz="2000" b="1" dirty="0">
                  <a:solidFill>
                    <a:srgbClr val="0070C0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 DDU estimate density as an uncertainty using Gaussian Mixture of feature extracted by bi-Lipschitz continuous residual neural network with spectral normalization</a:t>
                </a:r>
                <a:r>
                  <a:rPr lang="en-US" altLang="ko-KR" dirty="0" smtClean="0"/>
                  <a:t>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 smtClean="0"/>
              </a:p>
              <a:p>
                <a:pPr algn="just"/>
                <a:endParaRPr lang="en-US" altLang="ko-KR" sz="1600" dirty="0"/>
              </a:p>
              <a:p>
                <a:pPr algn="just"/>
                <a:r>
                  <a:rPr lang="en-US" altLang="ko-KR" sz="2000" b="1" dirty="0" smtClean="0">
                    <a:solidFill>
                      <a:srgbClr val="0070C0"/>
                    </a:solidFill>
                  </a:rPr>
                  <a:t>Uncertainty measure</a:t>
                </a:r>
                <a:endParaRPr lang="en-US" altLang="ko-KR" sz="2000" b="1" dirty="0">
                  <a:solidFill>
                    <a:srgbClr val="0070C0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dirty="0" smtClean="0"/>
                  <a:t> Several </a:t>
                </a:r>
                <a:r>
                  <a:rPr lang="en-US" altLang="ko-KR" dirty="0"/>
                  <a:t>uncertainty quantification measures are used in multiple forward-based methods, each representing different properties. </a:t>
                </a:r>
                <a:endParaRPr lang="en-US" altLang="ko-KR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dirty="0" err="1" smtClean="0"/>
                  <a:t>Softmax</a:t>
                </a:r>
                <a:r>
                  <a:rPr lang="en-US" altLang="ko-KR" dirty="0" smtClean="0"/>
                  <a:t> Entropy (SE)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𝑡𝑟𝑎𝑖𝑛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≔−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fNam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altLang="ko-KR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dirty="0" smtClean="0"/>
                  <a:t> Predictive Entropy (PE)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["/>
                          <m:endChr m:val="|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 </m:t>
                      </m:r>
                      <m:box>
                        <m:box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𝑡𝑟𝑎𝑖𝑛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𝑡𝑟𝑎𝑖𝑛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altLang="ko-K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dirty="0" smtClean="0"/>
                  <a:t>Mutual Information (MI)</a:t>
                </a:r>
                <a:endParaRPr lang="en-US" altLang="ko-KR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𝑡𝑟𝑎𝑖𝑛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ko-KR" dirty="0" smtClean="0"/>
              </a:p>
              <a:p>
                <a:pPr algn="just"/>
                <a:endParaRPr lang="en-US" altLang="ko-KR" sz="1000" dirty="0" smtClean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8E4D2A-3A02-4DEF-98B2-8BAA3AB3C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28" y="5271792"/>
                <a:ext cx="10192835" cy="9611606"/>
              </a:xfrm>
              <a:prstGeom prst="rect">
                <a:avLst/>
              </a:prstGeom>
              <a:blipFill>
                <a:blip r:embed="rId4"/>
                <a:stretch>
                  <a:fillRect l="-598" t="-380" r="-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utoShape 6" descr="Samples from Ambiguous-MNIST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C5BB7996-34F7-43B9-AE43-8B1447BDF1ED}"/>
              </a:ext>
            </a:extLst>
          </p:cNvPr>
          <p:cNvSpPr/>
          <p:nvPr/>
        </p:nvSpPr>
        <p:spPr>
          <a:xfrm>
            <a:off x="334810" y="4794775"/>
            <a:ext cx="10040366" cy="461377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3400" b="1" dirty="0" smtClean="0"/>
              <a:t>  Introduction</a:t>
            </a:r>
            <a:endParaRPr lang="ko-KR" altLang="en-US" sz="3400" b="1" dirty="0"/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C5BB7996-34F7-43B9-AE43-8B1447BDF1ED}"/>
              </a:ext>
            </a:extLst>
          </p:cNvPr>
          <p:cNvSpPr/>
          <p:nvPr/>
        </p:nvSpPr>
        <p:spPr>
          <a:xfrm>
            <a:off x="331031" y="14677734"/>
            <a:ext cx="10040366" cy="461377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3400" b="1" dirty="0" smtClean="0"/>
              <a:t>  Dataset</a:t>
            </a:r>
            <a:endParaRPr lang="ko-KR" altLang="en-US" sz="3400" b="1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9B8E4D2A-3A02-4DEF-98B2-8BAA3AB3C42D}"/>
              </a:ext>
            </a:extLst>
          </p:cNvPr>
          <p:cNvSpPr txBox="1"/>
          <p:nvPr/>
        </p:nvSpPr>
        <p:spPr>
          <a:xfrm>
            <a:off x="342428" y="15179363"/>
            <a:ext cx="1022773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 smtClean="0">
                <a:solidFill>
                  <a:srgbClr val="0070C0"/>
                </a:solidFill>
              </a:rPr>
              <a:t>Clean MNIST</a:t>
            </a:r>
          </a:p>
          <a:p>
            <a:pPr algn="just"/>
            <a:endParaRPr lang="en-US" altLang="ko-KR" sz="2000" b="1" dirty="0">
              <a:solidFill>
                <a:srgbClr val="0070C0"/>
              </a:solidFill>
            </a:endParaRPr>
          </a:p>
          <a:p>
            <a:pPr algn="just"/>
            <a:endParaRPr lang="en-US" altLang="ko-KR" sz="2000" b="1" dirty="0" smtClean="0">
              <a:solidFill>
                <a:srgbClr val="0070C0"/>
              </a:solidFill>
            </a:endParaRPr>
          </a:p>
          <a:p>
            <a:pPr algn="just"/>
            <a:endParaRPr lang="en-US" altLang="ko-KR" sz="2000" b="1" dirty="0">
              <a:solidFill>
                <a:srgbClr val="0070C0"/>
              </a:solidFill>
            </a:endParaRPr>
          </a:p>
          <a:p>
            <a:pPr algn="just"/>
            <a:endParaRPr lang="en-US" altLang="ko-KR" sz="2000" b="1" dirty="0">
              <a:solidFill>
                <a:srgbClr val="0070C0"/>
              </a:solidFill>
            </a:endParaRPr>
          </a:p>
          <a:p>
            <a:pPr algn="just"/>
            <a:r>
              <a:rPr lang="en-US" altLang="ko-KR" sz="2000" b="1" dirty="0" smtClean="0">
                <a:solidFill>
                  <a:srgbClr val="0070C0"/>
                </a:solidFill>
              </a:rPr>
              <a:t>Ambiguous MNIST</a:t>
            </a:r>
          </a:p>
          <a:p>
            <a:pPr algn="just"/>
            <a:endParaRPr lang="en-US" altLang="ko-KR" sz="2000" b="1" dirty="0">
              <a:solidFill>
                <a:srgbClr val="0070C0"/>
              </a:solidFill>
            </a:endParaRPr>
          </a:p>
          <a:p>
            <a:pPr algn="just"/>
            <a:endParaRPr lang="en-US" altLang="ko-KR" sz="2000" b="1" dirty="0" smtClean="0">
              <a:solidFill>
                <a:srgbClr val="0070C0"/>
              </a:solidFill>
            </a:endParaRPr>
          </a:p>
          <a:p>
            <a:pPr algn="just"/>
            <a:endParaRPr lang="en-US" altLang="ko-KR" sz="2000" b="1" dirty="0">
              <a:solidFill>
                <a:srgbClr val="0070C0"/>
              </a:solidFill>
            </a:endParaRPr>
          </a:p>
          <a:p>
            <a:pPr algn="just"/>
            <a:endParaRPr lang="en-US" altLang="ko-KR" sz="2000" b="1" dirty="0" smtClean="0">
              <a:solidFill>
                <a:srgbClr val="0070C0"/>
              </a:solidFill>
            </a:endParaRPr>
          </a:p>
          <a:p>
            <a:pPr algn="just"/>
            <a:r>
              <a:rPr lang="en-US" altLang="ko-KR" sz="2000" b="1" dirty="0" smtClean="0">
                <a:solidFill>
                  <a:srgbClr val="0070C0"/>
                </a:solidFill>
              </a:rPr>
              <a:t>Fashion </a:t>
            </a:r>
            <a:r>
              <a:rPr lang="en-US" altLang="ko-KR" sz="2000" b="1" dirty="0">
                <a:solidFill>
                  <a:srgbClr val="0070C0"/>
                </a:solidFill>
              </a:rPr>
              <a:t>MNIST</a:t>
            </a:r>
          </a:p>
          <a:p>
            <a:pPr algn="just"/>
            <a:endParaRPr lang="en-US" altLang="ko-KR" sz="2000" b="1" dirty="0" smtClean="0">
              <a:solidFill>
                <a:srgbClr val="0070C0"/>
              </a:solidFill>
            </a:endParaRPr>
          </a:p>
          <a:p>
            <a:pPr algn="just"/>
            <a:endParaRPr lang="en-US" altLang="ko-KR" sz="2000" b="1" dirty="0">
              <a:solidFill>
                <a:srgbClr val="0070C0"/>
              </a:solidFill>
            </a:endParaRPr>
          </a:p>
          <a:p>
            <a:pPr algn="just"/>
            <a:endParaRPr lang="en-US" altLang="ko-KR" sz="2000" b="1" dirty="0" smtClean="0">
              <a:solidFill>
                <a:srgbClr val="0070C0"/>
              </a:solidFill>
            </a:endParaRPr>
          </a:p>
          <a:p>
            <a:pPr algn="just"/>
            <a:endParaRPr lang="en-US" altLang="ko-KR" sz="2400" b="1" dirty="0">
              <a:solidFill>
                <a:srgbClr val="0070C0"/>
              </a:solidFill>
            </a:endParaRPr>
          </a:p>
          <a:p>
            <a:pPr algn="just"/>
            <a:r>
              <a:rPr lang="en-US" altLang="ko-KR" sz="2000" b="1" dirty="0" smtClean="0">
                <a:solidFill>
                  <a:srgbClr val="0070C0"/>
                </a:solidFill>
              </a:rPr>
              <a:t>PCA plot of datasets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 smtClean="0"/>
              <a:t>Ambiguous </a:t>
            </a:r>
            <a:r>
              <a:rPr lang="en-US" altLang="ko-KR" dirty="0"/>
              <a:t>MNIST samples </a:t>
            </a:r>
            <a:r>
              <a:rPr lang="en-US" altLang="ko-KR" dirty="0" smtClean="0"/>
              <a:t>are </a:t>
            </a:r>
            <a:r>
              <a:rPr lang="en-US" altLang="ko-KR" dirty="0"/>
              <a:t>difficult to judge </a:t>
            </a:r>
            <a:r>
              <a:rPr lang="en-US" altLang="ko-KR" dirty="0" smtClean="0"/>
              <a:t>labels but clearly </a:t>
            </a:r>
            <a:r>
              <a:rPr lang="en-US" altLang="ko-KR" dirty="0"/>
              <a:t>in-distributed, </a:t>
            </a:r>
            <a:r>
              <a:rPr lang="en-US" altLang="ko-KR" dirty="0" smtClean="0"/>
              <a:t>so having similar data manifold to clean MNIST.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 smtClean="0"/>
              <a:t>Fashion MNIST samples, totally out-of-distributed, </a:t>
            </a:r>
            <a:r>
              <a:rPr lang="en-US" altLang="ko-KR" dirty="0"/>
              <a:t>shows a data distribution that is clearly different from clean MNIST.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428" y="15480027"/>
            <a:ext cx="10261298" cy="1205300"/>
          </a:xfrm>
          <a:prstGeom prst="rect">
            <a:avLst/>
          </a:prstGeom>
        </p:spPr>
      </p:pic>
      <p:pic>
        <p:nvPicPr>
          <p:cNvPr id="168" name="그림 16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828" y="18542692"/>
            <a:ext cx="10228332" cy="1201428"/>
          </a:xfrm>
          <a:prstGeom prst="rect">
            <a:avLst/>
          </a:prstGeom>
        </p:spPr>
      </p:pic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782279"/>
              </p:ext>
            </p:extLst>
          </p:nvPr>
        </p:nvGraphicFramePr>
        <p:xfrm>
          <a:off x="437580" y="24929733"/>
          <a:ext cx="9923148" cy="11582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307716">
                  <a:extLst>
                    <a:ext uri="{9D8B030D-6E8A-4147-A177-3AD203B41FA5}">
                      <a16:colId xmlns:a16="http://schemas.microsoft.com/office/drawing/2014/main" val="2213298069"/>
                    </a:ext>
                  </a:extLst>
                </a:gridCol>
                <a:gridCol w="3307716">
                  <a:extLst>
                    <a:ext uri="{9D8B030D-6E8A-4147-A177-3AD203B41FA5}">
                      <a16:colId xmlns:a16="http://schemas.microsoft.com/office/drawing/2014/main" val="3764092717"/>
                    </a:ext>
                  </a:extLst>
                </a:gridCol>
                <a:gridCol w="3307716">
                  <a:extLst>
                    <a:ext uri="{9D8B030D-6E8A-4147-A177-3AD203B41FA5}">
                      <a16:colId xmlns:a16="http://schemas.microsoft.com/office/drawing/2014/main" val="4216920242"/>
                    </a:ext>
                  </a:extLst>
                </a:gridCol>
              </a:tblGrid>
              <a:tr h="3515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 smtClean="0">
                          <a:latin typeface="+mn-lt"/>
                          <a:ea typeface="+mn-ea"/>
                        </a:rPr>
                        <a:t>Size of datasets</a:t>
                      </a:r>
                      <a:endParaRPr lang="ko-KR" altLang="en-US" sz="20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sz="300" b="0" dirty="0" smtClean="0">
                        <a:latin typeface="+mn-lt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2000" b="0" dirty="0" smtClean="0">
                          <a:latin typeface="+mn-lt"/>
                          <a:ea typeface="+mn-ea"/>
                        </a:rPr>
                        <a:t>Mixing Ratio.</a:t>
                      </a:r>
                    </a:p>
                    <a:p>
                      <a:pPr algn="ctr" latinLnBrk="1"/>
                      <a:r>
                        <a:rPr lang="en-US" altLang="ko-KR" sz="1600" b="0" dirty="0" smtClean="0">
                          <a:latin typeface="+mn-lt"/>
                          <a:ea typeface="+mn-ea"/>
                        </a:rPr>
                        <a:t>(clean : ambiguous)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864129"/>
                  </a:ext>
                </a:extLst>
              </a:tr>
              <a:tr h="351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 smtClean="0">
                          <a:latin typeface="+mn-lt"/>
                          <a:ea typeface="+mn-ea"/>
                        </a:rPr>
                        <a:t>Clean MNIST</a:t>
                      </a:r>
                      <a:endParaRPr lang="ko-KR" altLang="en-US" sz="2000" b="1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 smtClean="0">
                          <a:latin typeface="+mn-lt"/>
                          <a:ea typeface="+mn-ea"/>
                        </a:rPr>
                        <a:t>Ambiguous MNIST</a:t>
                      </a:r>
                      <a:endParaRPr lang="ko-KR" altLang="en-US" sz="2000" b="1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488146"/>
                  </a:ext>
                </a:extLst>
              </a:tr>
              <a:tr h="351526">
                <a:tc>
                  <a:txBody>
                    <a:bodyPr/>
                    <a:lstStyle/>
                    <a:p>
                      <a:pPr marL="0" marR="0" indent="0" algn="ctr" defTabSz="213832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latin typeface="+mn-lt"/>
                          <a:ea typeface="+mn-ea"/>
                        </a:rPr>
                        <a:t>1,000 samples</a:t>
                      </a:r>
                      <a:endParaRPr lang="ko-KR" altLang="en-US" sz="1800" dirty="0" smtClean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213832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latin typeface="+mn-lt"/>
                          <a:ea typeface="+mn-ea"/>
                        </a:rPr>
                        <a:t>60,000 samples</a:t>
                      </a:r>
                      <a:endParaRPr lang="ko-KR" altLang="en-US" sz="1800" dirty="0" smtClean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+mn-lt"/>
                          <a:ea typeface="+mn-ea"/>
                        </a:rPr>
                        <a:t>1 : 60</a:t>
                      </a:r>
                      <a:endParaRPr lang="ko-KR" altLang="en-US" sz="180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707686"/>
                  </a:ext>
                </a:extLst>
              </a:tr>
            </a:tbl>
          </a:graphicData>
        </a:graphic>
      </p:graphicFrame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C5BB7996-34F7-43B9-AE43-8B1447BDF1ED}"/>
              </a:ext>
            </a:extLst>
          </p:cNvPr>
          <p:cNvSpPr/>
          <p:nvPr/>
        </p:nvSpPr>
        <p:spPr>
          <a:xfrm>
            <a:off x="342992" y="23793243"/>
            <a:ext cx="10040366" cy="461377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3400" b="1" dirty="0" smtClean="0"/>
              <a:t>  Settings</a:t>
            </a:r>
            <a:endParaRPr lang="ko-KR" altLang="en-US" sz="3400" b="1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28" y="17032267"/>
            <a:ext cx="10228332" cy="1201428"/>
          </a:xfrm>
          <a:prstGeom prst="rect">
            <a:avLst/>
          </a:prstGeom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61E40BC4-550A-464D-BA71-440439050768}"/>
              </a:ext>
            </a:extLst>
          </p:cNvPr>
          <p:cNvSpPr txBox="1"/>
          <p:nvPr/>
        </p:nvSpPr>
        <p:spPr>
          <a:xfrm>
            <a:off x="460835" y="26207698"/>
            <a:ext cx="98663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b="1" dirty="0" smtClean="0">
                <a:solidFill>
                  <a:srgbClr val="0070C0"/>
                </a:solidFill>
              </a:rPr>
              <a:t>Multiple Forward based Methods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 smtClean="0"/>
              <a:t>Deep-Ensemble, making multiple outputs with models in ensemble, </a:t>
            </a:r>
            <a:r>
              <a:rPr lang="en-US" altLang="ko-KR" dirty="0"/>
              <a:t>consumes a lot of inference time and resources.</a:t>
            </a:r>
            <a:endParaRPr lang="en-US" altLang="ko-KR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/>
              <a:t>MC dropout randomly deactivates neurons in the network during each forward pass, even during testing. By applying dropout multiple times to a single input, it produces various outputs</a:t>
            </a:r>
            <a:r>
              <a:rPr lang="en-US" altLang="ko-KR" dirty="0" smtClean="0"/>
              <a:t>.</a:t>
            </a:r>
          </a:p>
        </p:txBody>
      </p:sp>
      <p:graphicFrame>
        <p:nvGraphicFramePr>
          <p:cNvPr id="202" name="표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12574"/>
              </p:ext>
            </p:extLst>
          </p:nvPr>
        </p:nvGraphicFramePr>
        <p:xfrm>
          <a:off x="448249" y="27730663"/>
          <a:ext cx="9923149" cy="7924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949251">
                  <a:extLst>
                    <a:ext uri="{9D8B030D-6E8A-4147-A177-3AD203B41FA5}">
                      <a16:colId xmlns:a16="http://schemas.microsoft.com/office/drawing/2014/main" val="2213298069"/>
                    </a:ext>
                  </a:extLst>
                </a:gridCol>
                <a:gridCol w="4973898">
                  <a:extLst>
                    <a:ext uri="{9D8B030D-6E8A-4147-A177-3AD203B41FA5}">
                      <a16:colId xmlns:a16="http://schemas.microsoft.com/office/drawing/2014/main" val="3764092717"/>
                    </a:ext>
                  </a:extLst>
                </a:gridCol>
              </a:tblGrid>
              <a:tr h="313553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sz="1050" b="0" dirty="0" smtClean="0">
                        <a:latin typeface="+mn-lt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2000" b="0" dirty="0" smtClean="0">
                          <a:latin typeface="+mn-lt"/>
                          <a:ea typeface="+mn-ea"/>
                        </a:rPr>
                        <a:t>Multiple forward</a:t>
                      </a:r>
                      <a:r>
                        <a:rPr lang="en-US" altLang="ko-KR" sz="2000" b="0" baseline="0" dirty="0" smtClean="0">
                          <a:latin typeface="+mn-lt"/>
                          <a:ea typeface="+mn-ea"/>
                        </a:rPr>
                        <a:t> based method</a:t>
                      </a:r>
                      <a:endParaRPr lang="ko-KR" altLang="en-US" sz="20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213832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 smtClean="0">
                          <a:latin typeface="+mn-lt"/>
                          <a:ea typeface="+mn-ea"/>
                        </a:rPr>
                        <a:t>MC dropout</a:t>
                      </a:r>
                      <a:endParaRPr lang="ko-KR" altLang="en-US" sz="2000" b="1" dirty="0" smtClean="0">
                        <a:latin typeface="+mn-lt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073823"/>
                  </a:ext>
                </a:extLst>
              </a:tr>
              <a:tr h="313553">
                <a:tc vMerge="1">
                  <a:txBody>
                    <a:bodyPr/>
                    <a:lstStyle/>
                    <a:p>
                      <a:pPr marL="0" marR="0" indent="0" algn="ctr" defTabSz="213832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4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213832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 smtClean="0">
                          <a:latin typeface="+mn-lt"/>
                          <a:ea typeface="+mn-ea"/>
                        </a:rPr>
                        <a:t>Deep Ensemble</a:t>
                      </a:r>
                      <a:endParaRPr lang="ko-KR" altLang="en-US" sz="2000" b="1" dirty="0" smtClean="0">
                        <a:latin typeface="+mn-lt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707686"/>
                  </a:ext>
                </a:extLst>
              </a:tr>
            </a:tbl>
          </a:graphicData>
        </a:graphic>
      </p:graphicFrame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C5BB7996-34F7-43B9-AE43-8B1447BDF1ED}"/>
              </a:ext>
            </a:extLst>
          </p:cNvPr>
          <p:cNvSpPr/>
          <p:nvPr/>
        </p:nvSpPr>
        <p:spPr>
          <a:xfrm>
            <a:off x="10869454" y="3069251"/>
            <a:ext cx="10040366" cy="461377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3400" b="1" dirty="0" smtClean="0"/>
              <a:t>  Experiment</a:t>
            </a:r>
            <a:endParaRPr lang="ko-KR" altLang="en-US" sz="3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9B8E4D2A-3A02-4DEF-98B2-8BAA3AB3C42D}"/>
                  </a:ext>
                </a:extLst>
              </p:cNvPr>
              <p:cNvSpPr txBox="1"/>
              <p:nvPr/>
            </p:nvSpPr>
            <p:spPr>
              <a:xfrm>
                <a:off x="10880851" y="3541852"/>
                <a:ext cx="10227732" cy="5663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ko-KR" sz="2000" b="1" dirty="0" smtClean="0">
                    <a:solidFill>
                      <a:srgbClr val="0070C0"/>
                    </a:solidFill>
                  </a:rPr>
                  <a:t>Active Learning at 1 : 60 Pool set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algn="just"/>
                <a:endParaRPr lang="en-US" altLang="ko-KR" dirty="0" smtClean="0"/>
              </a:p>
              <a:p>
                <a:pPr algn="just"/>
                <a:endParaRPr lang="en-US" altLang="ko-KR" dirty="0"/>
              </a:p>
              <a:p>
                <a:pPr algn="just"/>
                <a:endParaRPr lang="en-US" altLang="ko-KR" dirty="0" smtClean="0"/>
              </a:p>
              <a:p>
                <a:pPr algn="just"/>
                <a:endParaRPr lang="en-US" altLang="ko-KR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dirty="0" smtClean="0"/>
                  <a:t>Deep Ensemble with ResNet18, a deep structure, shows clear difference of PE and MI.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ko-KR" dirty="0" smtClean="0"/>
                  <a:t>MC dropout with ResNet18 can be seen their MI, epistemic uncertainty, was not captured meaningfully, showing unstable learning process, even when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altLang="ko-KR" dirty="0" smtClean="0"/>
                  <a:t>.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9B8E4D2A-3A02-4DEF-98B2-8BAA3AB3C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851" y="3541852"/>
                <a:ext cx="10227732" cy="5663089"/>
              </a:xfrm>
              <a:prstGeom prst="rect">
                <a:avLst/>
              </a:prstGeom>
              <a:blipFill>
                <a:blip r:embed="rId8"/>
                <a:stretch>
                  <a:fillRect l="-656" t="-538" r="-477" b="-7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0" name="Picture 2"/>
          <p:cNvPicPr>
            <a:picLocks noChangeAspect="1"/>
          </p:cNvPicPr>
          <p:nvPr/>
        </p:nvPicPr>
        <p:blipFill rotWithShape="1">
          <a:blip r:embed="rId9">
            <a:extLst/>
          </a:blip>
          <a:srcRect t="5870"/>
          <a:stretch/>
        </p:blipFill>
        <p:spPr>
          <a:xfrm>
            <a:off x="11192602" y="3888409"/>
            <a:ext cx="4514216" cy="359383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11" name="Picture 3"/>
          <p:cNvPicPr>
            <a:picLocks noChangeAspect="1"/>
          </p:cNvPicPr>
          <p:nvPr/>
        </p:nvPicPr>
        <p:blipFill rotWithShape="1">
          <a:blip r:embed="rId10">
            <a:extLst/>
          </a:blip>
          <a:srcRect t="6242"/>
          <a:stretch/>
        </p:blipFill>
        <p:spPr>
          <a:xfrm>
            <a:off x="15920373" y="3901848"/>
            <a:ext cx="4514420" cy="3579658"/>
          </a:xfrm>
          <a:prstGeom prst="rect">
            <a:avLst/>
          </a:prstGeom>
          <a:noFill/>
          <a:ln>
            <a:noFill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B8E4D2A-3A02-4DEF-98B2-8BAA3AB3C42D}"/>
                  </a:ext>
                </a:extLst>
              </p:cNvPr>
              <p:cNvSpPr txBox="1"/>
              <p:nvPr/>
            </p:nvSpPr>
            <p:spPr>
              <a:xfrm>
                <a:off x="11601320" y="7381785"/>
                <a:ext cx="846805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Figure 3. </a:t>
                </a:r>
              </a:p>
              <a:p>
                <a:pPr algn="just"/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Active learning with ResNet18. Using dropout ratio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𝒍𝒆𝒇𝒕</m:t>
                    </m:r>
                  </m:oMath>
                </a14:m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𝒓𝒊𝒈𝒉𝒕</m:t>
                    </m:r>
                  </m:oMath>
                </a14:m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. Acquired training set size vs test accuracy.</a:t>
                </a:r>
                <a:endParaRPr lang="en-US" altLang="ko-KR" sz="1600" b="1" dirty="0">
                  <a:solidFill>
                    <a:srgbClr val="0C77C3"/>
                  </a:solidFill>
                </a:endParaRPr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B8E4D2A-3A02-4DEF-98B2-8BAA3AB3C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1320" y="7381785"/>
                <a:ext cx="8468052" cy="830997"/>
              </a:xfrm>
              <a:prstGeom prst="rect">
                <a:avLst/>
              </a:prstGeom>
              <a:blipFill>
                <a:blip r:embed="rId11"/>
                <a:stretch>
                  <a:fillRect l="-360" t="-2206" r="-432" b="-88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TextBox 216">
            <a:extLst>
              <a:ext uri="{FF2B5EF4-FFF2-40B4-BE49-F238E27FC236}">
                <a16:creationId xmlns:a16="http://schemas.microsoft.com/office/drawing/2014/main" id="{9B8E4D2A-3A02-4DEF-98B2-8BAA3AB3C42D}"/>
              </a:ext>
            </a:extLst>
          </p:cNvPr>
          <p:cNvSpPr txBox="1"/>
          <p:nvPr/>
        </p:nvSpPr>
        <p:spPr>
          <a:xfrm>
            <a:off x="10874710" y="13648166"/>
            <a:ext cx="10024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 smtClean="0"/>
              <a:t>Deep Ensemble with simple CNN shows clear difference of PE and MI, not retaining diversity.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 smtClean="0"/>
              <a:t>MC dropout with simple CNN shows that </a:t>
            </a:r>
            <a:r>
              <a:rPr lang="en-US" altLang="ko-KR" dirty="0"/>
              <a:t>greater the diversity secured by the P value, the larger the difference between PE and MI became.</a:t>
            </a:r>
          </a:p>
        </p:txBody>
      </p:sp>
      <p:pic>
        <p:nvPicPr>
          <p:cNvPr id="216" name="Picture 7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5909225" y="9149954"/>
            <a:ext cx="4728310" cy="3817966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0" name="그룹 19"/>
          <p:cNvGrpSpPr/>
          <p:nvPr/>
        </p:nvGrpSpPr>
        <p:grpSpPr>
          <a:xfrm>
            <a:off x="11437449" y="9149954"/>
            <a:ext cx="4231498" cy="3817966"/>
            <a:chOff x="11437449" y="9149954"/>
            <a:chExt cx="4231498" cy="3817966"/>
          </a:xfrm>
        </p:grpSpPr>
        <p:pic>
          <p:nvPicPr>
            <p:cNvPr id="215" name="Picture 6"/>
            <p:cNvPicPr>
              <a:picLocks noChangeAspect="1"/>
            </p:cNvPicPr>
            <p:nvPr/>
          </p:nvPicPr>
          <p:blipFill rotWithShape="1">
            <a:blip r:embed="rId13">
              <a:extLst/>
            </a:blip>
            <a:srcRect l="6209"/>
            <a:stretch/>
          </p:blipFill>
          <p:spPr>
            <a:xfrm>
              <a:off x="11712256" y="9149954"/>
              <a:ext cx="3956691" cy="3817966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220" name="Picture 7"/>
            <p:cNvPicPr>
              <a:picLocks noChangeAspect="1"/>
            </p:cNvPicPr>
            <p:nvPr/>
          </p:nvPicPr>
          <p:blipFill rotWithShape="1">
            <a:blip r:embed="rId12">
              <a:extLst/>
            </a:blip>
            <a:srcRect r="93237"/>
            <a:stretch/>
          </p:blipFill>
          <p:spPr>
            <a:xfrm>
              <a:off x="11437449" y="9151982"/>
              <a:ext cx="281157" cy="3751529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B8E4D2A-3A02-4DEF-98B2-8BAA3AB3C42D}"/>
                  </a:ext>
                </a:extLst>
              </p:cNvPr>
              <p:cNvSpPr txBox="1"/>
              <p:nvPr/>
            </p:nvSpPr>
            <p:spPr>
              <a:xfrm>
                <a:off x="11574474" y="12818174"/>
                <a:ext cx="8494897" cy="840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Figure 4. </a:t>
                </a:r>
              </a:p>
              <a:p>
                <a:pPr algn="just"/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Active learning with simple CNN of Gal, 2017. Using dropout ratio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 on </a:t>
                </a:r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left </a:t>
                </a:r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1600" b="1" i="1" smtClean="0">
                        <a:solidFill>
                          <a:srgbClr val="0C77C3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 </a:t>
                </a:r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on right. </a:t>
                </a:r>
                <a:r>
                  <a:rPr lang="en-US" altLang="ko-KR" sz="1600" b="1" dirty="0" smtClean="0">
                    <a:solidFill>
                      <a:srgbClr val="0C77C3"/>
                    </a:solidFill>
                  </a:rPr>
                  <a:t>Acquired training set size vs test accuracy.</a:t>
                </a:r>
                <a:endParaRPr lang="en-US" altLang="ko-KR" sz="1600" b="1" dirty="0">
                  <a:solidFill>
                    <a:srgbClr val="0C77C3"/>
                  </a:solidFill>
                </a:endParaRPr>
              </a:p>
            </p:txBody>
          </p:sp>
        </mc:Choice>
        <mc:Fallback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B8E4D2A-3A02-4DEF-98B2-8BAA3AB3C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474" y="12818174"/>
                <a:ext cx="8494897" cy="840358"/>
              </a:xfrm>
              <a:prstGeom prst="rect">
                <a:avLst/>
              </a:prstGeom>
              <a:blipFill>
                <a:blip r:embed="rId14"/>
                <a:stretch>
                  <a:fillRect l="-431" t="-2174" r="-359" b="-72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TextBox 220">
            <a:extLst>
              <a:ext uri="{FF2B5EF4-FFF2-40B4-BE49-F238E27FC236}">
                <a16:creationId xmlns:a16="http://schemas.microsoft.com/office/drawing/2014/main" id="{9B8E4D2A-3A02-4DEF-98B2-8BAA3AB3C42D}"/>
              </a:ext>
            </a:extLst>
          </p:cNvPr>
          <p:cNvSpPr txBox="1"/>
          <p:nvPr/>
        </p:nvSpPr>
        <p:spPr>
          <a:xfrm>
            <a:off x="10882369" y="14517509"/>
            <a:ext cx="1005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 smtClean="0">
                <a:solidFill>
                  <a:srgbClr val="0070C0"/>
                </a:solidFill>
              </a:rPr>
              <a:t>Diversity of </a:t>
            </a:r>
            <a:r>
              <a:rPr lang="en-US" altLang="ko-KR" sz="2000" b="1" dirty="0" err="1" smtClean="0">
                <a:solidFill>
                  <a:srgbClr val="0070C0"/>
                </a:solidFill>
              </a:rPr>
              <a:t>Softmax</a:t>
            </a:r>
            <a:r>
              <a:rPr lang="en-US" altLang="ko-KR" sz="2000" b="1" dirty="0" smtClean="0">
                <a:solidFill>
                  <a:srgbClr val="0070C0"/>
                </a:solidFill>
              </a:rPr>
              <a:t> Entropy in 3-Ensemble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 smtClean="0"/>
              <a:t>Sectors are </a:t>
            </a:r>
            <a:r>
              <a:rPr lang="en-US" altLang="ko-KR" dirty="0"/>
              <a:t>divided into four </a:t>
            </a:r>
            <a:r>
              <a:rPr lang="en-US" altLang="ko-KR" dirty="0" smtClean="0"/>
              <a:t>regions for test sets : </a:t>
            </a:r>
            <a:r>
              <a:rPr lang="en-US" altLang="ko-KR" dirty="0"/>
              <a:t>C</a:t>
            </a:r>
            <a:r>
              <a:rPr lang="en-US" altLang="ko-KR" dirty="0" smtClean="0"/>
              <a:t>lean MNIST (</a:t>
            </a:r>
            <a:r>
              <a:rPr lang="en-US" altLang="ko-KR" dirty="0"/>
              <a:t>1), a</a:t>
            </a:r>
            <a:r>
              <a:rPr lang="en-US" altLang="ko-KR" dirty="0" smtClean="0"/>
              <a:t>mbiguous </a:t>
            </a:r>
            <a:r>
              <a:rPr lang="en-US" altLang="ko-KR" dirty="0"/>
              <a:t>Region, </a:t>
            </a:r>
            <a:r>
              <a:rPr lang="en-US" altLang="ko-KR" dirty="0" smtClean="0"/>
              <a:t>clean MIST </a:t>
            </a:r>
            <a:r>
              <a:rPr lang="en-US" altLang="ko-KR" dirty="0"/>
              <a:t>(2), and </a:t>
            </a:r>
            <a:r>
              <a:rPr lang="en-US" altLang="ko-KR" dirty="0" smtClean="0"/>
              <a:t>fashion MNIST, respectively. </a:t>
            </a:r>
            <a:endParaRPr lang="en-US" altLang="ko-KR" dirty="0"/>
          </a:p>
        </p:txBody>
      </p:sp>
      <p:graphicFrame>
        <p:nvGraphicFramePr>
          <p:cNvPr id="224" name="표 2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907762"/>
              </p:ext>
            </p:extLst>
          </p:nvPr>
        </p:nvGraphicFramePr>
        <p:xfrm>
          <a:off x="11073510" y="15492247"/>
          <a:ext cx="9887109" cy="12801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39199">
                  <a:extLst>
                    <a:ext uri="{9D8B030D-6E8A-4147-A177-3AD203B41FA5}">
                      <a16:colId xmlns:a16="http://schemas.microsoft.com/office/drawing/2014/main" val="2213298069"/>
                    </a:ext>
                  </a:extLst>
                </a:gridCol>
                <a:gridCol w="1407985">
                  <a:extLst>
                    <a:ext uri="{9D8B030D-6E8A-4147-A177-3AD203B41FA5}">
                      <a16:colId xmlns:a16="http://schemas.microsoft.com/office/drawing/2014/main" val="201264481"/>
                    </a:ext>
                  </a:extLst>
                </a:gridCol>
                <a:gridCol w="1407985">
                  <a:extLst>
                    <a:ext uri="{9D8B030D-6E8A-4147-A177-3AD203B41FA5}">
                      <a16:colId xmlns:a16="http://schemas.microsoft.com/office/drawing/2014/main" val="172109429"/>
                    </a:ext>
                  </a:extLst>
                </a:gridCol>
                <a:gridCol w="1407985">
                  <a:extLst>
                    <a:ext uri="{9D8B030D-6E8A-4147-A177-3AD203B41FA5}">
                      <a16:colId xmlns:a16="http://schemas.microsoft.com/office/drawing/2014/main" val="2159829524"/>
                    </a:ext>
                  </a:extLst>
                </a:gridCol>
                <a:gridCol w="1407985">
                  <a:extLst>
                    <a:ext uri="{9D8B030D-6E8A-4147-A177-3AD203B41FA5}">
                      <a16:colId xmlns:a16="http://schemas.microsoft.com/office/drawing/2014/main" val="2599446224"/>
                    </a:ext>
                  </a:extLst>
                </a:gridCol>
                <a:gridCol w="1407985">
                  <a:extLst>
                    <a:ext uri="{9D8B030D-6E8A-4147-A177-3AD203B41FA5}">
                      <a16:colId xmlns:a16="http://schemas.microsoft.com/office/drawing/2014/main" val="558488404"/>
                    </a:ext>
                  </a:extLst>
                </a:gridCol>
                <a:gridCol w="1407985">
                  <a:extLst>
                    <a:ext uri="{9D8B030D-6E8A-4147-A177-3AD203B41FA5}">
                      <a16:colId xmlns:a16="http://schemas.microsoft.com/office/drawing/2014/main" val="3102106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ResNet18</a:t>
                      </a:r>
                    </a:p>
                    <a:p>
                      <a:pPr algn="ctr" latinLnBrk="1"/>
                      <a:r>
                        <a:rPr lang="en-US" altLang="ko-KR" sz="1200" b="0" dirty="0" smtClean="0">
                          <a:latin typeface="+mn-lt"/>
                          <a:ea typeface="+mn-ea"/>
                        </a:rPr>
                        <a:t>( Deep</a:t>
                      </a:r>
                      <a:r>
                        <a:rPr lang="en-US" altLang="ko-KR" sz="1200" b="0" baseline="0" dirty="0" smtClean="0">
                          <a:latin typeface="+mn-lt"/>
                          <a:ea typeface="+mn-ea"/>
                        </a:rPr>
                        <a:t>er model </a:t>
                      </a:r>
                      <a:r>
                        <a:rPr lang="en-US" altLang="ko-KR" sz="1200" b="0" dirty="0" smtClean="0">
                          <a:latin typeface="+mn-lt"/>
                          <a:ea typeface="+mn-ea"/>
                        </a:rPr>
                        <a:t>)</a:t>
                      </a:r>
                      <a:endParaRPr lang="ko-KR" altLang="en-US" sz="12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err="1" smtClean="0">
                          <a:latin typeface="+mn-lt"/>
                          <a:ea typeface="+mn-ea"/>
                        </a:rPr>
                        <a:t>LeNet</a:t>
                      </a:r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/>
                      </a:r>
                      <a:br>
                        <a:rPr lang="en-US" altLang="ko-KR" sz="1800" b="0" dirty="0" smtClean="0">
                          <a:latin typeface="+mn-lt"/>
                          <a:ea typeface="+mn-ea"/>
                        </a:rPr>
                      </a:br>
                      <a:r>
                        <a:rPr lang="en-US" altLang="ko-KR" sz="1200" b="0" dirty="0" smtClean="0">
                          <a:latin typeface="+mn-lt"/>
                          <a:ea typeface="+mn-ea"/>
                        </a:rPr>
                        <a:t>( similar to simple CNN of AL )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86412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Sector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Sec. 1 &amp; 3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Sec. 2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Sec.4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213832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Sec. 1 &amp; 3</a:t>
                      </a:r>
                      <a:endParaRPr lang="ko-KR" altLang="en-US" sz="1800" b="0" dirty="0" smtClean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Sec. 2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Sec.4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3352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err="1" smtClean="0">
                          <a:latin typeface="+mn-lt"/>
                          <a:ea typeface="+mn-ea"/>
                        </a:rPr>
                        <a:t>Std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 smtClean="0">
                          <a:latin typeface="+mn-lt"/>
                          <a:ea typeface="+mn-ea"/>
                        </a:rPr>
                        <a:t>0.0581</a:t>
                      </a:r>
                      <a:endParaRPr lang="ko-KR" altLang="en-US" sz="1800" b="1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0.0209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0.0233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0.2706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 smtClean="0">
                          <a:latin typeface="+mn-lt"/>
                          <a:ea typeface="+mn-ea"/>
                        </a:rPr>
                        <a:t>0.5144</a:t>
                      </a:r>
                      <a:endParaRPr lang="ko-KR" altLang="en-US" sz="1800" b="1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 smtClean="0">
                          <a:latin typeface="+mn-lt"/>
                          <a:ea typeface="+mn-ea"/>
                        </a:rPr>
                        <a:t>0.3330</a:t>
                      </a:r>
                      <a:endParaRPr lang="ko-KR" altLang="en-US" sz="18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807515"/>
                  </a:ext>
                </a:extLst>
              </a:tr>
            </a:tbl>
          </a:graphicData>
        </a:graphic>
      </p:graphicFrame>
      <p:sp>
        <p:nvSpPr>
          <p:cNvPr id="225" name="TextBox 224">
            <a:extLst>
              <a:ext uri="{FF2B5EF4-FFF2-40B4-BE49-F238E27FC236}">
                <a16:creationId xmlns:a16="http://schemas.microsoft.com/office/drawing/2014/main" id="{9B8E4D2A-3A02-4DEF-98B2-8BAA3AB3C42D}"/>
              </a:ext>
            </a:extLst>
          </p:cNvPr>
          <p:cNvSpPr txBox="1"/>
          <p:nvPr/>
        </p:nvSpPr>
        <p:spPr>
          <a:xfrm>
            <a:off x="11073509" y="16764194"/>
            <a:ext cx="9887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rgbClr val="0C77C3"/>
                </a:solidFill>
              </a:rPr>
              <a:t>Table 1. </a:t>
            </a:r>
            <a:r>
              <a:rPr lang="en-US" altLang="ko-KR" sz="1600" b="1" dirty="0" err="1" smtClean="0">
                <a:solidFill>
                  <a:srgbClr val="0C77C3"/>
                </a:solidFill>
              </a:rPr>
              <a:t>Std</a:t>
            </a:r>
            <a:r>
              <a:rPr lang="en-US" altLang="ko-KR" sz="1600" b="1" dirty="0" smtClean="0">
                <a:solidFill>
                  <a:srgbClr val="0C77C3"/>
                </a:solidFill>
              </a:rPr>
              <a:t> of SEs from model in ensemble with different depth.</a:t>
            </a:r>
            <a:endParaRPr lang="en-US" altLang="ko-KR" sz="1600" b="1" dirty="0">
              <a:solidFill>
                <a:srgbClr val="0C77C3"/>
              </a:solidFill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C5BB7996-34F7-43B9-AE43-8B1447BDF1ED}"/>
              </a:ext>
            </a:extLst>
          </p:cNvPr>
          <p:cNvSpPr/>
          <p:nvPr/>
        </p:nvSpPr>
        <p:spPr>
          <a:xfrm>
            <a:off x="10869454" y="25101907"/>
            <a:ext cx="10040366" cy="461377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3400" b="1" dirty="0" smtClean="0"/>
              <a:t>  Conclusion</a:t>
            </a:r>
            <a:endParaRPr lang="ko-KR" altLang="en-US" sz="3400" b="1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9B8E4D2A-3A02-4DEF-98B2-8BAA3AB3C42D}"/>
              </a:ext>
            </a:extLst>
          </p:cNvPr>
          <p:cNvSpPr txBox="1"/>
          <p:nvPr/>
        </p:nvSpPr>
        <p:spPr>
          <a:xfrm>
            <a:off x="10880851" y="25574508"/>
            <a:ext cx="100564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/>
              <a:t>In this study, we analyzed the characteristics of two types of uncertainty for effective active learning using a full set that resembles real-world scenarios, as opposed to a benchmark dataset.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/>
              <a:t>Experimental results demonstrated the importance of using appropriate metrics to measure uncertainty in selecting informative data points for active learning.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/>
              <a:t>Additionally, it has been experimentally confirmed that the lack of diversity among different models in multiple forward pass-based methods can act as a potential weakness in accurately measuring uncertainty.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B8E4D2A-3A02-4DEF-98B2-8BAA3AB3C42D}"/>
              </a:ext>
            </a:extLst>
          </p:cNvPr>
          <p:cNvSpPr txBox="1"/>
          <p:nvPr/>
        </p:nvSpPr>
        <p:spPr>
          <a:xfrm>
            <a:off x="10890069" y="22824067"/>
            <a:ext cx="101065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/>
              <a:t>Table 1, Figure 5, and Figure 6 indicate that diversity in ensemble models may not be ensured depending on the model.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/>
              <a:t>In Figure 6, it can be observed that ambiguous or out-of-distribution (OOD) samples </a:t>
            </a:r>
            <a:r>
              <a:rPr lang="en-US" altLang="ko-KR"/>
              <a:t>have </a:t>
            </a:r>
            <a:r>
              <a:rPr lang="en-US" altLang="ko-KR" smtClean="0"/>
              <a:t>higher MI </a:t>
            </a:r>
            <a:r>
              <a:rPr lang="en-US" altLang="ko-KR" dirty="0"/>
              <a:t>compared to clean samples. This could lead to unnecessary time consumption in active learning.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/>
              <a:t>To accurately estimate meaningful uncertainty, multiple forward pass-based methods necessitate diversity across various </a:t>
            </a:r>
            <a:r>
              <a:rPr lang="en-US" altLang="ko-KR" dirty="0" smtClean="0"/>
              <a:t>models.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/>
              <a:t>This is one of the reasons why single forward pass-based methods have been receiving attention recently.</a:t>
            </a: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C5BB7996-34F7-43B9-AE43-8B1447BDF1ED}"/>
              </a:ext>
            </a:extLst>
          </p:cNvPr>
          <p:cNvSpPr/>
          <p:nvPr/>
        </p:nvSpPr>
        <p:spPr>
          <a:xfrm>
            <a:off x="10869454" y="27596901"/>
            <a:ext cx="10040366" cy="461377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3400" b="1" dirty="0" smtClean="0"/>
              <a:t>  References</a:t>
            </a:r>
            <a:endParaRPr lang="ko-KR" altLang="en-US" sz="3400" b="1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B8E4D2A-3A02-4DEF-98B2-8BAA3AB3C42D}"/>
              </a:ext>
            </a:extLst>
          </p:cNvPr>
          <p:cNvSpPr txBox="1"/>
          <p:nvPr/>
        </p:nvSpPr>
        <p:spPr>
          <a:xfrm>
            <a:off x="10887411" y="28058884"/>
            <a:ext cx="100224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 smtClean="0"/>
              <a:t>[1] Gal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Yarin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Riashat</a:t>
            </a:r>
            <a:r>
              <a:rPr lang="en-US" altLang="ko-KR" sz="1600" dirty="0"/>
              <a:t> Islam, and </a:t>
            </a:r>
            <a:r>
              <a:rPr lang="en-US" altLang="ko-KR" sz="1600" dirty="0" err="1"/>
              <a:t>Zoubin</a:t>
            </a:r>
            <a:r>
              <a:rPr lang="en-US" altLang="ko-KR" sz="1600" dirty="0"/>
              <a:t> </a:t>
            </a:r>
            <a:r>
              <a:rPr lang="en-US" altLang="ko-KR" sz="1600" dirty="0" err="1"/>
              <a:t>Ghahramani</a:t>
            </a:r>
            <a:r>
              <a:rPr lang="en-US" altLang="ko-KR" sz="1600" dirty="0"/>
              <a:t>. "Deep </a:t>
            </a:r>
            <a:r>
              <a:rPr lang="en-US" altLang="ko-KR" sz="1600" dirty="0" err="1"/>
              <a:t>bayesian</a:t>
            </a:r>
            <a:r>
              <a:rPr lang="en-US" altLang="ko-KR" sz="1600" dirty="0"/>
              <a:t> active learning with image data." </a:t>
            </a:r>
            <a:r>
              <a:rPr lang="en-US" altLang="ko-KR" sz="1600" i="1" dirty="0"/>
              <a:t>International conference on machine learning</a:t>
            </a:r>
            <a:r>
              <a:rPr lang="en-US" altLang="ko-KR" sz="1600" dirty="0"/>
              <a:t>. PMLR, 2017.</a:t>
            </a:r>
          </a:p>
          <a:p>
            <a:pPr algn="just"/>
            <a:r>
              <a:rPr lang="en-US" altLang="ko-KR" sz="1600" dirty="0" smtClean="0"/>
              <a:t>[2] Van </a:t>
            </a:r>
            <a:r>
              <a:rPr lang="en-US" altLang="ko-KR" sz="1600" dirty="0"/>
              <a:t>Amersfoort, </a:t>
            </a:r>
            <a:r>
              <a:rPr lang="en-US" altLang="ko-KR" sz="1600" dirty="0" err="1"/>
              <a:t>Joost</a:t>
            </a:r>
            <a:r>
              <a:rPr lang="en-US" altLang="ko-KR" sz="1600" dirty="0"/>
              <a:t>, et al. "Uncertainty estimation using a single deep deterministic neural network." </a:t>
            </a:r>
            <a:r>
              <a:rPr lang="en-US" altLang="ko-KR" sz="1600" i="1" dirty="0"/>
              <a:t>International conference on machine learning</a:t>
            </a:r>
            <a:r>
              <a:rPr lang="en-US" altLang="ko-KR" sz="1600" dirty="0"/>
              <a:t>. PMLR, 2020</a:t>
            </a:r>
            <a:r>
              <a:rPr lang="en-US" altLang="ko-KR" sz="1600" dirty="0" smtClean="0"/>
              <a:t>.</a:t>
            </a:r>
          </a:p>
          <a:p>
            <a:pPr algn="just"/>
            <a:r>
              <a:rPr lang="en-US" altLang="ko-KR" sz="1600" dirty="0" smtClean="0"/>
              <a:t>[3] </a:t>
            </a:r>
            <a:r>
              <a:rPr lang="en-US" altLang="ko-KR" sz="1600" dirty="0" err="1" smtClean="0"/>
              <a:t>Mukhoti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Jishnu</a:t>
            </a:r>
            <a:r>
              <a:rPr lang="en-US" altLang="ko-KR" sz="1600" dirty="0"/>
              <a:t>, et al. "Deep deterministic uncertainty: A new simple baseline." </a:t>
            </a:r>
            <a:r>
              <a:rPr lang="en-US" altLang="ko-KR" sz="1600" i="1" dirty="0"/>
              <a:t>Proceedings of the IEEE/CVF Conference on Computer Vision and Pattern Recognition</a:t>
            </a:r>
            <a:r>
              <a:rPr lang="en-US" altLang="ko-KR" sz="1600" dirty="0"/>
              <a:t>. 2023.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직사각형 98"/>
              <p:cNvSpPr/>
              <p:nvPr/>
            </p:nvSpPr>
            <p:spPr>
              <a:xfrm>
                <a:off x="354786" y="10085612"/>
                <a:ext cx="1634438" cy="605176"/>
              </a:xfrm>
              <a:prstGeom prst="rect">
                <a:avLst/>
              </a:prstGeom>
              <a:noFill/>
              <a:ln w="38100">
                <a:solidFill>
                  <a:srgbClr val="0C77C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Test sample</a:t>
                </a:r>
              </a:p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직사각형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86" y="10085612"/>
                <a:ext cx="1634438" cy="605176"/>
              </a:xfrm>
              <a:prstGeom prst="rect">
                <a:avLst/>
              </a:prstGeom>
              <a:blipFill>
                <a:blip r:embed="rId15"/>
                <a:stretch>
                  <a:fillRect t="-4717"/>
                </a:stretch>
              </a:blipFill>
              <a:ln w="38100">
                <a:solidFill>
                  <a:srgbClr val="0C77C3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직사각형 99"/>
              <p:cNvSpPr/>
              <p:nvPr/>
            </p:nvSpPr>
            <p:spPr>
              <a:xfrm>
                <a:off x="2575531" y="10085612"/>
                <a:ext cx="1748860" cy="605176"/>
              </a:xfrm>
              <a:prstGeom prst="rect">
                <a:avLst/>
              </a:prstGeom>
              <a:noFill/>
              <a:ln w="38100">
                <a:solidFill>
                  <a:srgbClr val="0C77C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Residual NN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직사각형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531" y="10085612"/>
                <a:ext cx="1748860" cy="605176"/>
              </a:xfrm>
              <a:prstGeom prst="rect">
                <a:avLst/>
              </a:prstGeom>
              <a:blipFill>
                <a:blip r:embed="rId16"/>
                <a:stretch>
                  <a:fillRect t="-4717" b="-7547"/>
                </a:stretch>
              </a:blipFill>
              <a:ln w="38100">
                <a:solidFill>
                  <a:srgbClr val="0C77C3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직사각형 100"/>
              <p:cNvSpPr/>
              <p:nvPr/>
            </p:nvSpPr>
            <p:spPr>
              <a:xfrm>
                <a:off x="4874443" y="10085612"/>
                <a:ext cx="1592518" cy="605176"/>
              </a:xfrm>
              <a:prstGeom prst="rect">
                <a:avLst/>
              </a:prstGeom>
              <a:noFill/>
              <a:ln w="38100">
                <a:solidFill>
                  <a:srgbClr val="0C77C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Feature</a:t>
                </a:r>
                <a:br>
                  <a:rPr lang="en-US" altLang="ko-KR" dirty="0" smtClean="0">
                    <a:solidFill>
                      <a:schemeClr val="tx1"/>
                    </a:solidFill>
                  </a:rPr>
                </a:br>
                <a:r>
                  <a:rPr lang="en-US" altLang="ko-KR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직사각형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443" y="10085612"/>
                <a:ext cx="1592518" cy="605176"/>
              </a:xfrm>
              <a:prstGeom prst="rect">
                <a:avLst/>
              </a:prstGeom>
              <a:blipFill>
                <a:blip r:embed="rId17"/>
                <a:stretch>
                  <a:fillRect t="-6604" b="-10377"/>
                </a:stretch>
              </a:blipFill>
              <a:ln w="38100">
                <a:solidFill>
                  <a:srgbClr val="0C77C3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직사각형 101"/>
          <p:cNvSpPr/>
          <p:nvPr/>
        </p:nvSpPr>
        <p:spPr>
          <a:xfrm>
            <a:off x="6996760" y="10085612"/>
            <a:ext cx="1069404" cy="605176"/>
          </a:xfrm>
          <a:prstGeom prst="rect">
            <a:avLst/>
          </a:prstGeom>
          <a:noFill/>
          <a:ln w="38100">
            <a:solidFill>
              <a:srgbClr val="0C77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GMM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직사각형 103"/>
              <p:cNvSpPr/>
              <p:nvPr/>
            </p:nvSpPr>
            <p:spPr>
              <a:xfrm>
                <a:off x="8598180" y="10085612"/>
                <a:ext cx="1640836" cy="605176"/>
              </a:xfrm>
              <a:prstGeom prst="rect">
                <a:avLst/>
              </a:prstGeom>
              <a:noFill/>
              <a:ln w="38100">
                <a:solidFill>
                  <a:srgbClr val="0C77C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</a:rPr>
                  <a:t>Density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acc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직사각형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180" y="10085612"/>
                <a:ext cx="1640836" cy="605176"/>
              </a:xfrm>
              <a:prstGeom prst="rect">
                <a:avLst/>
              </a:prstGeom>
              <a:blipFill>
                <a:blip r:embed="rId18"/>
                <a:stretch>
                  <a:fillRect t="-6604" b="-10377"/>
                </a:stretch>
              </a:blipFill>
              <a:ln w="38100">
                <a:solidFill>
                  <a:srgbClr val="0C77C3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직선 화살표 연결선 3"/>
          <p:cNvCxnSpPr/>
          <p:nvPr/>
        </p:nvCxnSpPr>
        <p:spPr>
          <a:xfrm>
            <a:off x="2098675" y="10382250"/>
            <a:ext cx="409575" cy="0"/>
          </a:xfrm>
          <a:prstGeom prst="straightConnector1">
            <a:avLst/>
          </a:prstGeom>
          <a:ln w="38100">
            <a:solidFill>
              <a:srgbClr val="0C77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/>
          <p:nvPr/>
        </p:nvCxnSpPr>
        <p:spPr>
          <a:xfrm>
            <a:off x="4395162" y="10382250"/>
            <a:ext cx="409575" cy="0"/>
          </a:xfrm>
          <a:prstGeom prst="straightConnector1">
            <a:avLst/>
          </a:prstGeom>
          <a:ln w="38100">
            <a:solidFill>
              <a:srgbClr val="0C77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>
            <a:off x="6526045" y="10382250"/>
            <a:ext cx="409575" cy="0"/>
          </a:xfrm>
          <a:prstGeom prst="straightConnector1">
            <a:avLst/>
          </a:prstGeom>
          <a:ln w="38100">
            <a:solidFill>
              <a:srgbClr val="0C77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/>
          <p:nvPr/>
        </p:nvCxnSpPr>
        <p:spPr>
          <a:xfrm>
            <a:off x="8125305" y="10384829"/>
            <a:ext cx="409575" cy="0"/>
          </a:xfrm>
          <a:prstGeom prst="straightConnector1">
            <a:avLst/>
          </a:prstGeom>
          <a:ln w="38100">
            <a:solidFill>
              <a:srgbClr val="0C77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1514007" y="21284859"/>
            <a:ext cx="8006872" cy="2317049"/>
            <a:chOff x="1514007" y="21575144"/>
            <a:chExt cx="8006872" cy="2317049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19"/>
            <a:srcRect r="53046"/>
            <a:stretch/>
          </p:blipFill>
          <p:spPr>
            <a:xfrm>
              <a:off x="2217363" y="21575144"/>
              <a:ext cx="2310356" cy="2105532"/>
            </a:xfrm>
            <a:prstGeom prst="rect">
              <a:avLst/>
            </a:prstGeom>
          </p:spPr>
        </p:pic>
        <p:pic>
          <p:nvPicPr>
            <p:cNvPr id="200" name="그림 199"/>
            <p:cNvPicPr>
              <a:picLocks noChangeAspect="1"/>
            </p:cNvPicPr>
            <p:nvPr/>
          </p:nvPicPr>
          <p:blipFill rotWithShape="1">
            <a:blip r:embed="rId19"/>
            <a:srcRect l="53020"/>
            <a:stretch/>
          </p:blipFill>
          <p:spPr>
            <a:xfrm>
              <a:off x="6223246" y="21575144"/>
              <a:ext cx="2311634" cy="2105532"/>
            </a:xfrm>
            <a:prstGeom prst="rect">
              <a:avLst/>
            </a:prstGeom>
          </p:spPr>
        </p:pic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9B8E4D2A-3A02-4DEF-98B2-8BAA3AB3C42D}"/>
                </a:ext>
              </a:extLst>
            </p:cNvPr>
            <p:cNvSpPr txBox="1"/>
            <p:nvPr/>
          </p:nvSpPr>
          <p:spPr>
            <a:xfrm>
              <a:off x="1514007" y="23378702"/>
              <a:ext cx="4005492" cy="513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600" b="1" dirty="0" smtClean="0">
                  <a:solidFill>
                    <a:srgbClr val="0070C0"/>
                  </a:solidFill>
                </a:rPr>
                <a:t>Figure 1. </a:t>
              </a:r>
            </a:p>
            <a:p>
              <a:pPr algn="just"/>
              <a:r>
                <a:rPr lang="en-US" altLang="ko-KR" sz="1600" b="1" dirty="0" smtClean="0">
                  <a:solidFill>
                    <a:srgbClr val="0070C0"/>
                  </a:solidFill>
                </a:rPr>
                <a:t>Clean MNIST with Ambiguous MNIST</a:t>
              </a:r>
              <a:endParaRPr lang="en-US" altLang="ko-KR" sz="1600" dirty="0"/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B8E4D2A-3A02-4DEF-98B2-8BAA3AB3C42D}"/>
                </a:ext>
              </a:extLst>
            </p:cNvPr>
            <p:cNvSpPr txBox="1"/>
            <p:nvPr/>
          </p:nvSpPr>
          <p:spPr>
            <a:xfrm>
              <a:off x="5519499" y="23378702"/>
              <a:ext cx="4001380" cy="513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600" b="1" dirty="0" smtClean="0">
                  <a:solidFill>
                    <a:srgbClr val="0070C0"/>
                  </a:solidFill>
                </a:rPr>
                <a:t>Figure 2. </a:t>
              </a:r>
            </a:p>
            <a:p>
              <a:pPr algn="just"/>
              <a:r>
                <a:rPr lang="en-US" altLang="ko-KR" sz="1600" b="1" dirty="0" smtClean="0">
                  <a:solidFill>
                    <a:srgbClr val="0070C0"/>
                  </a:solidFill>
                </a:rPr>
                <a:t>Clean MNIST and Fashion MNIST</a:t>
              </a:r>
              <a:endParaRPr lang="en-US" altLang="ko-KR" sz="1600" dirty="0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61E40BC4-550A-464D-BA71-440439050768}"/>
              </a:ext>
            </a:extLst>
          </p:cNvPr>
          <p:cNvSpPr txBox="1"/>
          <p:nvPr/>
        </p:nvSpPr>
        <p:spPr>
          <a:xfrm>
            <a:off x="331031" y="28604173"/>
            <a:ext cx="9880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b="1" dirty="0" smtClean="0">
                <a:solidFill>
                  <a:srgbClr val="0070C0"/>
                </a:solidFill>
              </a:rPr>
              <a:t>Single </a:t>
            </a:r>
            <a:r>
              <a:rPr lang="en-US" altLang="ko-KR" b="1" dirty="0">
                <a:solidFill>
                  <a:srgbClr val="0070C0"/>
                </a:solidFill>
              </a:rPr>
              <a:t>forward based </a:t>
            </a:r>
            <a:r>
              <a:rPr lang="en-US" altLang="ko-KR" b="1" dirty="0" smtClean="0">
                <a:solidFill>
                  <a:srgbClr val="0070C0"/>
                </a:solidFill>
              </a:rPr>
              <a:t>method</a:t>
            </a:r>
            <a:endParaRPr lang="en-US" altLang="ko-KR" b="1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Deep Deterministic Uncertainty, called DDU, use GMM as a feature space density with bi-Lipschitz continuous residual neural network.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1494424" y="17154305"/>
            <a:ext cx="9143568" cy="5719880"/>
            <a:chOff x="11494424" y="17154305"/>
            <a:chExt cx="9143568" cy="5719880"/>
          </a:xfrm>
        </p:grpSpPr>
        <p:pic>
          <p:nvPicPr>
            <p:cNvPr id="226" name="그림 225"/>
            <p:cNvPicPr>
              <a:picLocks noChangeAspect="1"/>
            </p:cNvPicPr>
            <p:nvPr/>
          </p:nvPicPr>
          <p:blipFill rotWithShape="1">
            <a:blip r:embed="rId20"/>
            <a:srcRect l="3181" t="4809" b="5212"/>
            <a:stretch/>
          </p:blipFill>
          <p:spPr>
            <a:xfrm>
              <a:off x="11517638" y="17159906"/>
              <a:ext cx="4101783" cy="2461874"/>
            </a:xfrm>
            <a:prstGeom prst="rect">
              <a:avLst/>
            </a:prstGeom>
          </p:spPr>
        </p:pic>
        <p:pic>
          <p:nvPicPr>
            <p:cNvPr id="227" name="그림 226"/>
            <p:cNvPicPr>
              <a:picLocks noChangeAspect="1"/>
            </p:cNvPicPr>
            <p:nvPr/>
          </p:nvPicPr>
          <p:blipFill rotWithShape="1">
            <a:blip r:embed="rId21"/>
            <a:srcRect l="3329" t="4772" b="4678"/>
            <a:stretch/>
          </p:blipFill>
          <p:spPr>
            <a:xfrm>
              <a:off x="11494424" y="19650933"/>
              <a:ext cx="4139082" cy="2477455"/>
            </a:xfrm>
            <a:prstGeom prst="rect">
              <a:avLst/>
            </a:prstGeom>
          </p:spPr>
        </p:pic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9B8E4D2A-3A02-4DEF-98B2-8BAA3AB3C42D}"/>
                </a:ext>
              </a:extLst>
            </p:cNvPr>
            <p:cNvSpPr txBox="1"/>
            <p:nvPr/>
          </p:nvSpPr>
          <p:spPr>
            <a:xfrm>
              <a:off x="11580655" y="22043188"/>
              <a:ext cx="43431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>
                  <a:solidFill>
                    <a:srgbClr val="0C77C3"/>
                  </a:solidFill>
                </a:rPr>
                <a:t>Figure 5. </a:t>
              </a:r>
            </a:p>
            <a:p>
              <a:r>
                <a:rPr lang="en-US" altLang="ko-KR" sz="1600" b="1" dirty="0" smtClean="0">
                  <a:solidFill>
                    <a:srgbClr val="0C77C3"/>
                  </a:solidFill>
                </a:rPr>
                <a:t>SEs and MI of each samples with 3-ensemble of ResNet18 in each sectors.</a:t>
              </a:r>
              <a:endParaRPr lang="en-US" altLang="ko-KR" sz="1600" b="1" dirty="0">
                <a:solidFill>
                  <a:srgbClr val="0C77C3"/>
                </a:solidFill>
              </a:endParaRPr>
            </a:p>
          </p:txBody>
        </p:sp>
        <p:pic>
          <p:nvPicPr>
            <p:cNvPr id="232" name="그림 231"/>
            <p:cNvPicPr>
              <a:picLocks noChangeAspect="1"/>
            </p:cNvPicPr>
            <p:nvPr/>
          </p:nvPicPr>
          <p:blipFill rotWithShape="1">
            <a:blip r:embed="rId22"/>
            <a:srcRect l="3848" t="4731" b="5114"/>
            <a:stretch/>
          </p:blipFill>
          <p:spPr>
            <a:xfrm>
              <a:off x="16200028" y="17154305"/>
              <a:ext cx="4096388" cy="2466378"/>
            </a:xfrm>
            <a:prstGeom prst="rect">
              <a:avLst/>
            </a:prstGeom>
          </p:spPr>
        </p:pic>
        <p:pic>
          <p:nvPicPr>
            <p:cNvPr id="233" name="그림 232"/>
            <p:cNvPicPr>
              <a:picLocks noChangeAspect="1"/>
            </p:cNvPicPr>
            <p:nvPr/>
          </p:nvPicPr>
          <p:blipFill rotWithShape="1">
            <a:blip r:embed="rId23"/>
            <a:srcRect l="3296" t="5150" b="4694"/>
            <a:stretch/>
          </p:blipFill>
          <p:spPr>
            <a:xfrm>
              <a:off x="16154191" y="19663185"/>
              <a:ext cx="4142225" cy="2457675"/>
            </a:xfrm>
            <a:prstGeom prst="rect">
              <a:avLst/>
            </a:prstGeom>
          </p:spPr>
        </p:pic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9B8E4D2A-3A02-4DEF-98B2-8BAA3AB3C42D}"/>
                </a:ext>
              </a:extLst>
            </p:cNvPr>
            <p:cNvSpPr txBox="1"/>
            <p:nvPr/>
          </p:nvSpPr>
          <p:spPr>
            <a:xfrm>
              <a:off x="16185624" y="22043188"/>
              <a:ext cx="44523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>
                  <a:solidFill>
                    <a:srgbClr val="0C77C3"/>
                  </a:solidFill>
                </a:rPr>
                <a:t>Figure 6. </a:t>
              </a:r>
            </a:p>
            <a:p>
              <a:r>
                <a:rPr lang="en-US" altLang="ko-KR" sz="1600" b="1" dirty="0" smtClean="0">
                  <a:solidFill>
                    <a:srgbClr val="0C77C3"/>
                  </a:solidFill>
                </a:rPr>
                <a:t>SEs and MI of each samples with 3-ensemble of </a:t>
              </a:r>
              <a:r>
                <a:rPr lang="en-US" altLang="ko-KR" sz="1600" b="1" dirty="0" err="1" smtClean="0">
                  <a:solidFill>
                    <a:srgbClr val="0C77C3"/>
                  </a:solidFill>
                </a:rPr>
                <a:t>LeNet</a:t>
              </a:r>
              <a:r>
                <a:rPr lang="en-US" altLang="ko-KR" sz="1600" b="1" dirty="0" smtClean="0">
                  <a:solidFill>
                    <a:srgbClr val="0C77C3"/>
                  </a:solidFill>
                </a:rPr>
                <a:t> in each sectors.</a:t>
              </a:r>
              <a:endParaRPr lang="en-US" altLang="ko-KR" sz="1600" b="1" dirty="0">
                <a:solidFill>
                  <a:srgbClr val="0C77C3"/>
                </a:solidFill>
              </a:endParaRPr>
            </a:p>
          </p:txBody>
        </p:sp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344819" y="19708849"/>
              <a:ext cx="881781" cy="151286"/>
            </a:xfrm>
            <a:prstGeom prst="rect">
              <a:avLst/>
            </a:prstGeom>
          </p:spPr>
        </p:pic>
      </p:grpSp>
      <p:sp>
        <p:nvSpPr>
          <p:cNvPr id="2" name="직사각형 1"/>
          <p:cNvSpPr/>
          <p:nvPr/>
        </p:nvSpPr>
        <p:spPr>
          <a:xfrm>
            <a:off x="12077700" y="9252568"/>
            <a:ext cx="1455420" cy="754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/>
        </p:nvCxnSpPr>
        <p:spPr>
          <a:xfrm flipV="1">
            <a:off x="12544426" y="9239250"/>
            <a:ext cx="0" cy="846362"/>
          </a:xfrm>
          <a:prstGeom prst="line">
            <a:avLst/>
          </a:prstGeom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V="1">
            <a:off x="13125451" y="9239250"/>
            <a:ext cx="0" cy="846362"/>
          </a:xfrm>
          <a:prstGeom prst="line">
            <a:avLst/>
          </a:prstGeom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 flipH="1">
            <a:off x="12064771" y="9615169"/>
            <a:ext cx="1553598" cy="1"/>
          </a:xfrm>
          <a:prstGeom prst="line">
            <a:avLst/>
          </a:prstGeom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 flipH="1">
            <a:off x="12062391" y="9349746"/>
            <a:ext cx="1458347" cy="0"/>
          </a:xfrm>
          <a:prstGeom prst="line">
            <a:avLst/>
          </a:prstGeom>
          <a:ln w="19050">
            <a:solidFill>
              <a:srgbClr val="FF7F7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Picture 2"/>
          <p:cNvPicPr>
            <a:picLocks noChangeAspect="1"/>
          </p:cNvPicPr>
          <p:nvPr/>
        </p:nvPicPr>
        <p:blipFill rotWithShape="1">
          <a:blip r:embed="rId9">
            <a:extLst/>
          </a:blip>
          <a:srcRect l="14648" t="6834" r="55390" b="76035"/>
          <a:stretch/>
        </p:blipFill>
        <p:spPr>
          <a:xfrm>
            <a:off x="12062391" y="9251946"/>
            <a:ext cx="1401281" cy="6776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0" name="직사각형 29"/>
          <p:cNvSpPr/>
          <p:nvPr/>
        </p:nvSpPr>
        <p:spPr>
          <a:xfrm>
            <a:off x="12157869" y="9405227"/>
            <a:ext cx="1289460" cy="464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7" name="직선 연결선 86"/>
          <p:cNvCxnSpPr/>
          <p:nvPr/>
        </p:nvCxnSpPr>
        <p:spPr>
          <a:xfrm flipV="1">
            <a:off x="13458910" y="9291638"/>
            <a:ext cx="0" cy="542925"/>
          </a:xfrm>
          <a:prstGeom prst="line">
            <a:avLst/>
          </a:prstGeom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13463672" y="9381414"/>
            <a:ext cx="126915" cy="217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98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24810</TotalTime>
  <Words>922</Words>
  <Application>Microsoft Office PowerPoint</Application>
  <PresentationFormat>사용자 지정</PresentationFormat>
  <Paragraphs>142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HY신명조</vt:lpstr>
      <vt:lpstr>돋움</vt:lpstr>
      <vt:lpstr>맑은 고딕</vt:lpstr>
      <vt:lpstr>Arial</vt:lpstr>
      <vt:lpstr>Calibri</vt:lpstr>
      <vt:lpstr>Calibri Light</vt:lpstr>
      <vt:lpstr>Cambria Math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jaewon shim</dc:creator>
  <cp:lastModifiedBy>user</cp:lastModifiedBy>
  <cp:revision>238</cp:revision>
  <cp:lastPrinted>2024-05-21T11:15:35Z</cp:lastPrinted>
  <dcterms:created xsi:type="dcterms:W3CDTF">2022-04-18T01:59:51Z</dcterms:created>
  <dcterms:modified xsi:type="dcterms:W3CDTF">2024-07-01T02:36:42Z</dcterms:modified>
</cp:coreProperties>
</file>
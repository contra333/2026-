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8" r:id="rId2"/>
  </p:sldIdLst>
  <p:sldSz cx="21383625" cy="30275213"/>
  <p:notesSz cx="9939338" cy="143684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735" userDrawn="1">
          <p15:clr>
            <a:srgbClr val="A4A3A4"/>
          </p15:clr>
        </p15:guide>
        <p15:guide id="2" pos="271" userDrawn="1">
          <p15:clr>
            <a:srgbClr val="A4A3A4"/>
          </p15:clr>
        </p15:guide>
        <p15:guide id="4" orient="horz" pos="1938" userDrawn="1">
          <p15:clr>
            <a:srgbClr val="A4A3A4"/>
          </p15:clr>
        </p15:guide>
        <p15:guide id="5" pos="6984" userDrawn="1">
          <p15:clr>
            <a:srgbClr val="A4A3A4"/>
          </p15:clr>
        </p15:guide>
        <p15:guide id="6" pos="6486" userDrawn="1">
          <p15:clr>
            <a:srgbClr val="A4A3A4"/>
          </p15:clr>
        </p15:guide>
        <p15:guide id="7" pos="131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28F"/>
    <a:srgbClr val="FFFFFF"/>
    <a:srgbClr val="4472C4"/>
    <a:srgbClr val="2F5597"/>
    <a:srgbClr val="0070C0"/>
    <a:srgbClr val="0000FF"/>
    <a:srgbClr val="FF7F7F"/>
    <a:srgbClr val="DEDEDE"/>
    <a:srgbClr val="0C77C3"/>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테마 스타일 2 - 강조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테마 스타일 1 - 강조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밝은 스타일 3 - 강조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FD0F851-EC5A-4D38-B0AD-8093EC10F338}" styleName="밝은 스타일 1 - 강조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18" autoAdjust="0"/>
    <p:restoredTop sz="97384" autoAdjust="0"/>
  </p:normalViewPr>
  <p:slideViewPr>
    <p:cSldViewPr snapToGrid="0">
      <p:cViewPr>
        <p:scale>
          <a:sx n="75" d="100"/>
          <a:sy n="75" d="100"/>
        </p:scale>
        <p:origin x="1752" y="-2106"/>
      </p:cViewPr>
      <p:guideLst>
        <p:guide pos="6735"/>
        <p:guide pos="271"/>
        <p:guide orient="horz" pos="1938"/>
        <p:guide pos="6984"/>
        <p:guide pos="6486"/>
        <p:guide pos="13199"/>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4" y="2"/>
            <a:ext cx="4307047" cy="720918"/>
          </a:xfrm>
          <a:prstGeom prst="rect">
            <a:avLst/>
          </a:prstGeom>
        </p:spPr>
        <p:txBody>
          <a:bodyPr vert="horz" lIns="132690" tIns="66347" rIns="132690" bIns="66347" rtlCol="0"/>
          <a:lstStyle>
            <a:lvl1pPr algn="l">
              <a:defRPr sz="1700"/>
            </a:lvl1pPr>
          </a:lstStyle>
          <a:p>
            <a:endParaRPr lang="ko-KR" altLang="en-US"/>
          </a:p>
        </p:txBody>
      </p:sp>
      <p:sp>
        <p:nvSpPr>
          <p:cNvPr id="3" name="날짜 개체 틀 2"/>
          <p:cNvSpPr>
            <a:spLocks noGrp="1"/>
          </p:cNvSpPr>
          <p:nvPr>
            <p:ph type="dt" idx="1"/>
          </p:nvPr>
        </p:nvSpPr>
        <p:spPr>
          <a:xfrm>
            <a:off x="5629994" y="2"/>
            <a:ext cx="4307047" cy="720918"/>
          </a:xfrm>
          <a:prstGeom prst="rect">
            <a:avLst/>
          </a:prstGeom>
        </p:spPr>
        <p:txBody>
          <a:bodyPr vert="horz" lIns="132690" tIns="66347" rIns="132690" bIns="66347" rtlCol="0"/>
          <a:lstStyle>
            <a:lvl1pPr algn="r">
              <a:defRPr sz="1700"/>
            </a:lvl1pPr>
          </a:lstStyle>
          <a:p>
            <a:fld id="{D1E438BE-BD49-42F6-8562-7406FB9FE3DA}" type="datetimeFigureOut">
              <a:rPr lang="ko-KR" altLang="en-US" smtClean="0"/>
              <a:t>2025-12-07</a:t>
            </a:fld>
            <a:endParaRPr lang="ko-KR" altLang="en-US"/>
          </a:p>
        </p:txBody>
      </p:sp>
      <p:sp>
        <p:nvSpPr>
          <p:cNvPr id="4" name="슬라이드 이미지 개체 틀 3"/>
          <p:cNvSpPr>
            <a:spLocks noGrp="1" noRot="1" noChangeAspect="1"/>
          </p:cNvSpPr>
          <p:nvPr>
            <p:ph type="sldImg" idx="2"/>
          </p:nvPr>
        </p:nvSpPr>
        <p:spPr>
          <a:xfrm>
            <a:off x="3257550" y="1797050"/>
            <a:ext cx="3424238" cy="4849813"/>
          </a:xfrm>
          <a:prstGeom prst="rect">
            <a:avLst/>
          </a:prstGeom>
          <a:noFill/>
          <a:ln w="12700">
            <a:solidFill>
              <a:prstClr val="black"/>
            </a:solidFill>
          </a:ln>
        </p:spPr>
        <p:txBody>
          <a:bodyPr vert="horz" lIns="132690" tIns="66347" rIns="132690" bIns="66347" rtlCol="0" anchor="ctr"/>
          <a:lstStyle/>
          <a:p>
            <a:endParaRPr lang="ko-KR" altLang="en-US"/>
          </a:p>
        </p:txBody>
      </p:sp>
      <p:sp>
        <p:nvSpPr>
          <p:cNvPr id="5" name="슬라이드 노트 개체 틀 4"/>
          <p:cNvSpPr>
            <a:spLocks noGrp="1"/>
          </p:cNvSpPr>
          <p:nvPr>
            <p:ph type="body" sz="quarter" idx="3"/>
          </p:nvPr>
        </p:nvSpPr>
        <p:spPr>
          <a:xfrm>
            <a:off x="993934" y="6914825"/>
            <a:ext cx="7951470" cy="5657582"/>
          </a:xfrm>
          <a:prstGeom prst="rect">
            <a:avLst/>
          </a:prstGeom>
        </p:spPr>
        <p:txBody>
          <a:bodyPr vert="horz" lIns="132690" tIns="66347" rIns="132690" bIns="66347"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4" y="13647547"/>
            <a:ext cx="4307047" cy="720917"/>
          </a:xfrm>
          <a:prstGeom prst="rect">
            <a:avLst/>
          </a:prstGeom>
        </p:spPr>
        <p:txBody>
          <a:bodyPr vert="horz" lIns="132690" tIns="66347" rIns="132690" bIns="66347" rtlCol="0" anchor="b"/>
          <a:lstStyle>
            <a:lvl1pPr algn="l">
              <a:defRPr sz="1700"/>
            </a:lvl1pPr>
          </a:lstStyle>
          <a:p>
            <a:endParaRPr lang="ko-KR" altLang="en-US"/>
          </a:p>
        </p:txBody>
      </p:sp>
      <p:sp>
        <p:nvSpPr>
          <p:cNvPr id="7" name="슬라이드 번호 개체 틀 6"/>
          <p:cNvSpPr>
            <a:spLocks noGrp="1"/>
          </p:cNvSpPr>
          <p:nvPr>
            <p:ph type="sldNum" sz="quarter" idx="5"/>
          </p:nvPr>
        </p:nvSpPr>
        <p:spPr>
          <a:xfrm>
            <a:off x="5629994" y="13647547"/>
            <a:ext cx="4307047" cy="720917"/>
          </a:xfrm>
          <a:prstGeom prst="rect">
            <a:avLst/>
          </a:prstGeom>
        </p:spPr>
        <p:txBody>
          <a:bodyPr vert="horz" lIns="132690" tIns="66347" rIns="132690" bIns="66347" rtlCol="0" anchor="b"/>
          <a:lstStyle>
            <a:lvl1pPr algn="r">
              <a:defRPr sz="1700"/>
            </a:lvl1pPr>
          </a:lstStyle>
          <a:p>
            <a:fld id="{BED5D2A3-1706-4EE3-AF9E-E81C0D6E0D74}" type="slidenum">
              <a:rPr lang="ko-KR" altLang="en-US" smtClean="0"/>
              <a:t>‹#›</a:t>
            </a:fld>
            <a:endParaRPr lang="ko-KR" altLang="en-US"/>
          </a:p>
        </p:txBody>
      </p:sp>
    </p:spTree>
    <p:extLst>
      <p:ext uri="{BB962C8B-B14F-4D97-AF65-F5344CB8AC3E}">
        <p14:creationId xmlns:p14="http://schemas.microsoft.com/office/powerpoint/2010/main" val="2708904246"/>
      </p:ext>
    </p:extLst>
  </p:cSld>
  <p:clrMap bg1="lt1" tx1="dk1" bg2="lt2" tx2="dk2" accent1="accent1" accent2="accent2" accent3="accent3" accent4="accent4" accent5="accent5" accent6="accent6" hlink="hlink" folHlink="folHlink"/>
  <p:notesStyle>
    <a:lvl1pPr marL="0" algn="l" defTabSz="1611630" rtl="0" eaLnBrk="1" latinLnBrk="1" hangingPunct="1">
      <a:defRPr sz="2115" kern="1200">
        <a:solidFill>
          <a:schemeClr val="tx1"/>
        </a:solidFill>
        <a:latin typeface="+mn-lt"/>
        <a:ea typeface="+mn-ea"/>
        <a:cs typeface="+mn-cs"/>
      </a:defRPr>
    </a:lvl1pPr>
    <a:lvl2pPr marL="805815" algn="l" defTabSz="1611630" rtl="0" eaLnBrk="1" latinLnBrk="1" hangingPunct="1">
      <a:defRPr sz="2115" kern="1200">
        <a:solidFill>
          <a:schemeClr val="tx1"/>
        </a:solidFill>
        <a:latin typeface="+mn-lt"/>
        <a:ea typeface="+mn-ea"/>
        <a:cs typeface="+mn-cs"/>
      </a:defRPr>
    </a:lvl2pPr>
    <a:lvl3pPr marL="1611630" algn="l" defTabSz="1611630" rtl="0" eaLnBrk="1" latinLnBrk="1" hangingPunct="1">
      <a:defRPr sz="2115" kern="1200">
        <a:solidFill>
          <a:schemeClr val="tx1"/>
        </a:solidFill>
        <a:latin typeface="+mn-lt"/>
        <a:ea typeface="+mn-ea"/>
        <a:cs typeface="+mn-cs"/>
      </a:defRPr>
    </a:lvl3pPr>
    <a:lvl4pPr marL="2417445" algn="l" defTabSz="1611630" rtl="0" eaLnBrk="1" latinLnBrk="1" hangingPunct="1">
      <a:defRPr sz="2115" kern="1200">
        <a:solidFill>
          <a:schemeClr val="tx1"/>
        </a:solidFill>
        <a:latin typeface="+mn-lt"/>
        <a:ea typeface="+mn-ea"/>
        <a:cs typeface="+mn-cs"/>
      </a:defRPr>
    </a:lvl4pPr>
    <a:lvl5pPr marL="3223260" algn="l" defTabSz="1611630" rtl="0" eaLnBrk="1" latinLnBrk="1" hangingPunct="1">
      <a:defRPr sz="2115" kern="1200">
        <a:solidFill>
          <a:schemeClr val="tx1"/>
        </a:solidFill>
        <a:latin typeface="+mn-lt"/>
        <a:ea typeface="+mn-ea"/>
        <a:cs typeface="+mn-cs"/>
      </a:defRPr>
    </a:lvl5pPr>
    <a:lvl6pPr marL="4029075" algn="l" defTabSz="1611630" rtl="0" eaLnBrk="1" latinLnBrk="1" hangingPunct="1">
      <a:defRPr sz="2115" kern="1200">
        <a:solidFill>
          <a:schemeClr val="tx1"/>
        </a:solidFill>
        <a:latin typeface="+mn-lt"/>
        <a:ea typeface="+mn-ea"/>
        <a:cs typeface="+mn-cs"/>
      </a:defRPr>
    </a:lvl6pPr>
    <a:lvl7pPr marL="4834890" algn="l" defTabSz="1611630" rtl="0" eaLnBrk="1" latinLnBrk="1" hangingPunct="1">
      <a:defRPr sz="2115" kern="1200">
        <a:solidFill>
          <a:schemeClr val="tx1"/>
        </a:solidFill>
        <a:latin typeface="+mn-lt"/>
        <a:ea typeface="+mn-ea"/>
        <a:cs typeface="+mn-cs"/>
      </a:defRPr>
    </a:lvl7pPr>
    <a:lvl8pPr marL="5640705" algn="l" defTabSz="1611630" rtl="0" eaLnBrk="1" latinLnBrk="1" hangingPunct="1">
      <a:defRPr sz="2115" kern="1200">
        <a:solidFill>
          <a:schemeClr val="tx1"/>
        </a:solidFill>
        <a:latin typeface="+mn-lt"/>
        <a:ea typeface="+mn-ea"/>
        <a:cs typeface="+mn-cs"/>
      </a:defRPr>
    </a:lvl8pPr>
    <a:lvl9pPr marL="6446520" algn="l" defTabSz="1611630" rtl="0" eaLnBrk="1" latinLnBrk="1" hangingPunct="1">
      <a:defRPr sz="211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BED5D2A3-1706-4EE3-AF9E-E81C0D6E0D74}" type="slidenum">
              <a:rPr lang="ko-KR" altLang="en-US" smtClean="0"/>
              <a:t>1</a:t>
            </a:fld>
            <a:endParaRPr lang="ko-KR" altLang="en-US"/>
          </a:p>
        </p:txBody>
      </p:sp>
    </p:spTree>
    <p:extLst>
      <p:ext uri="{BB962C8B-B14F-4D97-AF65-F5344CB8AC3E}">
        <p14:creationId xmlns:p14="http://schemas.microsoft.com/office/powerpoint/2010/main" val="2784863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ko-KR" altLang="en-US"/>
              <a:t>마스터 제목 스타일 편집</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229940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1998267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ko-KR" altLang="en-US"/>
              <a:t>마스터 제목 스타일 편집</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210247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197543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472912" y="11058863"/>
            <a:ext cx="9046274"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0825461" y="11058863"/>
            <a:ext cx="9090826"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60255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4157037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372141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1486238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103843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217128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3603246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491F0A96-EEBB-43A9-9D56-279051C22529}" type="datetimeFigureOut">
              <a:rPr lang="ko-KR" altLang="en-US" smtClean="0"/>
              <a:t>2025-12-07</a:t>
            </a:fld>
            <a:endParaRPr lang="ko-KR"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47134E75-B712-4737-93FE-377FC78FCABA}" type="slidenum">
              <a:rPr lang="ko-KR" altLang="en-US" smtClean="0"/>
              <a:t>‹#›</a:t>
            </a:fld>
            <a:endParaRPr lang="ko-KR" altLang="en-US"/>
          </a:p>
        </p:txBody>
      </p:sp>
    </p:spTree>
    <p:extLst>
      <p:ext uri="{BB962C8B-B14F-4D97-AF65-F5344CB8AC3E}">
        <p14:creationId xmlns:p14="http://schemas.microsoft.com/office/powerpoint/2010/main" val="42136822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138324" rtl="0" eaLnBrk="1" latinLnBrk="1"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1"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1"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1"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1" hangingPunct="1">
        <a:defRPr sz="4209" kern="1200">
          <a:solidFill>
            <a:schemeClr val="tx1"/>
          </a:solidFill>
          <a:latin typeface="+mn-lt"/>
          <a:ea typeface="+mn-ea"/>
          <a:cs typeface="+mn-cs"/>
        </a:defRPr>
      </a:lvl1pPr>
      <a:lvl2pPr marL="1069162" algn="l" defTabSz="2138324" rtl="0" eaLnBrk="1" latinLnBrk="1" hangingPunct="1">
        <a:defRPr sz="4209" kern="1200">
          <a:solidFill>
            <a:schemeClr val="tx1"/>
          </a:solidFill>
          <a:latin typeface="+mn-lt"/>
          <a:ea typeface="+mn-ea"/>
          <a:cs typeface="+mn-cs"/>
        </a:defRPr>
      </a:lvl2pPr>
      <a:lvl3pPr marL="2138324" algn="l" defTabSz="2138324" rtl="0" eaLnBrk="1" latinLnBrk="1" hangingPunct="1">
        <a:defRPr sz="4209" kern="1200">
          <a:solidFill>
            <a:schemeClr val="tx1"/>
          </a:solidFill>
          <a:latin typeface="+mn-lt"/>
          <a:ea typeface="+mn-ea"/>
          <a:cs typeface="+mn-cs"/>
        </a:defRPr>
      </a:lvl3pPr>
      <a:lvl4pPr marL="3207487" algn="l" defTabSz="2138324" rtl="0" eaLnBrk="1" latinLnBrk="1" hangingPunct="1">
        <a:defRPr sz="4209" kern="1200">
          <a:solidFill>
            <a:schemeClr val="tx1"/>
          </a:solidFill>
          <a:latin typeface="+mn-lt"/>
          <a:ea typeface="+mn-ea"/>
          <a:cs typeface="+mn-cs"/>
        </a:defRPr>
      </a:lvl4pPr>
      <a:lvl5pPr marL="4276649" algn="l" defTabSz="2138324" rtl="0" eaLnBrk="1" latinLnBrk="1" hangingPunct="1">
        <a:defRPr sz="4209" kern="1200">
          <a:solidFill>
            <a:schemeClr val="tx1"/>
          </a:solidFill>
          <a:latin typeface="+mn-lt"/>
          <a:ea typeface="+mn-ea"/>
          <a:cs typeface="+mn-cs"/>
        </a:defRPr>
      </a:lvl5pPr>
      <a:lvl6pPr marL="5345811" algn="l" defTabSz="2138324" rtl="0" eaLnBrk="1" latinLnBrk="1" hangingPunct="1">
        <a:defRPr sz="4209" kern="1200">
          <a:solidFill>
            <a:schemeClr val="tx1"/>
          </a:solidFill>
          <a:latin typeface="+mn-lt"/>
          <a:ea typeface="+mn-ea"/>
          <a:cs typeface="+mn-cs"/>
        </a:defRPr>
      </a:lvl6pPr>
      <a:lvl7pPr marL="6414973" algn="l" defTabSz="2138324" rtl="0" eaLnBrk="1" latinLnBrk="1" hangingPunct="1">
        <a:defRPr sz="4209" kern="1200">
          <a:solidFill>
            <a:schemeClr val="tx1"/>
          </a:solidFill>
          <a:latin typeface="+mn-lt"/>
          <a:ea typeface="+mn-ea"/>
          <a:cs typeface="+mn-cs"/>
        </a:defRPr>
      </a:lvl7pPr>
      <a:lvl8pPr marL="7484135" algn="l" defTabSz="2138324" rtl="0" eaLnBrk="1" latinLnBrk="1" hangingPunct="1">
        <a:defRPr sz="4209" kern="1200">
          <a:solidFill>
            <a:schemeClr val="tx1"/>
          </a:solidFill>
          <a:latin typeface="+mn-lt"/>
          <a:ea typeface="+mn-ea"/>
          <a:cs typeface="+mn-cs"/>
        </a:defRPr>
      </a:lvl8pPr>
      <a:lvl9pPr marL="8553298" algn="l" defTabSz="2138324" rtl="0" eaLnBrk="1" latinLnBrk="1"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jp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BC822152-7186-4EF1-958E-45C336946CF0}"/>
              </a:ext>
            </a:extLst>
          </p:cNvPr>
          <p:cNvSpPr/>
          <p:nvPr/>
        </p:nvSpPr>
        <p:spPr>
          <a:xfrm flipV="1">
            <a:off x="1863" y="2861837"/>
            <a:ext cx="21398400" cy="9482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565"/>
          </a:p>
        </p:txBody>
      </p:sp>
      <p:sp>
        <p:nvSpPr>
          <p:cNvPr id="13" name="직사각형 65">
            <a:extLst>
              <a:ext uri="{FF2B5EF4-FFF2-40B4-BE49-F238E27FC236}">
                <a16:creationId xmlns:a16="http://schemas.microsoft.com/office/drawing/2014/main" id="{41FECDE7-7D6E-46FD-8238-A77C308DB938}"/>
              </a:ext>
            </a:extLst>
          </p:cNvPr>
          <p:cNvSpPr>
            <a:spLocks noChangeArrowheads="1"/>
          </p:cNvSpPr>
          <p:nvPr/>
        </p:nvSpPr>
        <p:spPr bwMode="auto">
          <a:xfrm>
            <a:off x="460375" y="219979"/>
            <a:ext cx="20455406" cy="1822622"/>
          </a:xfrm>
          <a:prstGeom prst="rect">
            <a:avLst/>
          </a:prstGeom>
          <a:noFill/>
          <a:ln w="9525">
            <a:noFill/>
            <a:miter lim="800000"/>
            <a:headEnd/>
            <a:tailEnd/>
          </a:ln>
        </p:spPr>
        <p:txBody>
          <a:bodyPr wrap="square" lIns="72000" tIns="0" rIns="72000" bIns="0" anchor="ctr">
            <a:noAutofit/>
          </a:bodyPr>
          <a:lstStyle/>
          <a:p>
            <a:pPr fontAlgn="base"/>
            <a:r>
              <a:rPr lang="en-US" altLang="ko-KR" sz="5000" dirty="0">
                <a:latin typeface="Copperplate Gothic Bold" panose="020E0705020206020404" pitchFamily="34" charset="0"/>
              </a:rPr>
              <a:t>The Effect of Optimization Methods on </a:t>
            </a:r>
          </a:p>
          <a:p>
            <a:pPr fontAlgn="base"/>
            <a:r>
              <a:rPr lang="en-US" altLang="ko-KR" sz="5000" dirty="0">
                <a:latin typeface="Copperplate Gothic Bold" panose="020E0705020206020404" pitchFamily="34" charset="0"/>
              </a:rPr>
              <a:t>OOD Detection Performance Based on </a:t>
            </a:r>
          </a:p>
          <a:p>
            <a:pPr fontAlgn="base"/>
            <a:r>
              <a:rPr lang="en-US" altLang="ko-KR" sz="5000" dirty="0">
                <a:latin typeface="Copperplate Gothic Bold" panose="020E0705020206020404" pitchFamily="34" charset="0"/>
              </a:rPr>
              <a:t>Uncertainty Measures</a:t>
            </a:r>
          </a:p>
        </p:txBody>
      </p:sp>
      <p:sp>
        <p:nvSpPr>
          <p:cNvPr id="14" name="TextBox 66">
            <a:extLst>
              <a:ext uri="{FF2B5EF4-FFF2-40B4-BE49-F238E27FC236}">
                <a16:creationId xmlns:a16="http://schemas.microsoft.com/office/drawing/2014/main" id="{E537FB44-EC49-4099-8E82-58DEB958AB2E}"/>
              </a:ext>
            </a:extLst>
          </p:cNvPr>
          <p:cNvSpPr txBox="1">
            <a:spLocks noChangeArrowheads="1"/>
          </p:cNvSpPr>
          <p:nvPr/>
        </p:nvSpPr>
        <p:spPr bwMode="auto">
          <a:xfrm>
            <a:off x="264289" y="2287425"/>
            <a:ext cx="20871686" cy="514885"/>
          </a:xfrm>
          <a:prstGeom prst="rect">
            <a:avLst/>
          </a:prstGeom>
          <a:noFill/>
          <a:ln w="9525">
            <a:noFill/>
            <a:miter lim="800000"/>
            <a:headEnd/>
            <a:tailEnd/>
          </a:ln>
        </p:spPr>
        <p:txBody>
          <a:bodyPr wrap="square" tIns="0" bIns="0">
            <a:spAutoFit/>
          </a:bodyPr>
          <a:lstStyle/>
          <a:p>
            <a:pPr fontAlgn="base">
              <a:lnSpc>
                <a:spcPct val="130000"/>
              </a:lnSpc>
            </a:pPr>
            <a:r>
              <a:rPr lang="en-US" altLang="ko-KR" sz="2800" kern="0" dirty="0">
                <a:solidFill>
                  <a:srgbClr val="000000"/>
                </a:solidFill>
                <a:ea typeface="HY신명조" panose="02030600000101010101" pitchFamily="18" charset="-127"/>
                <a:cs typeface="Times New Roman" panose="02020603050405020304" pitchFamily="18" charset="0"/>
              </a:rPr>
              <a:t>Gun-Hak Jin</a:t>
            </a:r>
            <a:r>
              <a:rPr lang="en-US" altLang="ko-KR" sz="2800" kern="0" spc="0" baseline="30000" dirty="0">
                <a:solidFill>
                  <a:srgbClr val="000000"/>
                </a:solidFill>
                <a:effectLst/>
                <a:ea typeface="HY신명조" panose="02030600000101010101" pitchFamily="18" charset="-127"/>
                <a:cs typeface="Times New Roman" panose="02020603050405020304" pitchFamily="18" charset="0"/>
              </a:rPr>
              <a:t> </a:t>
            </a:r>
            <a:r>
              <a:rPr lang="ko-KR" altLang="en-US" sz="2800" kern="0" spc="0" dirty="0">
                <a:solidFill>
                  <a:srgbClr val="000000"/>
                </a:solidFill>
                <a:effectLst/>
                <a:ea typeface="HY신명조" panose="02030600000101010101" pitchFamily="18" charset="-127"/>
                <a:cs typeface="Times New Roman" panose="02020603050405020304" pitchFamily="18" charset="0"/>
              </a:rPr>
              <a:t> </a:t>
            </a:r>
            <a:r>
              <a:rPr lang="en-US" altLang="ko-KR" sz="2800" kern="0" spc="0" dirty="0">
                <a:solidFill>
                  <a:srgbClr val="000000"/>
                </a:solidFill>
                <a:effectLst/>
                <a:ea typeface="HY신명조" panose="02030600000101010101" pitchFamily="18" charset="-127"/>
                <a:cs typeface="Times New Roman" panose="02020603050405020304" pitchFamily="18" charset="0"/>
              </a:rPr>
              <a:t>·</a:t>
            </a:r>
            <a:r>
              <a:rPr lang="ko-KR" altLang="en-US" sz="2800" kern="0" spc="0" dirty="0">
                <a:solidFill>
                  <a:srgbClr val="000000"/>
                </a:solidFill>
                <a:effectLst/>
                <a:ea typeface="HY신명조" panose="02030600000101010101" pitchFamily="18" charset="-127"/>
                <a:cs typeface="Times New Roman" panose="02020603050405020304" pitchFamily="18" charset="0"/>
              </a:rPr>
              <a:t> </a:t>
            </a:r>
            <a:r>
              <a:rPr lang="en-US" altLang="ko-KR" sz="2800" kern="0" dirty="0" err="1">
                <a:solidFill>
                  <a:srgbClr val="000000"/>
                </a:solidFill>
                <a:ea typeface="HY신명조" panose="02030600000101010101" pitchFamily="18" charset="-127"/>
                <a:cs typeface="Times New Roman" panose="02020603050405020304" pitchFamily="18" charset="0"/>
              </a:rPr>
              <a:t>Hye</a:t>
            </a:r>
            <a:r>
              <a:rPr lang="en-US" altLang="ko-KR" sz="2800" kern="0" dirty="0">
                <a:solidFill>
                  <a:srgbClr val="000000"/>
                </a:solidFill>
                <a:ea typeface="HY신명조" panose="02030600000101010101" pitchFamily="18" charset="-127"/>
                <a:cs typeface="Times New Roman" panose="02020603050405020304" pitchFamily="18" charset="0"/>
              </a:rPr>
              <a:t>-Young Jung</a:t>
            </a:r>
            <a:r>
              <a:rPr lang="en-US" altLang="ko-KR" sz="2800" kern="0" baseline="30000" dirty="0">
                <a:solidFill>
                  <a:srgbClr val="000000"/>
                </a:solidFill>
                <a:cs typeface="Times New Roman" panose="02020603050405020304" pitchFamily="18" charset="0"/>
              </a:rPr>
              <a:t> </a:t>
            </a:r>
            <a:r>
              <a:rPr lang="en-US" altLang="ko-KR" sz="2800" kern="0" dirty="0">
                <a:solidFill>
                  <a:srgbClr val="000000"/>
                </a:solidFill>
                <a:cs typeface="Times New Roman" panose="02020603050405020304" pitchFamily="18" charset="0"/>
              </a:rPr>
              <a:t>		</a:t>
            </a:r>
            <a:r>
              <a:rPr lang="en-US" altLang="ko-KR" sz="2000" kern="0" spc="0" dirty="0">
                <a:solidFill>
                  <a:srgbClr val="000000"/>
                </a:solidFill>
                <a:effectLst/>
                <a:ea typeface="HY신명조" panose="02030600000101010101" pitchFamily="18" charset="-127"/>
                <a:cs typeface="Times New Roman" panose="02020603050405020304" pitchFamily="18" charset="0"/>
              </a:rPr>
              <a:t>Department of Mathematical Data Science, </a:t>
            </a:r>
            <a:r>
              <a:rPr lang="en-US" altLang="ko-KR" sz="2000" kern="0" spc="0" dirty="0" err="1">
                <a:solidFill>
                  <a:srgbClr val="000000"/>
                </a:solidFill>
                <a:effectLst/>
                <a:ea typeface="HY신명조" panose="02030600000101010101" pitchFamily="18" charset="-127"/>
                <a:cs typeface="Times New Roman" panose="02020603050405020304" pitchFamily="18" charset="0"/>
              </a:rPr>
              <a:t>Hanyang</a:t>
            </a:r>
            <a:r>
              <a:rPr lang="en-US" altLang="ko-KR" sz="2000" kern="0" spc="0" dirty="0">
                <a:solidFill>
                  <a:srgbClr val="000000"/>
                </a:solidFill>
                <a:effectLst/>
                <a:ea typeface="HY신명조" panose="02030600000101010101" pitchFamily="18" charset="-127"/>
                <a:cs typeface="Times New Roman" panose="02020603050405020304" pitchFamily="18" charset="0"/>
              </a:rPr>
              <a:t> University</a:t>
            </a:r>
            <a:endParaRPr lang="en-US" altLang="ko-KR" sz="2000" kern="0" dirty="0">
              <a:solidFill>
                <a:srgbClr val="000000"/>
              </a:solidFill>
              <a:ea typeface="HY신명조" panose="02030600000101010101" pitchFamily="18" charset="-127"/>
              <a:cs typeface="Times New Roman" panose="02020603050405020304" pitchFamily="18" charset="0"/>
            </a:endParaRPr>
          </a:p>
        </p:txBody>
      </p:sp>
      <p:sp>
        <p:nvSpPr>
          <p:cNvPr id="81" name="Rectangle 1386"/>
          <p:cNvSpPr>
            <a:spLocks noChangeArrowheads="1"/>
          </p:cNvSpPr>
          <p:nvPr/>
        </p:nvSpPr>
        <p:spPr bwMode="auto">
          <a:xfrm>
            <a:off x="428695" y="29646446"/>
            <a:ext cx="20524717" cy="57409"/>
          </a:xfrm>
          <a:prstGeom prst="rect">
            <a:avLst/>
          </a:prstGeom>
          <a:solidFill>
            <a:srgbClr val="096EB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defTabSz="4176713" latinLnBrk="1">
              <a:spcBef>
                <a:spcPct val="20000"/>
              </a:spcBef>
              <a:buChar char="•"/>
              <a:defRPr kumimoji="1" sz="14600">
                <a:solidFill>
                  <a:schemeClr val="tx1"/>
                </a:solidFill>
                <a:latin typeface="굴림" panose="020B0600000101010101" pitchFamily="50" charset="-127"/>
                <a:ea typeface="굴림" panose="020B0600000101010101" pitchFamily="50" charset="-127"/>
              </a:defRPr>
            </a:lvl1pPr>
            <a:lvl2pPr marL="3394075" indent="-1306513" defTabSz="4176713" latinLnBrk="1">
              <a:spcBef>
                <a:spcPct val="20000"/>
              </a:spcBef>
              <a:buChar char="–"/>
              <a:defRPr kumimoji="1" sz="12800">
                <a:solidFill>
                  <a:schemeClr val="tx1"/>
                </a:solidFill>
                <a:latin typeface="굴림" panose="020B0600000101010101" pitchFamily="50" charset="-127"/>
                <a:ea typeface="굴림" panose="020B0600000101010101" pitchFamily="50" charset="-127"/>
              </a:defRPr>
            </a:lvl2pPr>
            <a:lvl3pPr marL="5221288" indent="-1044575" defTabSz="4176713" latinLnBrk="1">
              <a:spcBef>
                <a:spcPct val="20000"/>
              </a:spcBef>
              <a:buChar char="•"/>
              <a:defRPr kumimoji="1" sz="11000">
                <a:solidFill>
                  <a:schemeClr val="tx1"/>
                </a:solidFill>
                <a:latin typeface="굴림" panose="020B0600000101010101" pitchFamily="50" charset="-127"/>
                <a:ea typeface="굴림" panose="020B0600000101010101" pitchFamily="50" charset="-127"/>
              </a:defRPr>
            </a:lvl3pPr>
            <a:lvl4pPr marL="7308850" indent="-1044575" defTabSz="4176713" latinLnBrk="1">
              <a:spcBef>
                <a:spcPct val="20000"/>
              </a:spcBef>
              <a:buChar char="–"/>
              <a:defRPr kumimoji="1" sz="9100">
                <a:solidFill>
                  <a:schemeClr val="tx1"/>
                </a:solidFill>
                <a:latin typeface="굴림" panose="020B0600000101010101" pitchFamily="50" charset="-127"/>
                <a:ea typeface="굴림" panose="020B0600000101010101" pitchFamily="50" charset="-127"/>
              </a:defRPr>
            </a:lvl4pPr>
            <a:lvl5pPr marL="9396413" indent="-1042988" defTabSz="4176713" latinLnBrk="1">
              <a:spcBef>
                <a:spcPct val="20000"/>
              </a:spcBef>
              <a:buChar char="»"/>
              <a:defRPr kumimoji="1" sz="9100">
                <a:solidFill>
                  <a:schemeClr val="tx1"/>
                </a:solidFill>
                <a:latin typeface="굴림" panose="020B0600000101010101" pitchFamily="50" charset="-127"/>
                <a:ea typeface="굴림" panose="020B0600000101010101" pitchFamily="50" charset="-127"/>
              </a:defRPr>
            </a:lvl5pPr>
            <a:lvl6pPr marL="9853613" indent="-1042988" defTabSz="4176713"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6pPr>
            <a:lvl7pPr marL="10310813" indent="-1042988" defTabSz="4176713"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7pPr>
            <a:lvl8pPr marL="10768013" indent="-1042988" defTabSz="4176713"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8pPr>
            <a:lvl9pPr marL="11225213" indent="-1042988" defTabSz="4176713"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9pPr>
          </a:lstStyle>
          <a:p>
            <a:pPr algn="ctr" eaLnBrk="1" hangingPunct="1">
              <a:spcBef>
                <a:spcPct val="0"/>
              </a:spcBef>
              <a:buFontTx/>
              <a:buNone/>
            </a:pPr>
            <a:endParaRPr lang="ko-KR" altLang="ko-KR" sz="3600" b="1">
              <a:solidFill>
                <a:schemeClr val="bg1"/>
              </a:solidFill>
              <a:latin typeface="+mn-lt"/>
              <a:ea typeface="돋움" panose="020B0600000101010101" pitchFamily="50" charset="-127"/>
            </a:endParaRPr>
          </a:p>
        </p:txBody>
      </p:sp>
      <p:sp>
        <p:nvSpPr>
          <p:cNvPr id="82" name="직사각형 1"/>
          <p:cNvSpPr>
            <a:spLocks noChangeArrowheads="1"/>
          </p:cNvSpPr>
          <p:nvPr/>
        </p:nvSpPr>
        <p:spPr bwMode="auto">
          <a:xfrm>
            <a:off x="284151" y="29687769"/>
            <a:ext cx="20851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latinLnBrk="1">
              <a:spcBef>
                <a:spcPct val="20000"/>
              </a:spcBef>
              <a:buChar char="•"/>
              <a:defRPr kumimoji="1" sz="146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buChar char="–"/>
              <a:defRPr kumimoji="1" sz="128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buChar char="•"/>
              <a:defRPr kumimoji="1" sz="11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buChar char="–"/>
              <a:defRPr kumimoji="1" sz="9100">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buChar char="»"/>
              <a:defRPr kumimoji="1" sz="91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buChar char="»"/>
              <a:defRPr kumimoji="1" sz="9100">
                <a:solidFill>
                  <a:schemeClr val="tx1"/>
                </a:solidFill>
                <a:latin typeface="굴림" panose="020B0600000101010101" pitchFamily="50" charset="-127"/>
                <a:ea typeface="굴림" panose="020B0600000101010101" pitchFamily="50" charset="-127"/>
              </a:defRPr>
            </a:lvl9pPr>
          </a:lstStyle>
          <a:p>
            <a:pPr>
              <a:spcBef>
                <a:spcPct val="0"/>
              </a:spcBef>
              <a:buNone/>
            </a:pPr>
            <a:r>
              <a:rPr lang="en-US" altLang="ko-KR" sz="1400" dirty="0">
                <a:latin typeface="+mn-lt"/>
                <a:ea typeface="+mj-ea"/>
              </a:rPr>
              <a:t>This work was supported by the National Research Foundation of Korea (NRF) through the Basic Science Research Program (NRF-2022R1F1A1074939, RS-2024-00392942).</a:t>
            </a:r>
            <a:endParaRPr lang="ko-KR" altLang="en-US" sz="1400" dirty="0">
              <a:latin typeface="+mn-lt"/>
              <a:ea typeface="+mj-ea"/>
            </a:endParaRPr>
          </a:p>
        </p:txBody>
      </p:sp>
      <p:sp>
        <p:nvSpPr>
          <p:cNvPr id="19" name="AutoShape 6" descr="Samples from Ambiguous-MNIST. | Download Scientific Diagram"/>
          <p:cNvSpPr>
            <a:spLocks noChangeAspect="1" noChangeArrowheads="1"/>
          </p:cNvSpPr>
          <p:nvPr/>
        </p:nvSpPr>
        <p:spPr bwMode="auto">
          <a:xfrm>
            <a:off x="155575" y="106577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grpSp>
        <p:nvGrpSpPr>
          <p:cNvPr id="10" name="그룹 9"/>
          <p:cNvGrpSpPr/>
          <p:nvPr/>
        </p:nvGrpSpPr>
        <p:grpSpPr>
          <a:xfrm>
            <a:off x="17424498" y="464803"/>
            <a:ext cx="3302394" cy="1332974"/>
            <a:chOff x="5183928" y="10007079"/>
            <a:chExt cx="3302394" cy="1332974"/>
          </a:xfrm>
        </p:grpSpPr>
        <p:pic>
          <p:nvPicPr>
            <p:cNvPr id="8" name="Picture 4592" descr="https://www.hanyang.ac.kr/documents/20182/73809/HYU_logo_singlecolor_png.png/b8aabfbe-a488-437d-b4a5-bd616d1577da?t=1474070795276">
              <a:extLst>
                <a:ext uri="{FF2B5EF4-FFF2-40B4-BE49-F238E27FC236}">
                  <a16:creationId xmlns:a16="http://schemas.microsoft.com/office/drawing/2014/main" id="{C7F1F3E4-3026-4464-8C3A-0C71E55492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3928" y="10007079"/>
              <a:ext cx="1332974" cy="13329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한국통계학회"/>
            <p:cNvPicPr>
              <a:picLocks noChangeAspect="1" noChangeArrowheads="1"/>
            </p:cNvPicPr>
            <p:nvPr/>
          </p:nvPicPr>
          <p:blipFill rotWithShape="1">
            <a:blip r:embed="rId4">
              <a:extLst>
                <a:ext uri="{28A0092B-C50C-407E-A947-70E740481C1C}">
                  <a14:useLocalDpi xmlns:a14="http://schemas.microsoft.com/office/drawing/2010/main" val="0"/>
                </a:ext>
              </a:extLst>
            </a:blip>
            <a:srcRect r="75585"/>
            <a:stretch/>
          </p:blipFill>
          <p:spPr bwMode="auto">
            <a:xfrm>
              <a:off x="7024507" y="10073864"/>
              <a:ext cx="1461815" cy="1199405"/>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BBE7FD4-56CF-4119-96CD-7916DB8C61A3}"/>
                  </a:ext>
                </a:extLst>
              </p:cNvPr>
              <p:cNvSpPr txBox="1"/>
              <p:nvPr/>
            </p:nvSpPr>
            <p:spPr>
              <a:xfrm>
                <a:off x="270069" y="6168164"/>
                <a:ext cx="9623319" cy="2092881"/>
              </a:xfrm>
              <a:prstGeom prst="rect">
                <a:avLst/>
              </a:prstGeom>
              <a:noFill/>
              <a:ln>
                <a:noFill/>
              </a:ln>
            </p:spPr>
            <p:txBody>
              <a:bodyPr wrap="square" rtlCol="0">
                <a:spAutoFit/>
              </a:bodyPr>
              <a:lstStyle/>
              <a:p>
                <a:pPr algn="just"/>
                <a:r>
                  <a:rPr lang="en-US" altLang="ko-KR" sz="2000" b="1" dirty="0">
                    <a:solidFill>
                      <a:srgbClr val="0070C0"/>
                    </a:solidFill>
                  </a:rPr>
                  <a:t>Stochastic Gradient Descent(SGD)</a:t>
                </a:r>
                <a:endParaRPr lang="en-US" altLang="ko-KR" dirty="0"/>
              </a:p>
              <a:p>
                <a:pPr marL="285750" indent="-285750" algn="just">
                  <a:buFont typeface="Arial" panose="020B0604020202020204" pitchFamily="34" charset="0"/>
                  <a:buChar char="•"/>
                </a:pPr>
                <a:r>
                  <a:rPr lang="en-US" altLang="ko-KR" dirty="0"/>
                  <a:t>SGD updates model parameters by following the gradient of the loss, and its tendency to converge to sharp minima may induce over-confidence on OOD inputs. </a:t>
                </a:r>
              </a:p>
              <a:p>
                <a:pPr marL="285750" indent="-285750" algn="just">
                  <a:buFont typeface="Arial" panose="020B0604020202020204" pitchFamily="34" charset="0"/>
                  <a:buChar char="•"/>
                </a:pPr>
                <a:endParaRPr lang="en-US" altLang="ko-KR" sz="1800" i="1" kern="100" dirty="0">
                  <a:effectLst/>
                  <a:latin typeface="Cambria Math" panose="02040503050406030204" pitchFamily="18" charset="0"/>
                  <a:ea typeface="Cambria Math" panose="020405030504060302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ko-KR" altLang="ko-KR"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𝑡</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1</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𝑡</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𝜂</m:t>
                      </m:r>
                      <m:sSub>
                        <m:sSub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𝐿</m:t>
                      </m:r>
                      <m:d>
                        <m:d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e>
                      </m:d>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oMath>
                  </m:oMathPara>
                </a14:m>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285750" indent="-285750" algn="just">
                  <a:buFont typeface="Arial" panose="020B0604020202020204" pitchFamily="34" charset="0"/>
                  <a:buChar char="•"/>
                </a:pPr>
                <a:endParaRPr lang="en-US" altLang="ko-KR" dirty="0"/>
              </a:p>
              <a:p>
                <a:pPr algn="just"/>
                <a:endParaRPr lang="en-US" altLang="ko-KR" sz="200" dirty="0"/>
              </a:p>
              <a:p>
                <a:pPr algn="ctr"/>
                <a:r>
                  <a:rPr lang="en-US" altLang="ko-KR" dirty="0"/>
                  <a:t> </a:t>
                </a:r>
              </a:p>
            </p:txBody>
          </p:sp>
        </mc:Choice>
        <mc:Fallback xmlns="">
          <p:sp>
            <p:nvSpPr>
              <p:cNvPr id="29" name="TextBox 28">
                <a:extLst>
                  <a:ext uri="{FF2B5EF4-FFF2-40B4-BE49-F238E27FC236}">
                    <a16:creationId xmlns:a16="http://schemas.microsoft.com/office/drawing/2014/main" id="{5BBE7FD4-56CF-4119-96CD-7916DB8C61A3}"/>
                  </a:ext>
                </a:extLst>
              </p:cNvPr>
              <p:cNvSpPr txBox="1">
                <a:spLocks noRot="1" noChangeAspect="1" noMove="1" noResize="1" noEditPoints="1" noAdjustHandles="1" noChangeArrowheads="1" noChangeShapeType="1" noTextEdit="1"/>
              </p:cNvSpPr>
              <p:nvPr/>
            </p:nvSpPr>
            <p:spPr>
              <a:xfrm>
                <a:off x="270069" y="6168164"/>
                <a:ext cx="9623319" cy="2092881"/>
              </a:xfrm>
              <a:prstGeom prst="rect">
                <a:avLst/>
              </a:prstGeom>
              <a:blipFill>
                <a:blip r:embed="rId5"/>
                <a:stretch>
                  <a:fillRect l="-633" t="-1749" r="-50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39" name="TextBox 638">
                <a:extLst>
                  <a:ext uri="{FF2B5EF4-FFF2-40B4-BE49-F238E27FC236}">
                    <a16:creationId xmlns:a16="http://schemas.microsoft.com/office/drawing/2014/main" id="{5BBE7FD4-56CF-4119-96CD-7916DB8C61A3}"/>
                  </a:ext>
                </a:extLst>
              </p:cNvPr>
              <p:cNvSpPr txBox="1"/>
              <p:nvPr/>
            </p:nvSpPr>
            <p:spPr>
              <a:xfrm>
                <a:off x="250076" y="7702996"/>
                <a:ext cx="10343786" cy="1840760"/>
              </a:xfrm>
              <a:prstGeom prst="rect">
                <a:avLst/>
              </a:prstGeom>
              <a:noFill/>
              <a:ln>
                <a:noFill/>
              </a:ln>
            </p:spPr>
            <p:txBody>
              <a:bodyPr wrap="square" rtlCol="0">
                <a:spAutoFit/>
              </a:bodyPr>
              <a:lstStyle/>
              <a:p>
                <a:pPr algn="l"/>
                <a:r>
                  <a:rPr lang="en-US" altLang="ko-KR" sz="2000" b="1" dirty="0">
                    <a:solidFill>
                      <a:srgbClr val="0070C0"/>
                    </a:solidFill>
                  </a:rPr>
                  <a:t>Sharpness-Aware Minimization(SAM, Pierre </a:t>
                </a:r>
                <a:r>
                  <a:rPr lang="en-US" altLang="ko-KR" sz="2000" b="1" dirty="0" err="1">
                    <a:solidFill>
                      <a:srgbClr val="0070C0"/>
                    </a:solidFill>
                  </a:rPr>
                  <a:t>Foret</a:t>
                </a:r>
                <a:r>
                  <a:rPr lang="en-US" altLang="ko-KR" sz="2000" b="1" dirty="0">
                    <a:solidFill>
                      <a:srgbClr val="0070C0"/>
                    </a:solidFill>
                  </a:rPr>
                  <a:t> et al., 2021)</a:t>
                </a:r>
              </a:p>
              <a:p>
                <a:pPr marL="285750" indent="-285750" algn="just">
                  <a:buFont typeface="Arial" panose="020B0604020202020204" pitchFamily="34" charset="0"/>
                  <a:buChar char="•"/>
                </a:pPr>
                <a:r>
                  <a:rPr lang="en-US" altLang="ko-KR" i="1" dirty="0"/>
                  <a:t>SAM</a:t>
                </a:r>
                <a:r>
                  <a:rPr lang="en-US" altLang="ko-KR" dirty="0"/>
                  <a:t> improves generalization by seeking flat minima in the loss landscape.</a:t>
                </a:r>
              </a:p>
              <a:p>
                <a:pPr marL="285750" indent="-285750" algn="just">
                  <a:buFont typeface="Arial" panose="020B0604020202020204" pitchFamily="34" charset="0"/>
                  <a:buChar char="•"/>
                </a:pPr>
                <a:r>
                  <a:rPr lang="en-US" altLang="ko-KR" i="1" dirty="0"/>
                  <a:t>SAM</a:t>
                </a:r>
                <a:r>
                  <a:rPr lang="en-US" altLang="ko-KR" dirty="0"/>
                  <a:t> utilize the perturbation to model’s parameter toward the direction of steepest loss increase around </a:t>
                </a:r>
                <a14:m>
                  <m:oMath xmlns:m="http://schemas.openxmlformats.org/officeDocument/2006/math">
                    <m:r>
                      <a:rPr lang="en-US" altLang="ko-KR" b="0" i="1" smtClean="0">
                        <a:latin typeface="Cambria Math" panose="02040503050406030204" pitchFamily="18" charset="0"/>
                      </a:rPr>
                      <m:t>𝜌</m:t>
                    </m:r>
                  </m:oMath>
                </a14:m>
                <a:endParaRPr lang="en-US" altLang="ko-KR" b="0" dirty="0"/>
              </a:p>
              <a:p>
                <a:pPr marL="285750" indent="-285750" algn="just">
                  <a:buFont typeface="Arial" panose="020B0604020202020204" pitchFamily="34" charset="0"/>
                  <a:buChar char="•"/>
                </a:pPr>
                <a:endParaRPr lang="en-US" altLang="ko-KR" dirty="0"/>
              </a:p>
              <a:p>
                <a:pPr algn="just"/>
                <a14:m>
                  <m:oMathPara xmlns:m="http://schemas.openxmlformats.org/officeDocument/2006/math">
                    <m:oMathParaPr>
                      <m:jc m:val="centerGroup"/>
                    </m:oMathParaPr>
                    <m:oMath xmlns:m="http://schemas.openxmlformats.org/officeDocument/2006/math">
                      <m:sSub>
                        <m:sSubPr>
                          <m:ctrlPr>
                            <a:rPr lang="ko-KR" altLang="ko-KR"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𝑡</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1</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𝑡</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func>
                        <m:func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𝜂</m:t>
                              </m:r>
                              <m:sSub>
                                <m:sSub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e>
                                <m: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sub>
                              </m:sSub>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𝑚𝑎𝑥</m:t>
                              </m:r>
                            </m:e>
                            <m:sub>
                              <m:r>
                                <m:rPr>
                                  <m:lit/>
                                </m:rP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𝜖</m:t>
                              </m:r>
                              <m:r>
                                <m:rPr>
                                  <m:lit/>
                                </m:rP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ko-KR" altLang="ko-KR" sz="1800" b="0"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𝜌</m:t>
                              </m:r>
                            </m:sub>
                          </m:sSub>
                        </m:fName>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𝐿</m:t>
                          </m:r>
                        </m:e>
                      </m:func>
                      <m:d>
                        <m:dPr>
                          <m:ctrlPr>
                            <a:rPr lang="ko-KR" altLang="ko-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𝜃</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𝜖</m:t>
                          </m:r>
                        </m:e>
                      </m:d>
                      <m:r>
                        <a:rPr lang="en-US" altLang="ko-KR" sz="1800" b="0" i="1" kern="100">
                          <a:effectLst/>
                          <a:latin typeface="Cambria Math" panose="02040503050406030204" pitchFamily="18" charset="0"/>
                          <a:ea typeface="맑은 고딕" panose="020B0503020000020004" pitchFamily="50" charset="-127"/>
                          <a:cs typeface="Times New Roman" panose="02020603050405020304" pitchFamily="18" charset="0"/>
                        </a:rPr>
                        <m:t>​</m:t>
                      </m:r>
                    </m:oMath>
                  </m:oMathPara>
                </a14:m>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285750" indent="-285750" algn="just">
                  <a:buFont typeface="Arial" panose="020B0604020202020204" pitchFamily="34" charset="0"/>
                  <a:buChar char="•"/>
                </a:pPr>
                <a:endParaRPr lang="en-US" altLang="ko-KR" dirty="0"/>
              </a:p>
              <a:p>
                <a:pPr algn="just"/>
                <a:endParaRPr lang="en-US" altLang="ko-KR" sz="200" b="0" i="1" dirty="0">
                  <a:latin typeface="Cambria Math" panose="02040503050406030204" pitchFamily="18" charset="0"/>
                </a:endParaRPr>
              </a:p>
            </p:txBody>
          </p:sp>
        </mc:Choice>
        <mc:Fallback xmlns="">
          <p:sp>
            <p:nvSpPr>
              <p:cNvPr id="639" name="TextBox 638">
                <a:extLst>
                  <a:ext uri="{FF2B5EF4-FFF2-40B4-BE49-F238E27FC236}">
                    <a16:creationId xmlns:a16="http://schemas.microsoft.com/office/drawing/2014/main" id="{5BBE7FD4-56CF-4119-96CD-7916DB8C61A3}"/>
                  </a:ext>
                </a:extLst>
              </p:cNvPr>
              <p:cNvSpPr txBox="1">
                <a:spLocks noRot="1" noChangeAspect="1" noMove="1" noResize="1" noEditPoints="1" noAdjustHandles="1" noChangeArrowheads="1" noChangeShapeType="1" noTextEdit="1"/>
              </p:cNvSpPr>
              <p:nvPr/>
            </p:nvSpPr>
            <p:spPr>
              <a:xfrm>
                <a:off x="250076" y="7702996"/>
                <a:ext cx="10343786" cy="1840760"/>
              </a:xfrm>
              <a:prstGeom prst="rect">
                <a:avLst/>
              </a:prstGeom>
              <a:blipFill>
                <a:blip r:embed="rId6"/>
                <a:stretch>
                  <a:fillRect l="-589" t="-198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31" name="TextBox 230">
                <a:extLst>
                  <a:ext uri="{FF2B5EF4-FFF2-40B4-BE49-F238E27FC236}">
                    <a16:creationId xmlns:a16="http://schemas.microsoft.com/office/drawing/2014/main" id="{5BBE7FD4-56CF-4119-96CD-7916DB8C61A3}"/>
                  </a:ext>
                </a:extLst>
              </p:cNvPr>
              <p:cNvSpPr txBox="1"/>
              <p:nvPr/>
            </p:nvSpPr>
            <p:spPr>
              <a:xfrm>
                <a:off x="248312" y="13166361"/>
                <a:ext cx="10435232" cy="2501519"/>
              </a:xfrm>
              <a:prstGeom prst="rect">
                <a:avLst/>
              </a:prstGeom>
              <a:noFill/>
              <a:ln>
                <a:noFill/>
              </a:ln>
            </p:spPr>
            <p:txBody>
              <a:bodyPr wrap="square" rtlCol="0">
                <a:spAutoFit/>
              </a:bodyPr>
              <a:lstStyle/>
              <a:p>
                <a:pPr algn="l"/>
                <a:r>
                  <a:rPr lang="en-US" altLang="ko-KR" sz="2000" b="1" dirty="0">
                    <a:solidFill>
                      <a:srgbClr val="0070C0"/>
                    </a:solidFill>
                  </a:rPr>
                  <a:t>k-nearest neighbors(</a:t>
                </a:r>
                <a:r>
                  <a:rPr lang="en-US" altLang="ko-KR" sz="2000" b="1" dirty="0" err="1">
                    <a:solidFill>
                      <a:srgbClr val="0070C0"/>
                    </a:solidFill>
                  </a:rPr>
                  <a:t>kNN</a:t>
                </a:r>
                <a:r>
                  <a:rPr lang="en-US" altLang="ko-KR" sz="2000" b="1" dirty="0">
                    <a:solidFill>
                      <a:srgbClr val="0070C0"/>
                    </a:solidFill>
                  </a:rPr>
                  <a:t>)</a:t>
                </a:r>
              </a:p>
              <a:p>
                <a:pPr marL="285750" indent="-285750">
                  <a:buFont typeface="Arial" panose="020B0604020202020204" pitchFamily="34" charset="0"/>
                  <a:buChar char="•"/>
                </a:pPr>
                <a:r>
                  <a:rPr lang="en-US" altLang="ko-KR" dirty="0"/>
                  <a:t>After applying L2 normalization to the last-layer features, we compute the Euclidean distance between a test feature and all training features and use the distance to its k-</a:t>
                </a:r>
                <a:r>
                  <a:rPr lang="en-US" altLang="ko-KR" dirty="0" err="1"/>
                  <a:t>th</a:t>
                </a:r>
                <a:r>
                  <a:rPr lang="en-US" altLang="ko-KR" dirty="0"/>
                  <a:t> nearest neighbor as the OOD score.</a:t>
                </a:r>
              </a:p>
              <a:p>
                <a:pPr marL="285750" indent="-285750">
                  <a:buFont typeface="Arial" panose="020B0604020202020204" pitchFamily="34" charset="0"/>
                  <a:buChar char="•"/>
                </a:pPr>
                <a:r>
                  <a:rPr lang="en-US" altLang="ko-KR" dirty="0"/>
                  <a:t>Because it does not estimate a mean or covariance matrix and relies solely on distances, this method corresponds to a non-parametric local density estimation.</a:t>
                </a:r>
              </a:p>
              <a:p>
                <a:pPr algn="l"/>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algn="ctr"/>
                <a14:m>
                  <m:oMath xmlns:m="http://schemas.openxmlformats.org/officeDocument/2006/math">
                    <m:sSubSup>
                      <m:sSubSupPr>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𝑑</m:t>
                        </m:r>
                      </m:e>
                      <m:sub>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𝑖</m:t>
                        </m:r>
                      </m:sub>
                      <m:sup>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up>
                    </m:sSubSup>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SubSup>
                      <m:sSubSupPr>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d>
                          <m:dPr>
                            <m:begChr m:val="|"/>
                            <m:endChr m:val="|"/>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pPr>
                              <m:e>
                                <m:acc>
                                  <m:accPr>
                                    <m:chr m:val="̃"/>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accPr>
                                  <m:e>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𝑧</m:t>
                                    </m:r>
                                  </m:e>
                                </m:acc>
                              </m:e>
                              <m:sup>
                                <m:d>
                                  <m:dPr>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e>
                                </m:d>
                              </m:sup>
                            </m:sSup>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Sub>
                              <m:sSubPr>
                                <m:ctrlPr>
                                  <a:rPr lang="en-US" altLang="ko-KR"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Pr>
                              <m:e>
                                <m:acc>
                                  <m:accPr>
                                    <m:chr m:val="̃"/>
                                    <m:ctrlPr>
                                      <a:rPr lang="en-US" altLang="ko-KR" i="1">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accPr>
                                  <m:e>
                                    <m:r>
                                      <a:rPr lang="en-US" altLang="ko-KR" b="0" i="1">
                                        <a:solidFill>
                                          <a:schemeClr val="tx1"/>
                                        </a:solidFill>
                                        <a:latin typeface="Cambria Math" panose="02040503050406030204" pitchFamily="18" charset="0"/>
                                        <a:ea typeface="Cambria Math" panose="02040503050406030204" pitchFamily="18" charset="0"/>
                                        <a:cs typeface="Pretendard" panose="02000503000000020004" pitchFamily="2" charset="-127"/>
                                      </a:rPr>
                                      <m:t>𝑧</m:t>
                                    </m:r>
                                  </m:e>
                                </m:acc>
                              </m:e>
                              <m:sub>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𝑖</m:t>
                                </m:r>
                              </m:sub>
                            </m:sSub>
                          </m:e>
                        </m:d>
                      </m:e>
                      <m:sub>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2</m:t>
                        </m:r>
                      </m:sub>
                      <m:sup>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2</m:t>
                        </m:r>
                      </m:sup>
                    </m:sSubSup>
                    <m:r>
                      <a:rPr lang="en-US" altLang="ko-KR" b="0" i="1"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oMath>
                </a14:m>
                <a:r>
                  <a:rPr lang="en-US" altLang="ko-KR"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a:t>   </a:t>
                </a:r>
                <a14:m>
                  <m:oMath xmlns:m="http://schemas.openxmlformats.org/officeDocument/2006/math">
                    <m:sSubSup>
                      <m:sSubSup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𝑑</m:t>
                        </m:r>
                      </m:e>
                      <m:sub>
                        <m:d>
                          <m:d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1</m:t>
                            </m:r>
                          </m:e>
                        </m:d>
                      </m:sub>
                      <m:sup>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up>
                    </m:sSubSup>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SubSup>
                      <m:sSubSup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𝑑</m:t>
                        </m:r>
                      </m:e>
                      <m:sub>
                        <m:d>
                          <m:d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2</m:t>
                            </m:r>
                          </m:e>
                        </m:d>
                      </m:sub>
                      <m:sup>
                        <m:d>
                          <m:d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e>
                        </m:d>
                      </m:sup>
                    </m:sSubSup>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SubSup>
                      <m:sSubSup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𝑑</m:t>
                        </m:r>
                      </m:e>
                      <m:sub>
                        <m:d>
                          <m:d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𝑘</m:t>
                            </m:r>
                          </m:e>
                        </m:d>
                      </m:sub>
                      <m:sup>
                        <m:d>
                          <m:dPr>
                            <m:ctrlPr>
                              <a:rPr lang="en-US" altLang="ko-KR"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e>
                        </m:d>
                      </m:sup>
                    </m:sSubSup>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oMath>
                </a14:m>
                <a:r>
                  <a:rPr lang="en-US" altLang="ko-KR" dirty="0">
                    <a:solidFill>
                      <a:schemeClr val="tx1"/>
                    </a:solidFill>
                    <a:latin typeface="Cambria Math" panose="02040503050406030204" pitchFamily="18" charset="0"/>
                    <a:ea typeface="Cambria Math" panose="02040503050406030204" pitchFamily="18" charset="0"/>
                    <a:cs typeface="Pretendard" panose="02000503000000020004" pitchFamily="2" charset="-127"/>
                  </a:rPr>
                  <a:t>   </a:t>
                </a:r>
                <a14:m>
                  <m:oMath xmlns:m="http://schemas.openxmlformats.org/officeDocument/2006/math">
                    <m:sSub>
                      <m:sSub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𝑆</m:t>
                        </m:r>
                      </m:e>
                      <m:sub>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𝑘𝑁𝑁</m:t>
                        </m:r>
                      </m:sub>
                    </m:sSub>
                    <m:d>
                      <m:d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p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𝑥</m:t>
                            </m:r>
                          </m:e>
                          <m:sup>
                            <m:d>
                              <m:d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e>
                            </m:d>
                          </m:sup>
                        </m:sSup>
                      </m:e>
                    </m:d>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m:t>
                    </m:r>
                    <m:sSubSup>
                      <m:sSubSup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𝑑</m:t>
                        </m:r>
                      </m:e>
                      <m:sub>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𝐾</m:t>
                        </m:r>
                      </m:sub>
                      <m:sup>
                        <m:d>
                          <m:dPr>
                            <m:ctrlPr>
                              <a:rPr lang="en-US" altLang="ko-KR"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solidFill>
                                  <a:schemeClr val="tx1"/>
                                </a:solidFill>
                                <a:latin typeface="Cambria Math" panose="02040503050406030204" pitchFamily="18" charset="0"/>
                                <a:ea typeface="Cambria Math" panose="02040503050406030204" pitchFamily="18" charset="0"/>
                                <a:cs typeface="Pretendard" panose="02000503000000020004" pitchFamily="2" charset="-127"/>
                              </a:rPr>
                              <m:t>𝑗</m:t>
                            </m:r>
                          </m:e>
                        </m:d>
                      </m:sup>
                    </m:sSubSup>
                  </m:oMath>
                </a14:m>
                <a:endParaRPr lang="en-US" altLang="ko-KR" dirty="0">
                  <a:solidFill>
                    <a:schemeClr val="tx1"/>
                  </a:solidFill>
                  <a:latin typeface="Cambria Math" panose="02040503050406030204" pitchFamily="18" charset="0"/>
                  <a:ea typeface="Cambria Math" panose="02040503050406030204" pitchFamily="18" charset="0"/>
                  <a:cs typeface="Pretendard" panose="02000503000000020004" pitchFamily="2" charset="-127"/>
                </a:endParaRPr>
              </a:p>
              <a:p>
                <a:endParaRPr lang="en-US" altLang="ko-KR" sz="2000" b="1" dirty="0">
                  <a:solidFill>
                    <a:srgbClr val="0070C0"/>
                  </a:solidFill>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231" name="TextBox 230">
                <a:extLst>
                  <a:ext uri="{FF2B5EF4-FFF2-40B4-BE49-F238E27FC236}">
                    <a16:creationId xmlns:a16="http://schemas.microsoft.com/office/drawing/2014/main" id="{5BBE7FD4-56CF-4119-96CD-7916DB8C61A3}"/>
                  </a:ext>
                </a:extLst>
              </p:cNvPr>
              <p:cNvSpPr txBox="1">
                <a:spLocks noRot="1" noChangeAspect="1" noMove="1" noResize="1" noEditPoints="1" noAdjustHandles="1" noChangeArrowheads="1" noChangeShapeType="1" noTextEdit="1"/>
              </p:cNvSpPr>
              <p:nvPr/>
            </p:nvSpPr>
            <p:spPr>
              <a:xfrm>
                <a:off x="248312" y="13166361"/>
                <a:ext cx="10435232" cy="2501519"/>
              </a:xfrm>
              <a:prstGeom prst="rect">
                <a:avLst/>
              </a:prstGeom>
              <a:blipFill>
                <a:blip r:embed="rId7"/>
                <a:stretch>
                  <a:fillRect l="-643" t="-1463"/>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7" name="TextBox 526">
                <a:extLst>
                  <a:ext uri="{FF2B5EF4-FFF2-40B4-BE49-F238E27FC236}">
                    <a16:creationId xmlns:a16="http://schemas.microsoft.com/office/drawing/2014/main" id="{5BBE7FD4-56CF-4119-96CD-7916DB8C61A3}"/>
                  </a:ext>
                </a:extLst>
              </p:cNvPr>
              <p:cNvSpPr txBox="1"/>
              <p:nvPr/>
            </p:nvSpPr>
            <p:spPr>
              <a:xfrm>
                <a:off x="10811880" y="6132314"/>
                <a:ext cx="6095123" cy="2339102"/>
              </a:xfrm>
              <a:prstGeom prst="rect">
                <a:avLst/>
              </a:prstGeom>
              <a:noFill/>
              <a:ln>
                <a:noFill/>
              </a:ln>
            </p:spPr>
            <p:txBody>
              <a:bodyPr wrap="square" rtlCol="0">
                <a:spAutoFit/>
              </a:bodyPr>
              <a:lstStyle/>
              <a:p>
                <a:pPr algn="just"/>
                <a:r>
                  <a:rPr lang="en-US" altLang="ko-KR" sz="2000" b="1" dirty="0">
                    <a:solidFill>
                      <a:srgbClr val="0070C0"/>
                    </a:solidFill>
                  </a:rPr>
                  <a:t>Training Configuration</a:t>
                </a:r>
                <a:endParaRPr lang="en-US" altLang="ko-KR" b="1" dirty="0">
                  <a:solidFill>
                    <a:srgbClr val="0070C0"/>
                  </a:solidFill>
                </a:endParaRPr>
              </a:p>
              <a:p>
                <a:pPr marL="285750" indent="-285750" algn="just">
                  <a:buFont typeface="Arial" panose="020B0604020202020204" pitchFamily="34" charset="0"/>
                  <a:buChar char="•"/>
                </a:pPr>
                <a:r>
                  <a:rPr lang="en-US" altLang="ko-KR" b="1" dirty="0"/>
                  <a:t>Wide-ResNet-28-10</a:t>
                </a:r>
              </a:p>
              <a:p>
                <a:pPr marL="285750" indent="-285750" algn="just">
                  <a:buFont typeface="Arial" panose="020B0604020202020204" pitchFamily="34" charset="0"/>
                  <a:buChar char="•"/>
                </a:pPr>
                <a:r>
                  <a:rPr lang="en-US" altLang="ko-KR" b="1" dirty="0"/>
                  <a:t>Dataset</a:t>
                </a:r>
                <a:r>
                  <a:rPr lang="en-US" altLang="ko-KR" dirty="0"/>
                  <a:t> : CIFAR-100, </a:t>
                </a:r>
                <a:r>
                  <a:rPr lang="en-US" altLang="ko-KR" b="1" dirty="0"/>
                  <a:t>Loss</a:t>
                </a:r>
                <a:r>
                  <a:rPr lang="en-US" altLang="ko-KR" dirty="0"/>
                  <a:t> : Cross-entropy</a:t>
                </a:r>
              </a:p>
              <a:p>
                <a:pPr marL="285750" indent="-285750" algn="just">
                  <a:buFont typeface="Arial" panose="020B0604020202020204" pitchFamily="34" charset="0"/>
                  <a:buChar char="•"/>
                </a:pPr>
                <a:r>
                  <a:rPr lang="en-US" altLang="ko-KR" b="1" dirty="0"/>
                  <a:t>Base optimizer</a:t>
                </a:r>
                <a:r>
                  <a:rPr lang="en-US" altLang="ko-KR" dirty="0"/>
                  <a:t> : SGD, </a:t>
                </a:r>
                <a:r>
                  <a:rPr lang="en-US" altLang="ko-KR" b="1" dirty="0"/>
                  <a:t>Learning rate</a:t>
                </a:r>
                <a:r>
                  <a:rPr lang="en-US" altLang="ko-KR" dirty="0"/>
                  <a:t> : 0.1</a:t>
                </a:r>
              </a:p>
              <a:p>
                <a:pPr marL="285750" indent="-285750" algn="just">
                  <a:buFont typeface="Arial" panose="020B0604020202020204" pitchFamily="34" charset="0"/>
                  <a:buChar char="•"/>
                </a:pPr>
                <a:r>
                  <a:rPr lang="en-US" altLang="ko-KR" b="1" dirty="0"/>
                  <a:t>Epoch</a:t>
                </a:r>
                <a:r>
                  <a:rPr lang="en-US" altLang="ko-KR" dirty="0"/>
                  <a:t> : 350, </a:t>
                </a:r>
                <a:r>
                  <a:rPr lang="en-US" altLang="ko-KR" b="1" dirty="0"/>
                  <a:t>Batch size</a:t>
                </a:r>
                <a:r>
                  <a:rPr lang="en-US" altLang="ko-KR" dirty="0"/>
                  <a:t> : 128</a:t>
                </a:r>
              </a:p>
              <a:p>
                <a:pPr marL="285750" indent="-285750" algn="just">
                  <a:buFont typeface="Arial" panose="020B0604020202020204" pitchFamily="34" charset="0"/>
                  <a:buChar char="•"/>
                </a:pPr>
                <a:r>
                  <a:rPr lang="en-US" altLang="ko-KR" b="1" dirty="0" err="1"/>
                  <a:t>Monentum</a:t>
                </a:r>
                <a:r>
                  <a:rPr lang="en-US" altLang="ko-KR" dirty="0"/>
                  <a:t> : 0.9, </a:t>
                </a:r>
                <a:r>
                  <a:rPr lang="en-US" altLang="ko-KR" b="1" dirty="0"/>
                  <a:t>Weight Decay</a:t>
                </a:r>
                <a:r>
                  <a:rPr lang="en-US" altLang="ko-KR" dirty="0"/>
                  <a:t> : 5×10⁻⁴</a:t>
                </a:r>
              </a:p>
              <a:p>
                <a:pPr marL="285750" indent="-285750" algn="just">
                  <a:buFont typeface="Arial" panose="020B0604020202020204" pitchFamily="34" charset="0"/>
                  <a:buChar char="•"/>
                </a:pPr>
                <a:r>
                  <a:rPr lang="en-US" altLang="ko-KR" b="1" dirty="0"/>
                  <a:t>SGD :</a:t>
                </a:r>
                <a:r>
                  <a:rPr lang="en-US" altLang="ko-KR" dirty="0"/>
                  <a:t> Standard SGD</a:t>
                </a:r>
              </a:p>
              <a:p>
                <a:pPr marL="285750" indent="-285750" algn="just">
                  <a:buFont typeface="Arial" panose="020B0604020202020204" pitchFamily="34" charset="0"/>
                  <a:buChar char="•"/>
                </a:pPr>
                <a:r>
                  <a:rPr lang="en-US" altLang="ko-KR" b="1" dirty="0"/>
                  <a:t>SAM</a:t>
                </a:r>
                <a:r>
                  <a:rPr lang="en-US" altLang="ko-KR" dirty="0"/>
                  <a:t> : </a:t>
                </a:r>
                <a14:m>
                  <m:oMath xmlns:m="http://schemas.openxmlformats.org/officeDocument/2006/math">
                    <m:r>
                      <a:rPr lang="en-US" altLang="ko-KR" b="0" i="1" smtClean="0">
                        <a:latin typeface="Cambria Math" panose="02040503050406030204" pitchFamily="18" charset="0"/>
                      </a:rPr>
                      <m:t>𝜌</m:t>
                    </m:r>
                    <m:r>
                      <a:rPr lang="en-US" altLang="ko-KR" b="0" i="1" smtClean="0">
                        <a:latin typeface="Cambria Math" panose="02040503050406030204" pitchFamily="18" charset="0"/>
                      </a:rPr>
                      <m:t>=</m:t>
                    </m:r>
                    <m:r>
                      <a:rPr lang="en-US" altLang="ko-KR" b="0" i="1" smtClean="0">
                        <a:latin typeface="Cambria Math" panose="02040503050406030204" pitchFamily="18" charset="0"/>
                      </a:rPr>
                      <m:t>0</m:t>
                    </m:r>
                    <m:r>
                      <a:rPr lang="en-US" altLang="ko-KR" b="0" i="1" smtClean="0">
                        <a:latin typeface="Cambria Math" panose="02040503050406030204" pitchFamily="18" charset="0"/>
                      </a:rPr>
                      <m:t>.</m:t>
                    </m:r>
                    <m:r>
                      <a:rPr lang="en-US" altLang="ko-KR" b="0" i="1" smtClean="0">
                        <a:latin typeface="Cambria Math" panose="02040503050406030204" pitchFamily="18" charset="0"/>
                      </a:rPr>
                      <m:t>2</m:t>
                    </m:r>
                  </m:oMath>
                </a14:m>
                <a:r>
                  <a:rPr lang="en-US" altLang="ko-KR" dirty="0"/>
                  <a:t>, standard two-step update</a:t>
                </a:r>
              </a:p>
            </p:txBody>
          </p:sp>
        </mc:Choice>
        <mc:Fallback xmlns="">
          <p:sp>
            <p:nvSpPr>
              <p:cNvPr id="527" name="TextBox 526">
                <a:extLst>
                  <a:ext uri="{FF2B5EF4-FFF2-40B4-BE49-F238E27FC236}">
                    <a16:creationId xmlns:a16="http://schemas.microsoft.com/office/drawing/2014/main" id="{5BBE7FD4-56CF-4119-96CD-7916DB8C61A3}"/>
                  </a:ext>
                </a:extLst>
              </p:cNvPr>
              <p:cNvSpPr txBox="1">
                <a:spLocks noRot="1" noChangeAspect="1" noMove="1" noResize="1" noEditPoints="1" noAdjustHandles="1" noChangeArrowheads="1" noChangeShapeType="1" noTextEdit="1"/>
              </p:cNvSpPr>
              <p:nvPr/>
            </p:nvSpPr>
            <p:spPr>
              <a:xfrm>
                <a:off x="10811880" y="6132314"/>
                <a:ext cx="6095123" cy="2339102"/>
              </a:xfrm>
              <a:prstGeom prst="rect">
                <a:avLst/>
              </a:prstGeom>
              <a:blipFill>
                <a:blip r:embed="rId8"/>
                <a:stretch>
                  <a:fillRect l="-1101" t="-1563" b="-3125"/>
                </a:stretch>
              </a:blipFill>
              <a:ln>
                <a:noFill/>
              </a:ln>
            </p:spPr>
            <p:txBody>
              <a:bodyPr/>
              <a:lstStyle/>
              <a:p>
                <a:r>
                  <a:rPr lang="ko-KR" altLang="en-US">
                    <a:noFill/>
                  </a:rPr>
                  <a:t> </a:t>
                </a:r>
              </a:p>
            </p:txBody>
          </p:sp>
        </mc:Fallback>
      </mc:AlternateContent>
      <p:sp>
        <p:nvSpPr>
          <p:cNvPr id="766" name="직사각형 765">
            <a:extLst>
              <a:ext uri="{FF2B5EF4-FFF2-40B4-BE49-F238E27FC236}">
                <a16:creationId xmlns:a16="http://schemas.microsoft.com/office/drawing/2014/main" id="{C5BB7996-34F7-43B9-AE43-8B1447BDF1ED}"/>
              </a:ext>
            </a:extLst>
          </p:cNvPr>
          <p:cNvSpPr/>
          <p:nvPr/>
        </p:nvSpPr>
        <p:spPr>
          <a:xfrm>
            <a:off x="13169038" y="8139206"/>
            <a:ext cx="7964511" cy="4613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latin typeface="Malgun Gothic" panose="020B0503020000020004" pitchFamily="50" charset="-127"/>
                <a:ea typeface="Malgun Gothic" panose="020B0503020000020004" pitchFamily="50" charset="-127"/>
              </a:rPr>
              <a:t>Ⅰ</a:t>
            </a:r>
            <a:endParaRPr lang="ko-KR" altLang="en-US" sz="3400" b="1" dirty="0"/>
          </a:p>
        </p:txBody>
      </p:sp>
      <p:sp>
        <p:nvSpPr>
          <p:cNvPr id="2" name="직사각형 1">
            <a:extLst>
              <a:ext uri="{FF2B5EF4-FFF2-40B4-BE49-F238E27FC236}">
                <a16:creationId xmlns:a16="http://schemas.microsoft.com/office/drawing/2014/main" id="{D140608B-8B96-F6FB-70DA-02D0209CCC53}"/>
              </a:ext>
            </a:extLst>
          </p:cNvPr>
          <p:cNvSpPr/>
          <p:nvPr/>
        </p:nvSpPr>
        <p:spPr>
          <a:xfrm>
            <a:off x="271308" y="5630830"/>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Optimizer</a:t>
            </a:r>
            <a:endParaRPr lang="ko-KR" altLang="en-US" sz="3400"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234CD89-29EB-7DCA-C2D9-B3DBE9B99D2E}"/>
                  </a:ext>
                </a:extLst>
              </p:cNvPr>
              <p:cNvSpPr txBox="1"/>
              <p:nvPr/>
            </p:nvSpPr>
            <p:spPr>
              <a:xfrm>
                <a:off x="264289" y="15275462"/>
                <a:ext cx="10435232" cy="2737352"/>
              </a:xfrm>
              <a:prstGeom prst="rect">
                <a:avLst/>
              </a:prstGeom>
              <a:noFill/>
              <a:ln>
                <a:noFill/>
              </a:ln>
            </p:spPr>
            <p:txBody>
              <a:bodyPr wrap="square" rtlCol="0">
                <a:spAutoFit/>
              </a:bodyPr>
              <a:lstStyle/>
              <a:p>
                <a:pPr algn="l"/>
                <a:r>
                  <a:rPr lang="en-US" altLang="ko-KR" sz="2000" b="1" dirty="0">
                    <a:solidFill>
                      <a:srgbClr val="0070C0"/>
                    </a:solidFill>
                  </a:rPr>
                  <a:t>Mahalanobis distance</a:t>
                </a:r>
              </a:p>
              <a:p>
                <a:pPr marL="285750" indent="-285750">
                  <a:buFont typeface="Arial" panose="020B0604020202020204" pitchFamily="34" charset="0"/>
                  <a:buChar char="•"/>
                </a:pPr>
                <a:r>
                  <a:rPr lang="en-US" altLang="ko-KR" dirty="0"/>
                  <a:t>Each feature is centered using the class mean </a:t>
                </a:r>
                <a14:m>
                  <m:oMath xmlns:m="http://schemas.openxmlformats.org/officeDocument/2006/math">
                    <m:sSub>
                      <m:sSubPr>
                        <m:ctrlPr>
                          <a:rPr lang="ar-AE" altLang="ko-KR" i="1">
                            <a:latin typeface="Cambria Math" panose="02040503050406030204" pitchFamily="18" charset="0"/>
                          </a:rPr>
                        </m:ctrlPr>
                      </m:sSubPr>
                      <m:e>
                        <m:r>
                          <a:rPr lang="ko-KR" altLang="ar-AE" i="1">
                            <a:latin typeface="Cambria Math" panose="02040503050406030204" pitchFamily="18" charset="0"/>
                          </a:rPr>
                          <m:t>𝜇</m:t>
                        </m:r>
                      </m:e>
                      <m:sub>
                        <m:r>
                          <a:rPr lang="ko-KR" altLang="ar-AE" i="1">
                            <a:latin typeface="Cambria Math" panose="02040503050406030204" pitchFamily="18" charset="0"/>
                          </a:rPr>
                          <m:t>𝑐</m:t>
                        </m:r>
                      </m:sub>
                    </m:sSub>
                  </m:oMath>
                </a14:m>
                <a:r>
                  <a:rPr lang="ar-AE" altLang="ko-KR" dirty="0"/>
                  <a:t>, </a:t>
                </a:r>
                <a:r>
                  <a:rPr lang="en-US" altLang="ko-KR" dirty="0"/>
                  <a:t>and a shared covariance matrix </a:t>
                </a:r>
                <a14:m>
                  <m:oMath xmlns:m="http://schemas.openxmlformats.org/officeDocument/2006/math">
                    <m:r>
                      <m:rPr>
                        <m:sty m:val="p"/>
                      </m:rPr>
                      <a:rPr lang="el-GR" altLang="ko-KR">
                        <a:latin typeface="Cambria Math" panose="02040503050406030204" pitchFamily="18" charset="0"/>
                      </a:rPr>
                      <m:t>Σ</m:t>
                    </m:r>
                  </m:oMath>
                </a14:m>
                <a:r>
                  <a:rPr lang="el-GR" altLang="ko-KR" dirty="0"/>
                  <a:t>, </a:t>
                </a:r>
                <a:r>
                  <a:rPr lang="en-US" altLang="ko-KR" dirty="0"/>
                  <a:t>estimated across all classes, is used to compute the </a:t>
                </a:r>
                <a:r>
                  <a:rPr lang="en-US" altLang="ko-KR" dirty="0" err="1"/>
                  <a:t>Mahalanobis</a:t>
                </a:r>
                <a:r>
                  <a:rPr lang="en-US" altLang="ko-KR" dirty="0"/>
                  <a:t> distance.</a:t>
                </a:r>
                <a:endParaRPr lang="en-US" altLang="ko-KR" sz="200" dirty="0"/>
              </a:p>
              <a:p>
                <a:pPr marL="285750" indent="-285750">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algn="ctr"/>
                <a14:m>
                  <m:oMath xmlns:m="http://schemas.openxmlformats.org/officeDocument/2006/math">
                    <m:sSubSup>
                      <m:sSubSup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𝑑</m:t>
                        </m:r>
                      </m:e>
                      <m:sub>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𝑐</m:t>
                        </m:r>
                      </m:sub>
                      <m:sup>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2</m:t>
                        </m:r>
                      </m:sup>
                    </m:sSubSup>
                    <m:d>
                      <m:d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sSupPr>
                          <m:e>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𝑥</m:t>
                            </m:r>
                          </m:e>
                          <m:sup>
                            <m:d>
                              <m:d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𝑗</m:t>
                                </m:r>
                              </m:e>
                            </m:d>
                          </m:sup>
                        </m:sSup>
                      </m:e>
                    </m:d>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m:t>
                    </m:r>
                    <m:sSup>
                      <m:sSup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sSupPr>
                      <m:e>
                        <m:d>
                          <m:d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sSupPr>
                              <m:e>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𝑧</m:t>
                                </m:r>
                              </m:e>
                              <m:sup>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𝑗</m:t>
                                </m:r>
                              </m:sup>
                            </m:sSup>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m:t>
                            </m:r>
                            <m:sSub>
                              <m:sSubPr>
                                <m:ctrlPr>
                                  <a:rPr lang="en-US" altLang="ko-KR" i="1" smtClean="0">
                                    <a:latin typeface="Cambria Math" panose="02040503050406030204" pitchFamily="18" charset="0"/>
                                    <a:ea typeface="Cambria Math" panose="02040503050406030204" pitchFamily="18" charset="0"/>
                                    <a:cs typeface="Pretendard" panose="02000503000000020004" pitchFamily="2" charset="-127"/>
                                  </a:rPr>
                                </m:ctrlPr>
                              </m:sSubPr>
                              <m:e>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𝜇</m:t>
                                </m:r>
                              </m:e>
                              <m:sub>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𝑐</m:t>
                                </m:r>
                              </m:sub>
                            </m:sSub>
                          </m:e>
                        </m:d>
                      </m:e>
                      <m:sup>
                        <m:r>
                          <a:rPr lang="en-US" altLang="ko-KR" b="0" i="1" smtClean="0">
                            <a:latin typeface="Cambria Math" panose="02040503050406030204" pitchFamily="18" charset="0"/>
                            <a:ea typeface="Cambria Math" panose="02040503050406030204" pitchFamily="18" charset="0"/>
                            <a:cs typeface="Pretendard" panose="02000503000000020004" pitchFamily="2" charset="-127"/>
                          </a:rPr>
                          <m:t>𝑇</m:t>
                        </m:r>
                      </m:sup>
                    </m:sSup>
                    <m:r>
                      <a:rPr lang="ko-KR" altLang="ko-KR" b="0" i="1">
                        <a:latin typeface="Cambria Math" panose="02040503050406030204" pitchFamily="18" charset="0"/>
                      </a:rPr>
                      <m:t>𝛬</m:t>
                    </m:r>
                    <m:r>
                      <a:rPr lang="en-US" altLang="ko-KR" b="0" i="0" smtClean="0">
                        <a:latin typeface="Cambria Math" panose="02040503050406030204" pitchFamily="18" charset="0"/>
                        <a:ea typeface="Cambria Math" panose="02040503050406030204" pitchFamily="18" charset="0"/>
                      </a:rPr>
                      <m:t> </m:t>
                    </m:r>
                    <m:d>
                      <m:dPr>
                        <m:ctrlPr>
                          <a:rPr lang="en-US" altLang="ko-KR" i="1" smtClean="0">
                            <a:latin typeface="Cambria Math" panose="02040503050406030204" pitchFamily="18" charset="0"/>
                            <a:ea typeface="Cambria Math" panose="02040503050406030204" pitchFamily="18" charset="0"/>
                          </a:rPr>
                        </m:ctrlPr>
                      </m:dPr>
                      <m:e>
                        <m:sSup>
                          <m:sSupPr>
                            <m:ctrlPr>
                              <a:rPr lang="en-US" altLang="ko-KR" i="1" smtClean="0">
                                <a:latin typeface="Cambria Math" panose="02040503050406030204" pitchFamily="18" charset="0"/>
                                <a:ea typeface="Cambria Math" panose="02040503050406030204" pitchFamily="18" charset="0"/>
                              </a:rPr>
                            </m:ctrlPr>
                          </m:sSupPr>
                          <m:e>
                            <m:r>
                              <m:rPr>
                                <m:sty m:val="p"/>
                              </m:rPr>
                              <a:rPr lang="en-US" altLang="ko-KR" b="0" i="0" smtClean="0">
                                <a:latin typeface="Cambria Math" panose="02040503050406030204" pitchFamily="18" charset="0"/>
                                <a:ea typeface="Cambria Math" panose="02040503050406030204" pitchFamily="18" charset="0"/>
                              </a:rPr>
                              <m:t>z</m:t>
                            </m:r>
                          </m:e>
                          <m:sup>
                            <m:d>
                              <m:dPr>
                                <m:ctrlPr>
                                  <a:rPr lang="en-US" altLang="ko-KR" i="1" smtClean="0">
                                    <a:latin typeface="Cambria Math" panose="02040503050406030204" pitchFamily="18" charset="0"/>
                                    <a:ea typeface="Cambria Math" panose="02040503050406030204" pitchFamily="18" charset="0"/>
                                  </a:rPr>
                                </m:ctrlPr>
                              </m:dPr>
                              <m:e>
                                <m:r>
                                  <m:rPr>
                                    <m:sty m:val="p"/>
                                  </m:rPr>
                                  <a:rPr lang="en-US" altLang="ko-KR" b="0" i="0" smtClean="0">
                                    <a:latin typeface="Cambria Math" panose="02040503050406030204" pitchFamily="18" charset="0"/>
                                    <a:ea typeface="Cambria Math" panose="02040503050406030204" pitchFamily="18" charset="0"/>
                                  </a:rPr>
                                  <m:t>j</m:t>
                                </m:r>
                              </m:e>
                            </m:d>
                          </m:sup>
                        </m:sSup>
                        <m:r>
                          <a:rPr lang="en-US" altLang="ko-KR" b="0" i="0" smtClean="0">
                            <a:latin typeface="Cambria Math" panose="02040503050406030204" pitchFamily="18" charset="0"/>
                            <a:ea typeface="Cambria Math" panose="02040503050406030204" pitchFamily="18" charset="0"/>
                          </a:rPr>
                          <m:t>−</m:t>
                        </m:r>
                        <m:sSub>
                          <m:sSubPr>
                            <m:ctrlPr>
                              <a:rPr lang="en-US" altLang="ko-KR" i="1" smtClean="0">
                                <a:latin typeface="Cambria Math" panose="02040503050406030204" pitchFamily="18" charset="0"/>
                                <a:ea typeface="Cambria Math" panose="02040503050406030204" pitchFamily="18" charset="0"/>
                              </a:rPr>
                            </m:ctrlPr>
                          </m:sSubPr>
                          <m:e>
                            <m:r>
                              <a:rPr lang="en-US" altLang="ko-KR" b="0" i="1" smtClean="0">
                                <a:latin typeface="Cambria Math" panose="02040503050406030204" pitchFamily="18" charset="0"/>
                                <a:ea typeface="Cambria Math" panose="02040503050406030204" pitchFamily="18" charset="0"/>
                              </a:rPr>
                              <m:t>𝜇</m:t>
                            </m:r>
                          </m:e>
                          <m:sub>
                            <m:r>
                              <a:rPr lang="en-US" altLang="ko-KR" b="0" i="1" smtClean="0">
                                <a:latin typeface="Cambria Math" panose="02040503050406030204" pitchFamily="18" charset="0"/>
                                <a:ea typeface="Cambria Math" panose="02040503050406030204" pitchFamily="18" charset="0"/>
                              </a:rPr>
                              <m:t>𝑐</m:t>
                            </m:r>
                          </m:sub>
                        </m:sSub>
                      </m:e>
                    </m:d>
                    <m:r>
                      <a:rPr lang="en-US" altLang="ko-KR" b="0" i="1" smtClean="0">
                        <a:latin typeface="Cambria Math" panose="02040503050406030204" pitchFamily="18" charset="0"/>
                        <a:ea typeface="Cambria Math" panose="02040503050406030204" pitchFamily="18" charset="0"/>
                      </a:rPr>
                      <m:t>,</m:t>
                    </m:r>
                  </m:oMath>
                </a14:m>
                <a:r>
                  <a:rPr lang="en-US" altLang="ko-KR" dirty="0">
                    <a:latin typeface="Cambria Math" panose="02040503050406030204" pitchFamily="18" charset="0"/>
                    <a:ea typeface="Cambria Math" panose="02040503050406030204" pitchFamily="18" charset="0"/>
                    <a:cs typeface="Pretendard" panose="02000503000000020004" pitchFamily="2" charset="-127"/>
                  </a:rPr>
                  <a:t>   </a:t>
                </a:r>
                <a14:m>
                  <m:oMath xmlns:m="http://schemas.openxmlformats.org/officeDocument/2006/math">
                    <m:r>
                      <a:rPr lang="ko-KR" altLang="ko-KR" b="0" i="1">
                        <a:latin typeface="Cambria Math" panose="02040503050406030204" pitchFamily="18" charset="0"/>
                      </a:rPr>
                      <m:t>𝛬</m:t>
                    </m:r>
                    <m:r>
                      <a:rPr lang="en-US" altLang="ko-KR" b="0" i="0" smtClean="0">
                        <a:latin typeface="Cambria Math" panose="02040503050406030204" pitchFamily="18" charset="0"/>
                        <a:ea typeface="Cambria Math" panose="02040503050406030204" pitchFamily="18" charset="0"/>
                      </a:rPr>
                      <m:t>=</m:t>
                    </m:r>
                    <m:sSup>
                      <m:sSupPr>
                        <m:ctrlPr>
                          <a:rPr lang="en-US" altLang="ko-KR" i="1" smtClean="0">
                            <a:latin typeface="Cambria Math" panose="02040503050406030204" pitchFamily="18" charset="0"/>
                            <a:ea typeface="Cambria Math" panose="02040503050406030204" pitchFamily="18" charset="0"/>
                          </a:rPr>
                        </m:ctrlPr>
                      </m:sSupPr>
                      <m:e>
                        <m:r>
                          <m:rPr>
                            <m:sty m:val="p"/>
                          </m:rPr>
                          <a:rPr lang="en-US" altLang="ko-KR" b="0" i="0" smtClean="0">
                            <a:latin typeface="Cambria Math" panose="02040503050406030204" pitchFamily="18" charset="0"/>
                            <a:ea typeface="Cambria Math" panose="02040503050406030204" pitchFamily="18" charset="0"/>
                          </a:rPr>
                          <m:t>Σ</m:t>
                        </m:r>
                      </m:e>
                      <m:sup>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1</m:t>
                        </m:r>
                      </m:sup>
                    </m:sSup>
                    <m:r>
                      <a:rPr lang="en-US" altLang="ko-KR" b="0" i="1" smtClean="0">
                        <a:latin typeface="Cambria Math" panose="02040503050406030204" pitchFamily="18" charset="0"/>
                        <a:ea typeface="Cambria Math" panose="02040503050406030204" pitchFamily="18" charset="0"/>
                      </a:rPr>
                      <m:t>,</m:t>
                    </m:r>
                  </m:oMath>
                </a14:m>
                <a:r>
                  <a:rPr lang="en-US" altLang="ko-KR" dirty="0">
                    <a:latin typeface="Cambria Math" panose="02040503050406030204" pitchFamily="18" charset="0"/>
                    <a:ea typeface="Cambria Math" panose="02040503050406030204" pitchFamily="18" charset="0"/>
                    <a:cs typeface="Pretendard" panose="02000503000000020004" pitchFamily="2" charset="-127"/>
                  </a:rPr>
                  <a:t>   </a:t>
                </a:r>
                <a14:m>
                  <m:oMath xmlns:m="http://schemas.openxmlformats.org/officeDocument/2006/math">
                    <m:sSub>
                      <m:sSub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sSubPr>
                      <m:e>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𝑆</m:t>
                        </m:r>
                      </m:e>
                      <m:sub>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𝑀𝑎</m:t>
                        </m:r>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h</m:t>
                        </m:r>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𝑎𝑙𝑎𝑛𝑜𝑏𝑖𝑠</m:t>
                        </m:r>
                      </m:sub>
                    </m:sSub>
                    <m:d>
                      <m:d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sSupPr>
                          <m:e>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𝑥</m:t>
                            </m:r>
                          </m:e>
                          <m:sup>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𝑗</m:t>
                            </m:r>
                          </m:sup>
                        </m:sSup>
                      </m:e>
                    </m:d>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m:t>
                    </m:r>
                    <m:func>
                      <m:func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funcPr>
                      <m:fName>
                        <m:limLow>
                          <m:limLow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limLowPr>
                          <m:e>
                            <m:r>
                              <m:rPr>
                                <m:sty m:val="p"/>
                              </m:rPr>
                              <a:rPr lang="en-US" altLang="ko-KR" b="0" i="0" dirty="0" smtClean="0">
                                <a:latin typeface="Cambria Math" panose="02040503050406030204" pitchFamily="18" charset="0"/>
                                <a:ea typeface="Cambria Math" panose="02040503050406030204" pitchFamily="18" charset="0"/>
                                <a:cs typeface="Pretendard" panose="02000503000000020004" pitchFamily="2" charset="-127"/>
                              </a:rPr>
                              <m:t>min</m:t>
                            </m:r>
                          </m:e>
                          <m:lim>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𝑐</m:t>
                            </m:r>
                          </m:lim>
                        </m:limLow>
                      </m:fName>
                      <m:e>
                        <m:sSubSup>
                          <m:sSubSup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sSubSupPr>
                          <m:e>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𝑑</m:t>
                            </m:r>
                          </m:e>
                          <m:sub>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𝑐</m:t>
                            </m:r>
                          </m:sub>
                          <m:sup>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2</m:t>
                            </m:r>
                          </m:sup>
                        </m:sSubSup>
                        <m:d>
                          <m:d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dPr>
                          <m:e>
                            <m:sSup>
                              <m:sSup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sSupPr>
                              <m:e>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𝑧</m:t>
                                </m:r>
                              </m:e>
                              <m:sup>
                                <m:d>
                                  <m:dPr>
                                    <m:ctrlPr>
                                      <a:rPr lang="en-US" altLang="ko-KR" i="1" dirty="0" smtClean="0">
                                        <a:latin typeface="Cambria Math" panose="02040503050406030204" pitchFamily="18" charset="0"/>
                                        <a:ea typeface="Cambria Math" panose="02040503050406030204" pitchFamily="18" charset="0"/>
                                        <a:cs typeface="Pretendard" panose="02000503000000020004" pitchFamily="2" charset="-127"/>
                                      </a:rPr>
                                    </m:ctrlPr>
                                  </m:dPr>
                                  <m:e>
                                    <m:r>
                                      <a:rPr lang="en-US" altLang="ko-KR" b="0" i="1" dirty="0" smtClean="0">
                                        <a:latin typeface="Cambria Math" panose="02040503050406030204" pitchFamily="18" charset="0"/>
                                        <a:ea typeface="Cambria Math" panose="02040503050406030204" pitchFamily="18" charset="0"/>
                                        <a:cs typeface="Pretendard" panose="02000503000000020004" pitchFamily="2" charset="-127"/>
                                      </a:rPr>
                                      <m:t>𝑗</m:t>
                                    </m:r>
                                  </m:e>
                                </m:d>
                              </m:sup>
                            </m:sSup>
                          </m:e>
                        </m:d>
                      </m:e>
                    </m:func>
                  </m:oMath>
                </a14:m>
                <a:endParaRPr lang="en-US" altLang="ko-KR" dirty="0">
                  <a:latin typeface="Cambria Math" panose="02040503050406030204" pitchFamily="18" charset="0"/>
                  <a:ea typeface="Cambria Math" panose="02040503050406030204" pitchFamily="18" charset="0"/>
                  <a:cs typeface="Pretendard" panose="02000503000000020004" pitchFamily="2" charset="-127"/>
                </a:endParaRPr>
              </a:p>
              <a:p>
                <a:pPr algn="just"/>
                <a:endParaRPr lang="en-US" altLang="ko-KR" sz="200" dirty="0"/>
              </a:p>
              <a:p>
                <a:pPr algn="ctr" latinLnBrk="1"/>
                <a:endParaRPr lang="ko-KR" altLang="ko-KR" dirty="0"/>
              </a:p>
              <a:p>
                <a:pPr latinLnBrk="1"/>
                <a:endParaRPr lang="ko-KR" altLang="ko-KR" dirty="0"/>
              </a:p>
              <a:p>
                <a:pPr latinLnBrk="1"/>
                <a:endParaRPr lang="en-US" altLang="ko-KR" dirty="0">
                  <a:latin typeface="Cambria Math" panose="02040503050406030204" pitchFamily="18" charset="0"/>
                </a:endParaRPr>
              </a:p>
              <a:p>
                <a:pPr latinLnBrk="1"/>
                <a:endParaRPr lang="ko-KR" altLang="ko-KR" dirty="0">
                  <a:latin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7234CD89-29EB-7DCA-C2D9-B3DBE9B99D2E}"/>
                  </a:ext>
                </a:extLst>
              </p:cNvPr>
              <p:cNvSpPr txBox="1">
                <a:spLocks noRot="1" noChangeAspect="1" noMove="1" noResize="1" noEditPoints="1" noAdjustHandles="1" noChangeArrowheads="1" noChangeShapeType="1" noTextEdit="1"/>
              </p:cNvSpPr>
              <p:nvPr/>
            </p:nvSpPr>
            <p:spPr>
              <a:xfrm>
                <a:off x="264289" y="15275462"/>
                <a:ext cx="10435232" cy="2737352"/>
              </a:xfrm>
              <a:prstGeom prst="rect">
                <a:avLst/>
              </a:prstGeom>
              <a:blipFill>
                <a:blip r:embed="rId9"/>
                <a:stretch>
                  <a:fillRect l="-584" t="-1336"/>
                </a:stretch>
              </a:blipFill>
              <a:ln>
                <a:noFill/>
              </a:ln>
            </p:spPr>
            <p:txBody>
              <a:bodyPr/>
              <a:lstStyle/>
              <a:p>
                <a:r>
                  <a:rPr lang="ko-KR" altLang="en-US">
                    <a:noFill/>
                  </a:rPr>
                  <a:t> </a:t>
                </a:r>
              </a:p>
            </p:txBody>
          </p:sp>
        </mc:Fallback>
      </mc:AlternateContent>
      <p:sp>
        <p:nvSpPr>
          <p:cNvPr id="3" name="TextBox 2">
            <a:extLst>
              <a:ext uri="{FF2B5EF4-FFF2-40B4-BE49-F238E27FC236}">
                <a16:creationId xmlns:a16="http://schemas.microsoft.com/office/drawing/2014/main" id="{F702A266-ECF0-1FE3-5EA0-E004FBB4A6D5}"/>
              </a:ext>
            </a:extLst>
          </p:cNvPr>
          <p:cNvSpPr txBox="1"/>
          <p:nvPr/>
        </p:nvSpPr>
        <p:spPr>
          <a:xfrm>
            <a:off x="277129" y="9277955"/>
            <a:ext cx="5858335" cy="2646878"/>
          </a:xfrm>
          <a:prstGeom prst="rect">
            <a:avLst/>
          </a:prstGeom>
          <a:noFill/>
          <a:ln>
            <a:noFill/>
          </a:ln>
        </p:spPr>
        <p:txBody>
          <a:bodyPr wrap="square" rtlCol="0">
            <a:spAutoFit/>
          </a:bodyPr>
          <a:lstStyle/>
          <a:p>
            <a:pPr algn="l"/>
            <a:r>
              <a:rPr lang="en-US" altLang="ko-KR" sz="2000" b="1" dirty="0">
                <a:solidFill>
                  <a:srgbClr val="0070C0"/>
                </a:solidFill>
              </a:rPr>
              <a:t>SAM and Implicit Regularization of Feature Geometry</a:t>
            </a:r>
          </a:p>
          <a:p>
            <a:pPr marL="285750" indent="-285750" algn="just">
              <a:buFont typeface="Arial" panose="020B0604020202020204" pitchFamily="34" charset="0"/>
              <a:buChar char="•"/>
            </a:pPr>
            <a:r>
              <a:rPr lang="en-US" altLang="ko-KR" dirty="0"/>
              <a:t>Recent work (</a:t>
            </a:r>
            <a:r>
              <a:rPr lang="en-US" altLang="ko-KR" dirty="0" err="1"/>
              <a:t>Andriushchenko</a:t>
            </a:r>
            <a:r>
              <a:rPr lang="en-US" altLang="ko-KR" dirty="0"/>
              <a:t> et al., 2023) reports that SAM utilizes a larger number of effective principal components in the last feature layer.</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dirty="0"/>
              <a:t>This does not necessarily imply that the variance simply becomes larger; rather, it suggests that information is distributed more uniformly within the ID feature cloud, leading to reduced anisotropy.</a:t>
            </a:r>
          </a:p>
          <a:p>
            <a:pPr algn="just"/>
            <a:endParaRPr lang="en-US" altLang="ko-KR" sz="200" b="0" i="1" dirty="0">
              <a:latin typeface="Cambria Math" panose="02040503050406030204" pitchFamily="18" charset="0"/>
            </a:endParaRPr>
          </a:p>
        </p:txBody>
      </p:sp>
      <p:sp>
        <p:nvSpPr>
          <p:cNvPr id="4" name="TextBox 3">
            <a:extLst>
              <a:ext uri="{FF2B5EF4-FFF2-40B4-BE49-F238E27FC236}">
                <a16:creationId xmlns:a16="http://schemas.microsoft.com/office/drawing/2014/main" id="{E183D937-D10E-DFEB-D959-5C7093B6B620}"/>
              </a:ext>
            </a:extLst>
          </p:cNvPr>
          <p:cNvSpPr txBox="1"/>
          <p:nvPr/>
        </p:nvSpPr>
        <p:spPr>
          <a:xfrm>
            <a:off x="6244546" y="11292937"/>
            <a:ext cx="1781372" cy="646331"/>
          </a:xfrm>
          <a:prstGeom prst="rect">
            <a:avLst/>
          </a:prstGeom>
          <a:noFill/>
        </p:spPr>
        <p:txBody>
          <a:bodyPr wrap="square" rtlCol="0">
            <a:spAutoFit/>
          </a:bodyPr>
          <a:lstStyle/>
          <a:p>
            <a:pPr algn="ctr"/>
            <a:r>
              <a:rPr lang="en-US" altLang="ko-KR" b="1" dirty="0">
                <a:solidFill>
                  <a:srgbClr val="0070C0"/>
                </a:solidFill>
              </a:rPr>
              <a:t>SGD</a:t>
            </a:r>
            <a:br>
              <a:rPr lang="en-US" altLang="ko-KR" b="1" dirty="0">
                <a:solidFill>
                  <a:srgbClr val="0070C0"/>
                </a:solidFill>
              </a:rPr>
            </a:br>
            <a:r>
              <a:rPr lang="en-US" altLang="ko-KR" dirty="0">
                <a:solidFill>
                  <a:srgbClr val="0070C0"/>
                </a:solidFill>
              </a:rPr>
              <a:t>High Anisotropy</a:t>
            </a:r>
            <a:endParaRPr lang="en-US" altLang="ko-KR" dirty="0"/>
          </a:p>
        </p:txBody>
      </p:sp>
      <p:pic>
        <p:nvPicPr>
          <p:cNvPr id="18" name="그림 17" descr="도표, 원이(가) 표시된 사진&#10;&#10;AI가 생성한 콘텐츠는 부정확할 수 있습니다.">
            <a:extLst>
              <a:ext uri="{FF2B5EF4-FFF2-40B4-BE49-F238E27FC236}">
                <a16:creationId xmlns:a16="http://schemas.microsoft.com/office/drawing/2014/main" id="{B9E9BF01-E231-CBD2-6417-95B80B8847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36073" y="9323544"/>
            <a:ext cx="4403666" cy="2006359"/>
          </a:xfrm>
          <a:prstGeom prst="rect">
            <a:avLst/>
          </a:prstGeom>
        </p:spPr>
      </p:pic>
      <p:sp>
        <p:nvSpPr>
          <p:cNvPr id="20" name="TextBox 19">
            <a:extLst>
              <a:ext uri="{FF2B5EF4-FFF2-40B4-BE49-F238E27FC236}">
                <a16:creationId xmlns:a16="http://schemas.microsoft.com/office/drawing/2014/main" id="{5C0A90EE-2319-29B6-9D31-6DDB9D43AAB4}"/>
              </a:ext>
            </a:extLst>
          </p:cNvPr>
          <p:cNvSpPr txBox="1"/>
          <p:nvPr/>
        </p:nvSpPr>
        <p:spPr>
          <a:xfrm>
            <a:off x="8318223" y="11289576"/>
            <a:ext cx="2412640" cy="646331"/>
          </a:xfrm>
          <a:prstGeom prst="rect">
            <a:avLst/>
          </a:prstGeom>
          <a:noFill/>
        </p:spPr>
        <p:txBody>
          <a:bodyPr wrap="square" rtlCol="0">
            <a:spAutoFit/>
          </a:bodyPr>
          <a:lstStyle/>
          <a:p>
            <a:pPr algn="ctr"/>
            <a:r>
              <a:rPr lang="en-US" altLang="ko-KR" b="1" dirty="0">
                <a:solidFill>
                  <a:srgbClr val="0070C0"/>
                </a:solidFill>
              </a:rPr>
              <a:t>SAM</a:t>
            </a:r>
            <a:r>
              <a:rPr lang="en-US" altLang="ko-KR" dirty="0">
                <a:solidFill>
                  <a:srgbClr val="0070C0"/>
                </a:solidFill>
              </a:rPr>
              <a:t> </a:t>
            </a:r>
            <a:br>
              <a:rPr lang="en-US" altLang="ko-KR" dirty="0">
                <a:solidFill>
                  <a:srgbClr val="0070C0"/>
                </a:solidFill>
              </a:rPr>
            </a:br>
            <a:r>
              <a:rPr lang="en-US" altLang="ko-KR" dirty="0">
                <a:solidFill>
                  <a:srgbClr val="0070C0"/>
                </a:solidFill>
              </a:rPr>
              <a:t>Anisotropy Reduced</a:t>
            </a:r>
            <a:endParaRPr lang="en-US" altLang="ko-KR" dirty="0"/>
          </a:p>
        </p:txBody>
      </p:sp>
      <p:sp>
        <p:nvSpPr>
          <p:cNvPr id="25" name="TextBox 24">
            <a:extLst>
              <a:ext uri="{FF2B5EF4-FFF2-40B4-BE49-F238E27FC236}">
                <a16:creationId xmlns:a16="http://schemas.microsoft.com/office/drawing/2014/main" id="{65D9E651-7098-3ADF-59BA-4C2664D54A1D}"/>
              </a:ext>
            </a:extLst>
          </p:cNvPr>
          <p:cNvSpPr txBox="1"/>
          <p:nvPr/>
        </p:nvSpPr>
        <p:spPr>
          <a:xfrm>
            <a:off x="-410086" y="11980918"/>
            <a:ext cx="12188825" cy="646331"/>
          </a:xfrm>
          <a:prstGeom prst="rect">
            <a:avLst/>
          </a:prstGeom>
          <a:noFill/>
          <a:ln>
            <a:noFill/>
          </a:ln>
        </p:spPr>
        <p:txBody>
          <a:bodyPr wrap="square" rtlCol="0">
            <a:spAutoFit/>
          </a:bodyPr>
          <a:lstStyle/>
          <a:p>
            <a:pPr algn="ctr"/>
            <a:r>
              <a:rPr lang="en-US" altLang="ko-KR" b="1" dirty="0"/>
              <a:t>“SAM decreases the anisotropy of the ID feature cloud relative to SGD, </a:t>
            </a:r>
          </a:p>
          <a:p>
            <a:pPr algn="ctr"/>
            <a:r>
              <a:rPr lang="en-US" altLang="ko-KR" b="1" dirty="0"/>
              <a:t>and this geometric shift can substantially influence distance-based OOD detection.”</a:t>
            </a:r>
          </a:p>
        </p:txBody>
      </p:sp>
      <p:sp>
        <p:nvSpPr>
          <p:cNvPr id="26" name="직사각형 25">
            <a:extLst>
              <a:ext uri="{FF2B5EF4-FFF2-40B4-BE49-F238E27FC236}">
                <a16:creationId xmlns:a16="http://schemas.microsoft.com/office/drawing/2014/main" id="{85E7A638-0B5A-A57D-8CDD-DBD154C1CFFF}"/>
              </a:ext>
            </a:extLst>
          </p:cNvPr>
          <p:cNvSpPr/>
          <p:nvPr/>
        </p:nvSpPr>
        <p:spPr>
          <a:xfrm>
            <a:off x="271308" y="12726554"/>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Distance-based OOD </a:t>
            </a:r>
            <a:r>
              <a:rPr lang="en-US" altLang="ko-KR" sz="3400" b="1" dirty="0" err="1"/>
              <a:t>Dectection</a:t>
            </a:r>
            <a:endParaRPr lang="ko-KR" altLang="en-US" sz="3400" b="1" dirty="0"/>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AB320BC5-8F98-3CB7-A3DD-361EAB092D21}"/>
                  </a:ext>
                </a:extLst>
              </p:cNvPr>
              <p:cNvSpPr txBox="1"/>
              <p:nvPr/>
            </p:nvSpPr>
            <p:spPr>
              <a:xfrm>
                <a:off x="199224" y="16917141"/>
                <a:ext cx="10011682" cy="5585503"/>
              </a:xfrm>
              <a:prstGeom prst="rect">
                <a:avLst/>
              </a:prstGeom>
              <a:noFill/>
              <a:ln>
                <a:noFill/>
              </a:ln>
            </p:spPr>
            <p:txBody>
              <a:bodyPr wrap="square" rtlCol="0">
                <a:spAutoFit/>
              </a:bodyPr>
              <a:lstStyle/>
              <a:p>
                <a:pPr algn="l"/>
                <a:r>
                  <a:rPr lang="en-US" altLang="ko-KR" sz="2000" b="1" dirty="0">
                    <a:solidFill>
                      <a:srgbClr val="0070C0"/>
                    </a:solidFill>
                  </a:rPr>
                  <a:t>Deep </a:t>
                </a:r>
                <a:r>
                  <a:rPr lang="en-US" altLang="ko-KR" sz="2000" b="1" dirty="0" err="1">
                    <a:solidFill>
                      <a:srgbClr val="0070C0"/>
                    </a:solidFill>
                  </a:rPr>
                  <a:t>Deterministice</a:t>
                </a:r>
                <a:r>
                  <a:rPr lang="en-US" altLang="ko-KR" sz="2000" b="1" dirty="0">
                    <a:solidFill>
                      <a:srgbClr val="0070C0"/>
                    </a:solidFill>
                  </a:rPr>
                  <a:t> Uncertainty(DDU, Jishnu </a:t>
                </a:r>
                <a:r>
                  <a:rPr lang="en-US" altLang="ko-KR" sz="2000" b="1" dirty="0" err="1">
                    <a:solidFill>
                      <a:srgbClr val="0070C0"/>
                    </a:solidFill>
                  </a:rPr>
                  <a:t>Mukhoti</a:t>
                </a:r>
                <a:r>
                  <a:rPr lang="en-US" altLang="ko-KR" sz="2000" b="1" dirty="0">
                    <a:solidFill>
                      <a:srgbClr val="0070C0"/>
                    </a:solidFill>
                  </a:rPr>
                  <a:t> et al. 2023)</a:t>
                </a:r>
              </a:p>
              <a:p>
                <a:pPr marL="285750" indent="-285750">
                  <a:buFont typeface="Arial" panose="020B0604020202020204" pitchFamily="34" charset="0"/>
                  <a:buChar char="•"/>
                </a:pPr>
                <a:r>
                  <a:rPr lang="en-US" altLang="ko-KR" dirty="0"/>
                  <a:t>The feature </a:t>
                </a:r>
                <a14:m>
                  <m:oMath xmlns:m="http://schemas.openxmlformats.org/officeDocument/2006/math">
                    <m:r>
                      <a:rPr lang="ko-KR" altLang="en-US" i="1">
                        <a:latin typeface="Cambria Math" panose="02040503050406030204" pitchFamily="18" charset="0"/>
                      </a:rPr>
                      <m:t>𝑧</m:t>
                    </m:r>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𝜃</m:t>
                        </m:r>
                      </m:sub>
                    </m:sSub>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 </m:t>
                    </m:r>
                  </m:oMath>
                </a14:m>
                <a:r>
                  <a:rPr lang="en-US" altLang="ko-KR" dirty="0"/>
                  <a:t>is assumed to follow a class-conditional multivariate normal distribution. After computing the density for each class, we sum these densities and apply a logarithm to obtain the OOD detection score.</a:t>
                </a: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buFont typeface="Arial" panose="020B0604020202020204" pitchFamily="34" charset="0"/>
                  <a:buChar char="•"/>
                </a:pPr>
                <a:r>
                  <a:rPr lang="en-US" altLang="ko-KR" dirty="0"/>
                  <a:t>ID samples have high density under at least one class, yielding a high score, whereas OOD samples have low density under all classes, resulting in a low score.</a:t>
                </a:r>
                <a:endParaRPr lang="en-US" altLang="ko-KR" sz="2000" b="1" dirty="0">
                  <a:solidFill>
                    <a:srgbClr val="0070C0"/>
                  </a:solidFill>
                </a:endParaRPr>
              </a:p>
              <a:p>
                <a:pPr marL="285750" indent="-285750">
                  <a:buFont typeface="Arial" panose="020B0604020202020204" pitchFamily="34" charset="0"/>
                  <a:buChar char="•"/>
                </a:pPr>
                <a:endParaRPr lang="en-US" altLang="ko-KR" dirty="0">
                  <a:latin typeface="+mn-ea"/>
                </a:endParaRPr>
              </a:p>
              <a:p>
                <a:pPr algn="ctr"/>
                <a14:m>
                  <m:oMath xmlns:m="http://schemas.openxmlformats.org/officeDocument/2006/math">
                    <m:r>
                      <a:rPr lang="en-US" altLang="ko-KR" b="0" i="1" smtClean="0">
                        <a:solidFill>
                          <a:schemeClr val="tx1"/>
                        </a:solidFill>
                        <a:latin typeface="Cambria Math" panose="02040503050406030204" pitchFamily="18" charset="0"/>
                      </a:rPr>
                      <m:t>𝑝</m:t>
                    </m:r>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e>
                      <m:e>
                        <m:r>
                          <a:rPr lang="en-US" altLang="ko-KR" b="0" i="1" smtClean="0">
                            <a:solidFill>
                              <a:schemeClr val="tx1"/>
                            </a:solidFill>
                            <a:latin typeface="Cambria Math" panose="02040503050406030204" pitchFamily="18" charset="0"/>
                          </a:rPr>
                          <m:t>𝑐</m:t>
                        </m:r>
                      </m:e>
                    </m:d>
                    <m:r>
                      <a:rPr lang="en-US" altLang="ko-KR" b="0" i="1" smtClean="0">
                        <a:solidFill>
                          <a:schemeClr val="tx1"/>
                        </a:solidFill>
                        <a:latin typeface="Cambria Math" panose="02040503050406030204" pitchFamily="18" charset="0"/>
                      </a:rPr>
                      <m:t>=</m:t>
                    </m:r>
                    <m:r>
                      <a:rPr lang="ko-KR" altLang="en-US" b="0" i="1" smtClean="0">
                        <a:solidFill>
                          <a:schemeClr val="tx1"/>
                        </a:solidFill>
                        <a:latin typeface="Cambria Math" panose="02040503050406030204" pitchFamily="18" charset="0"/>
                      </a:rPr>
                      <m:t>𝒩</m:t>
                    </m:r>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r>
                          <a:rPr lang="en-US" altLang="ko-KR" b="0" i="1" smtClean="0">
                            <a:solidFill>
                              <a:schemeClr val="tx1"/>
                            </a:solidFill>
                            <a:latin typeface="Cambria Math" panose="02040503050406030204" pitchFamily="18" charset="0"/>
                          </a:rPr>
                          <m:t>;</m:t>
                        </m:r>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𝜇</m:t>
                            </m:r>
                          </m:e>
                          <m:sub>
                            <m:r>
                              <a:rPr lang="en-US" altLang="ko-KR" b="0" i="1" smtClean="0">
                                <a:solidFill>
                                  <a:schemeClr val="tx1"/>
                                </a:solidFill>
                                <a:latin typeface="Cambria Math" panose="02040503050406030204" pitchFamily="18" charset="0"/>
                              </a:rPr>
                              <m:t>𝑐</m:t>
                            </m:r>
                          </m:sub>
                        </m:sSub>
                        <m:r>
                          <a:rPr lang="en-US" altLang="ko-KR" b="0" i="1" smtClean="0">
                            <a:solidFill>
                              <a:schemeClr val="tx1"/>
                            </a:solidFill>
                            <a:latin typeface="Cambria Math" panose="02040503050406030204" pitchFamily="18" charset="0"/>
                          </a:rPr>
                          <m:t>,</m:t>
                        </m:r>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panose="02040503050406030204" pitchFamily="18" charset="0"/>
                              </a:rPr>
                              <m:t>Σ</m:t>
                            </m:r>
                          </m:e>
                          <m:sub>
                            <m:r>
                              <a:rPr lang="en-US" altLang="ko-KR" b="0" i="1" smtClean="0">
                                <a:solidFill>
                                  <a:schemeClr val="tx1"/>
                                </a:solidFill>
                                <a:latin typeface="Cambria Math" panose="02040503050406030204" pitchFamily="18" charset="0"/>
                              </a:rPr>
                              <m:t>𝑐</m:t>
                            </m:r>
                          </m:sub>
                        </m:sSub>
                      </m:e>
                    </m:d>
                  </m:oMath>
                </a14:m>
                <a:r>
                  <a:rPr lang="en-US" altLang="ko-KR" dirty="0">
                    <a:solidFill>
                      <a:schemeClr val="tx1"/>
                    </a:solidFill>
                  </a:rPr>
                  <a:t>,   </a:t>
                </a:r>
                <a14:m>
                  <m:oMath xmlns:m="http://schemas.openxmlformats.org/officeDocument/2006/math">
                    <m:r>
                      <a:rPr lang="en-US" altLang="ko-KR" b="0" i="1" smtClean="0">
                        <a:solidFill>
                          <a:schemeClr val="tx1"/>
                        </a:solidFill>
                        <a:latin typeface="Cambria Math" panose="02040503050406030204" pitchFamily="18" charset="0"/>
                      </a:rPr>
                      <m:t>𝑆𝑐𝑜𝑟𝑒</m:t>
                    </m:r>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e>
                    </m:d>
                    <m:r>
                      <a:rPr lang="en-US" altLang="ko-KR" b="0" i="1" smtClean="0">
                        <a:solidFill>
                          <a:schemeClr val="tx1"/>
                        </a:solidFill>
                        <a:latin typeface="Cambria Math" panose="02040503050406030204" pitchFamily="18" charset="0"/>
                      </a:rPr>
                      <m:t>=</m:t>
                    </m:r>
                    <m:r>
                      <a:rPr lang="en-US" altLang="ko-KR" b="0" i="1" smtClean="0">
                        <a:solidFill>
                          <a:schemeClr val="tx1"/>
                        </a:solidFill>
                        <a:latin typeface="Cambria Math" panose="02040503050406030204" pitchFamily="18" charset="0"/>
                      </a:rPr>
                      <m:t>𝑙𝑛</m:t>
                    </m:r>
                    <m:r>
                      <a:rPr lang="en-US" altLang="ko-KR" b="0" i="1" smtClean="0">
                        <a:solidFill>
                          <a:schemeClr val="tx1"/>
                        </a:solidFill>
                        <a:latin typeface="Cambria Math" panose="02040503050406030204" pitchFamily="18" charset="0"/>
                      </a:rPr>
                      <m:t> </m:t>
                    </m:r>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panose="02040503050406030204" pitchFamily="18" charset="0"/>
                          </a:rPr>
                          <m:t>Σ</m:t>
                        </m:r>
                      </m:e>
                      <m:sub>
                        <m:r>
                          <a:rPr lang="en-US" altLang="ko-KR" b="0" i="1" smtClean="0">
                            <a:solidFill>
                              <a:schemeClr val="tx1"/>
                            </a:solidFill>
                            <a:latin typeface="Cambria Math" panose="02040503050406030204" pitchFamily="18" charset="0"/>
                          </a:rPr>
                          <m:t>𝑐</m:t>
                        </m:r>
                      </m:sub>
                    </m:sSub>
                    <m:r>
                      <a:rPr lang="en-US" altLang="ko-KR" b="0" i="1" smtClean="0">
                        <a:solidFill>
                          <a:schemeClr val="tx1"/>
                        </a:solidFill>
                        <a:latin typeface="Cambria Math" panose="02040503050406030204" pitchFamily="18" charset="0"/>
                      </a:rPr>
                      <m:t>𝑝</m:t>
                    </m:r>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e>
                      <m:e>
                        <m:r>
                          <a:rPr lang="en-US" altLang="ko-KR" b="0" i="1" smtClean="0">
                            <a:solidFill>
                              <a:schemeClr val="tx1"/>
                            </a:solidFill>
                            <a:latin typeface="Cambria Math" panose="02040503050406030204" pitchFamily="18" charset="0"/>
                          </a:rPr>
                          <m:t>𝑐</m:t>
                        </m:r>
                      </m:e>
                    </m:d>
                  </m:oMath>
                </a14:m>
                <a:endParaRPr lang="en-US" altLang="ko-KR" dirty="0">
                  <a:solidFill>
                    <a:schemeClr val="tx1"/>
                  </a:solidFill>
                </a:endParaRPr>
              </a:p>
              <a:p>
                <a:pPr algn="ctr"/>
                <a:endParaRPr lang="en-US" altLang="ko-KR" dirty="0">
                  <a:solidFill>
                    <a:schemeClr val="tx1"/>
                  </a:solidFill>
                </a:endParaRPr>
              </a:p>
              <a:p>
                <a:pPr/>
                <a14:m>
                  <m:oMathPara xmlns:m="http://schemas.openxmlformats.org/officeDocument/2006/math">
                    <m:oMathParaPr>
                      <m:jc m:val="centerGroup"/>
                    </m:oMathParaPr>
                    <m:oMath xmlns:m="http://schemas.openxmlformats.org/officeDocument/2006/math">
                      <m:r>
                        <a:rPr lang="en-US" altLang="ko-KR" b="0" i="1" smtClean="0">
                          <a:solidFill>
                            <a:schemeClr val="tx1"/>
                          </a:solidFill>
                          <a:latin typeface="Cambria Math" panose="02040503050406030204" pitchFamily="18" charset="0"/>
                        </a:rPr>
                        <m:t>𝑙</m:t>
                      </m:r>
                      <m:r>
                        <a:rPr lang="en-US" altLang="ko-KR" b="0" i="1" smtClean="0">
                          <a:solidFill>
                            <a:schemeClr val="tx1"/>
                          </a:solidFill>
                          <a:latin typeface="Cambria Math" panose="02040503050406030204" pitchFamily="18" charset="0"/>
                        </a:rPr>
                        <m:t>𝑛</m:t>
                      </m:r>
                      <m:r>
                        <a:rPr lang="en-US" altLang="ko-KR" b="0" i="1" smtClean="0">
                          <a:solidFill>
                            <a:schemeClr val="tx1"/>
                          </a:solidFill>
                          <a:latin typeface="Cambria Math" panose="02040503050406030204" pitchFamily="18" charset="0"/>
                        </a:rPr>
                        <m:t> </m:t>
                      </m:r>
                      <m:r>
                        <a:rPr lang="en-US" altLang="ko-KR" b="0" i="1" smtClean="0">
                          <a:solidFill>
                            <a:schemeClr val="tx1"/>
                          </a:solidFill>
                          <a:latin typeface="Cambria Math" panose="02040503050406030204" pitchFamily="18" charset="0"/>
                        </a:rPr>
                        <m:t>𝑝</m:t>
                      </m:r>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e>
                        <m:e>
                          <m:r>
                            <a:rPr lang="en-US" altLang="ko-KR" b="0" i="1" smtClean="0">
                              <a:solidFill>
                                <a:schemeClr val="tx1"/>
                              </a:solidFill>
                              <a:latin typeface="Cambria Math" panose="02040503050406030204" pitchFamily="18" charset="0"/>
                            </a:rPr>
                            <m:t>𝑐</m:t>
                          </m:r>
                        </m:e>
                      </m:d>
                      <m:r>
                        <a:rPr lang="en-US" altLang="ko-KR" b="0" i="1" smtClean="0">
                          <a:solidFill>
                            <a:schemeClr val="tx1"/>
                          </a:solidFill>
                          <a:latin typeface="Cambria Math" panose="02040503050406030204" pitchFamily="18" charset="0"/>
                        </a:rPr>
                        <m:t>=</m:t>
                      </m:r>
                      <m:limLow>
                        <m:limLowPr>
                          <m:ctrlPr>
                            <a:rPr lang="en-US" altLang="ko-KR" i="1" smtClean="0">
                              <a:solidFill>
                                <a:schemeClr val="tx1"/>
                              </a:solidFill>
                              <a:latin typeface="Cambria Math" panose="02040503050406030204" pitchFamily="18" charset="0"/>
                            </a:rPr>
                          </m:ctrlPr>
                        </m:limLowPr>
                        <m:e>
                          <m:groupChr>
                            <m:groupChrPr>
                              <m:chr m:val="⏟"/>
                              <m:ctrlPr>
                                <a:rPr lang="en-US" altLang="ko-KR" i="1" smtClean="0">
                                  <a:solidFill>
                                    <a:schemeClr val="tx1"/>
                                  </a:solidFill>
                                  <a:latin typeface="Cambria Math" panose="02040503050406030204" pitchFamily="18" charset="0"/>
                                </a:rPr>
                              </m:ctrlPr>
                            </m:groupChrPr>
                            <m:e>
                              <m:r>
                                <a:rPr lang="en-US" altLang="ko-KR" b="0" i="1" smtClean="0">
                                  <a:solidFill>
                                    <a:schemeClr val="tx1"/>
                                  </a:solidFill>
                                  <a:latin typeface="Cambria Math" panose="02040503050406030204" pitchFamily="18" charset="0"/>
                                </a:rPr>
                                <m:t>−</m:t>
                              </m:r>
                              <m:f>
                                <m:fPr>
                                  <m:ctrlPr>
                                    <a:rPr lang="en-US" altLang="ko-KR" i="1" smtClean="0">
                                      <a:solidFill>
                                        <a:schemeClr val="tx1"/>
                                      </a:solidFill>
                                      <a:latin typeface="Cambria Math" panose="02040503050406030204" pitchFamily="18" charset="0"/>
                                    </a:rPr>
                                  </m:ctrlPr>
                                </m:fPr>
                                <m:num>
                                  <m:r>
                                    <a:rPr lang="en-US" altLang="ko-KR" b="0" i="1" smtClean="0">
                                      <a:solidFill>
                                        <a:schemeClr val="tx1"/>
                                      </a:solidFill>
                                      <a:latin typeface="Cambria Math" panose="02040503050406030204" pitchFamily="18" charset="0"/>
                                    </a:rPr>
                                    <m:t>1</m:t>
                                  </m:r>
                                </m:num>
                                <m:den>
                                  <m:r>
                                    <a:rPr lang="en-US" altLang="ko-KR" b="0" i="1" smtClean="0">
                                      <a:solidFill>
                                        <a:schemeClr val="tx1"/>
                                      </a:solidFill>
                                      <a:latin typeface="Cambria Math" panose="02040503050406030204" pitchFamily="18" charset="0"/>
                                    </a:rPr>
                                    <m:t>2</m:t>
                                  </m:r>
                                </m:den>
                              </m:f>
                              <m:sSup>
                                <m:sSupPr>
                                  <m:ctrlPr>
                                    <a:rPr lang="en-US" altLang="ko-KR" i="1" smtClean="0">
                                      <a:solidFill>
                                        <a:schemeClr val="tx1"/>
                                      </a:solidFill>
                                      <a:latin typeface="Cambria Math" panose="02040503050406030204" pitchFamily="18" charset="0"/>
                                    </a:rPr>
                                  </m:ctrlPr>
                                </m:sSupPr>
                                <m:e>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r>
                                        <a:rPr lang="en-US" altLang="ko-KR" b="0" i="1" smtClean="0">
                                          <a:solidFill>
                                            <a:schemeClr val="tx1"/>
                                          </a:solidFill>
                                          <a:latin typeface="Cambria Math" panose="02040503050406030204" pitchFamily="18" charset="0"/>
                                        </a:rPr>
                                        <m:t>−</m:t>
                                      </m:r>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𝜇</m:t>
                                          </m:r>
                                        </m:e>
                                        <m:sub>
                                          <m:r>
                                            <a:rPr lang="en-US" altLang="ko-KR" b="0" i="1" smtClean="0">
                                              <a:solidFill>
                                                <a:schemeClr val="tx1"/>
                                              </a:solidFill>
                                              <a:latin typeface="Cambria Math" panose="02040503050406030204" pitchFamily="18" charset="0"/>
                                            </a:rPr>
                                            <m:t>𝑐</m:t>
                                          </m:r>
                                        </m:sub>
                                      </m:sSub>
                                    </m:e>
                                  </m:d>
                                </m:e>
                                <m:sup>
                                  <m:r>
                                    <a:rPr lang="en-US" altLang="ko-KR" b="0" i="1" smtClean="0">
                                      <a:solidFill>
                                        <a:schemeClr val="tx1"/>
                                      </a:solidFill>
                                      <a:latin typeface="Cambria Math" panose="02040503050406030204" pitchFamily="18" charset="0"/>
                                    </a:rPr>
                                    <m:t>𝑇</m:t>
                                  </m:r>
                                </m:sup>
                              </m:sSup>
                              <m:sSubSup>
                                <m:sSubSupPr>
                                  <m:ctrlPr>
                                    <a:rPr lang="en-US" altLang="ko-KR" i="1" smtClean="0">
                                      <a:solidFill>
                                        <a:schemeClr val="tx1"/>
                                      </a:solidFill>
                                      <a:latin typeface="Cambria Math" panose="02040503050406030204" pitchFamily="18" charset="0"/>
                                    </a:rPr>
                                  </m:ctrlPr>
                                </m:sSubSupPr>
                                <m:e>
                                  <m:r>
                                    <a:rPr lang="en-US" altLang="ko-KR" b="0" i="1">
                                      <a:solidFill>
                                        <a:schemeClr val="tx1"/>
                                      </a:solidFill>
                                      <a:latin typeface="Cambria Math" panose="02040503050406030204" pitchFamily="18" charset="0"/>
                                    </a:rPr>
                                    <m:t>𝛴</m:t>
                                  </m:r>
                                </m:e>
                                <m:sub>
                                  <m:r>
                                    <a:rPr lang="en-US" altLang="ko-KR" b="0" i="1">
                                      <a:solidFill>
                                        <a:schemeClr val="tx1"/>
                                      </a:solidFill>
                                      <a:latin typeface="Cambria Math" panose="02040503050406030204" pitchFamily="18" charset="0"/>
                                    </a:rPr>
                                    <m:t>𝑐</m:t>
                                  </m:r>
                                </m:sub>
                                <m:sup>
                                  <m:r>
                                    <a:rPr lang="en-US" altLang="ko-KR" b="0" i="1" smtClean="0">
                                      <a:solidFill>
                                        <a:schemeClr val="tx1"/>
                                      </a:solidFill>
                                      <a:latin typeface="Cambria Math" panose="02040503050406030204" pitchFamily="18" charset="0"/>
                                    </a:rPr>
                                    <m:t>−</m:t>
                                  </m:r>
                                  <m:r>
                                    <a:rPr lang="en-US" altLang="ko-KR" b="0" i="1" smtClean="0">
                                      <a:solidFill>
                                        <a:schemeClr val="tx1"/>
                                      </a:solidFill>
                                      <a:latin typeface="Cambria Math" panose="02040503050406030204" pitchFamily="18" charset="0"/>
                                    </a:rPr>
                                    <m:t>1</m:t>
                                  </m:r>
                                </m:sup>
                              </m:sSubSup>
                              <m:d>
                                <m:dPr>
                                  <m:ctrlPr>
                                    <a:rPr lang="en-US" altLang="ko-KR" i="1" smtClean="0">
                                      <a:solidFill>
                                        <a:schemeClr val="tx1"/>
                                      </a:solidFill>
                                      <a:latin typeface="Cambria Math" panose="02040503050406030204" pitchFamily="18" charset="0"/>
                                    </a:rPr>
                                  </m:ctrlPr>
                                </m:dPr>
                                <m:e>
                                  <m:r>
                                    <a:rPr lang="en-US" altLang="ko-KR" b="0" i="1" smtClean="0">
                                      <a:solidFill>
                                        <a:schemeClr val="tx1"/>
                                      </a:solidFill>
                                      <a:latin typeface="Cambria Math" panose="02040503050406030204" pitchFamily="18" charset="0"/>
                                    </a:rPr>
                                    <m:t>𝑧</m:t>
                                  </m:r>
                                  <m:r>
                                    <a:rPr lang="en-US" altLang="ko-KR" b="0" i="1" smtClean="0">
                                      <a:solidFill>
                                        <a:schemeClr val="tx1"/>
                                      </a:solidFill>
                                      <a:latin typeface="Cambria Math" panose="02040503050406030204" pitchFamily="18" charset="0"/>
                                    </a:rPr>
                                    <m:t>−</m:t>
                                  </m:r>
                                  <m:sSub>
                                    <m:sSubPr>
                                      <m:ctrlPr>
                                        <a:rPr lang="en-US" altLang="ko-KR" i="1" smtClean="0">
                                          <a:solidFill>
                                            <a:schemeClr val="tx1"/>
                                          </a:solidFill>
                                          <a:latin typeface="Cambria Math" panose="02040503050406030204" pitchFamily="18" charset="0"/>
                                        </a:rPr>
                                      </m:ctrlPr>
                                    </m:sSubPr>
                                    <m:e>
                                      <m:r>
                                        <a:rPr lang="en-US" altLang="ko-KR" b="0" i="1" smtClean="0">
                                          <a:solidFill>
                                            <a:schemeClr val="tx1"/>
                                          </a:solidFill>
                                          <a:latin typeface="Cambria Math" panose="02040503050406030204" pitchFamily="18" charset="0"/>
                                        </a:rPr>
                                        <m:t>𝜇</m:t>
                                      </m:r>
                                    </m:e>
                                    <m:sub>
                                      <m:r>
                                        <a:rPr lang="en-US" altLang="ko-KR" b="0" i="1" smtClean="0">
                                          <a:solidFill>
                                            <a:schemeClr val="tx1"/>
                                          </a:solidFill>
                                          <a:latin typeface="Cambria Math" panose="02040503050406030204" pitchFamily="18" charset="0"/>
                                        </a:rPr>
                                        <m:t>𝑐</m:t>
                                      </m:r>
                                    </m:sub>
                                  </m:sSub>
                                </m:e>
                              </m:d>
                            </m:e>
                          </m:groupChr>
                        </m:e>
                        <m:lim>
                          <m:r>
                            <a:rPr lang="en-US" altLang="ko-KR" b="1" i="1" smtClean="0">
                              <a:solidFill>
                                <a:schemeClr val="tx1"/>
                              </a:solidFill>
                              <a:latin typeface="Cambria Math" panose="02040503050406030204" pitchFamily="18" charset="0"/>
                            </a:rPr>
                            <m:t>𝑴𝒂𝒉𝒂𝒍𝒂𝒏𝒐𝒃𝒊𝒔</m:t>
                          </m:r>
                          <m:r>
                            <a:rPr lang="en-US" altLang="ko-KR" b="1" i="1" smtClean="0">
                              <a:solidFill>
                                <a:schemeClr val="tx1"/>
                              </a:solidFill>
                              <a:latin typeface="Cambria Math" panose="02040503050406030204" pitchFamily="18" charset="0"/>
                            </a:rPr>
                            <m:t> </m:t>
                          </m:r>
                          <m:r>
                            <a:rPr lang="en-US" altLang="ko-KR" b="1" i="1" smtClean="0">
                              <a:solidFill>
                                <a:schemeClr val="tx1"/>
                              </a:solidFill>
                              <a:latin typeface="Cambria Math" panose="02040503050406030204" pitchFamily="18" charset="0"/>
                            </a:rPr>
                            <m:t>𝒕𝒆𝒓𝒎</m:t>
                          </m:r>
                        </m:lim>
                      </m:limLow>
                      <m:r>
                        <a:rPr lang="en-US" altLang="ko-KR" b="0" i="1" smtClean="0">
                          <a:solidFill>
                            <a:schemeClr val="tx1"/>
                          </a:solidFill>
                          <a:latin typeface="Cambria Math" panose="02040503050406030204" pitchFamily="18" charset="0"/>
                        </a:rPr>
                        <m:t>    −</m:t>
                      </m:r>
                      <m:limLow>
                        <m:limLowPr>
                          <m:ctrlPr>
                            <a:rPr lang="en-US" altLang="ko-KR" i="1" smtClean="0">
                              <a:solidFill>
                                <a:schemeClr val="tx1"/>
                              </a:solidFill>
                              <a:latin typeface="Cambria Math" panose="02040503050406030204" pitchFamily="18" charset="0"/>
                            </a:rPr>
                          </m:ctrlPr>
                        </m:limLowPr>
                        <m:e>
                          <m:groupChr>
                            <m:groupChrPr>
                              <m:chr m:val="⏟"/>
                              <m:ctrlPr>
                                <a:rPr lang="en-US" altLang="ko-KR" i="1" smtClean="0">
                                  <a:solidFill>
                                    <a:schemeClr val="tx1"/>
                                  </a:solidFill>
                                  <a:latin typeface="Cambria Math" panose="02040503050406030204" pitchFamily="18" charset="0"/>
                                </a:rPr>
                              </m:ctrlPr>
                            </m:groupChrPr>
                            <m:e>
                              <m:f>
                                <m:fPr>
                                  <m:ctrlPr>
                                    <a:rPr lang="en-US" altLang="ko-KR" i="1" smtClean="0">
                                      <a:solidFill>
                                        <a:schemeClr val="tx1"/>
                                      </a:solidFill>
                                      <a:latin typeface="Cambria Math" panose="02040503050406030204" pitchFamily="18" charset="0"/>
                                    </a:rPr>
                                  </m:ctrlPr>
                                </m:fPr>
                                <m:num>
                                  <m:r>
                                    <a:rPr lang="en-US" altLang="ko-KR" b="0" i="1" smtClean="0">
                                      <a:solidFill>
                                        <a:schemeClr val="tx1"/>
                                      </a:solidFill>
                                      <a:latin typeface="Cambria Math" panose="02040503050406030204" pitchFamily="18" charset="0"/>
                                    </a:rPr>
                                    <m:t>1</m:t>
                                  </m:r>
                                </m:num>
                                <m:den>
                                  <m:r>
                                    <a:rPr lang="en-US" altLang="ko-KR" b="0" i="1" smtClean="0">
                                      <a:solidFill>
                                        <a:schemeClr val="tx1"/>
                                      </a:solidFill>
                                      <a:latin typeface="Cambria Math" panose="02040503050406030204" pitchFamily="18" charset="0"/>
                                    </a:rPr>
                                    <m:t>2</m:t>
                                  </m:r>
                                </m:den>
                              </m:f>
                              <m:r>
                                <a:rPr lang="en-US" altLang="ko-KR" b="0" i="1" smtClean="0">
                                  <a:solidFill>
                                    <a:schemeClr val="tx1"/>
                                  </a:solidFill>
                                  <a:latin typeface="Cambria Math" panose="02040503050406030204" pitchFamily="18" charset="0"/>
                                </a:rPr>
                                <m:t>𝑙</m:t>
                              </m:r>
                              <m:r>
                                <a:rPr lang="en-US" altLang="ko-KR" b="0" i="1" smtClean="0">
                                  <a:solidFill>
                                    <a:schemeClr val="tx1"/>
                                  </a:solidFill>
                                  <a:latin typeface="Cambria Math" panose="02040503050406030204" pitchFamily="18" charset="0"/>
                                </a:rPr>
                                <m:t>𝑛</m:t>
                              </m:r>
                              <m:d>
                                <m:dPr>
                                  <m:begChr m:val="|"/>
                                  <m:endChr m:val="|"/>
                                  <m:ctrlPr>
                                    <a:rPr lang="en-US" altLang="ko-KR" i="1" smtClean="0">
                                      <a:solidFill>
                                        <a:schemeClr val="tx1"/>
                                      </a:solidFill>
                                      <a:latin typeface="Cambria Math" panose="02040503050406030204" pitchFamily="18" charset="0"/>
                                    </a:rPr>
                                  </m:ctrlPr>
                                </m:dPr>
                                <m:e>
                                  <m:sSub>
                                    <m:sSubPr>
                                      <m:ctrlPr>
                                        <a:rPr lang="en-US" altLang="ko-KR" i="1" smtClean="0">
                                          <a:solidFill>
                                            <a:schemeClr val="tx1"/>
                                          </a:solidFill>
                                          <a:latin typeface="Cambria Math" panose="02040503050406030204" pitchFamily="18" charset="0"/>
                                        </a:rPr>
                                      </m:ctrlPr>
                                    </m:sSubPr>
                                    <m:e>
                                      <m:r>
                                        <m:rPr>
                                          <m:sty m:val="p"/>
                                        </m:rPr>
                                        <a:rPr lang="en-US" altLang="ko-KR" b="0" i="0" smtClean="0">
                                          <a:solidFill>
                                            <a:schemeClr val="tx1"/>
                                          </a:solidFill>
                                          <a:latin typeface="Cambria Math" panose="02040503050406030204" pitchFamily="18" charset="0"/>
                                        </a:rPr>
                                        <m:t>Σ</m:t>
                                      </m:r>
                                    </m:e>
                                    <m:sub>
                                      <m:r>
                                        <a:rPr lang="en-US" altLang="ko-KR" b="0" i="1" smtClean="0">
                                          <a:solidFill>
                                            <a:schemeClr val="tx1"/>
                                          </a:solidFill>
                                          <a:latin typeface="Cambria Math" panose="02040503050406030204" pitchFamily="18" charset="0"/>
                                        </a:rPr>
                                        <m:t>𝑐</m:t>
                                      </m:r>
                                    </m:sub>
                                  </m:sSub>
                                </m:e>
                              </m:d>
                            </m:e>
                          </m:groupChr>
                        </m:e>
                        <m:lim>
                          <m:r>
                            <a:rPr lang="en-US" altLang="ko-KR" b="1" i="1" smtClean="0">
                              <a:solidFill>
                                <a:schemeClr val="tx1"/>
                              </a:solidFill>
                              <a:latin typeface="Cambria Math" panose="02040503050406030204" pitchFamily="18" charset="0"/>
                            </a:rPr>
                            <m:t>𝑫𝒆𝒕𝒆𝒓𝒎𝒊𝒏𝒂𝒏𝒕</m:t>
                          </m:r>
                          <m:r>
                            <a:rPr lang="en-US" altLang="ko-KR" b="1" i="1" smtClean="0">
                              <a:solidFill>
                                <a:schemeClr val="tx1"/>
                              </a:solidFill>
                              <a:latin typeface="Cambria Math" panose="02040503050406030204" pitchFamily="18" charset="0"/>
                            </a:rPr>
                            <m:t> </m:t>
                          </m:r>
                          <m:r>
                            <a:rPr lang="en-US" altLang="ko-KR" b="1" i="1" smtClean="0">
                              <a:solidFill>
                                <a:schemeClr val="tx1"/>
                              </a:solidFill>
                              <a:latin typeface="Cambria Math" panose="02040503050406030204" pitchFamily="18" charset="0"/>
                            </a:rPr>
                            <m:t>𝒕𝒆𝒓𝒎</m:t>
                          </m:r>
                        </m:lim>
                      </m:limLow>
                      <m:r>
                        <a:rPr lang="en-US" altLang="ko-KR" b="0" i="1" smtClean="0">
                          <a:solidFill>
                            <a:schemeClr val="tx1"/>
                          </a:solidFill>
                          <a:latin typeface="Cambria Math" panose="02040503050406030204" pitchFamily="18" charset="0"/>
                        </a:rPr>
                        <m:t>−    </m:t>
                      </m:r>
                      <m:limLow>
                        <m:limLowPr>
                          <m:ctrlPr>
                            <a:rPr lang="en-US" altLang="ko-KR" i="1" smtClean="0">
                              <a:solidFill>
                                <a:schemeClr val="tx1"/>
                              </a:solidFill>
                              <a:latin typeface="Cambria Math" panose="02040503050406030204" pitchFamily="18" charset="0"/>
                            </a:rPr>
                          </m:ctrlPr>
                        </m:limLowPr>
                        <m:e>
                          <m:groupChr>
                            <m:groupChrPr>
                              <m:chr m:val="⏟"/>
                              <m:ctrlPr>
                                <a:rPr lang="en-US" altLang="ko-KR" i="1" smtClean="0">
                                  <a:solidFill>
                                    <a:schemeClr val="tx1"/>
                                  </a:solidFill>
                                  <a:latin typeface="Cambria Math" panose="02040503050406030204" pitchFamily="18" charset="0"/>
                                </a:rPr>
                              </m:ctrlPr>
                            </m:groupChrPr>
                            <m:e>
                              <m:f>
                                <m:fPr>
                                  <m:ctrlPr>
                                    <a:rPr lang="en-US" altLang="ko-KR" i="1" smtClean="0">
                                      <a:solidFill>
                                        <a:schemeClr val="tx1"/>
                                      </a:solidFill>
                                      <a:latin typeface="Cambria Math" panose="02040503050406030204" pitchFamily="18" charset="0"/>
                                    </a:rPr>
                                  </m:ctrlPr>
                                </m:fPr>
                                <m:num>
                                  <m:r>
                                    <a:rPr lang="en-US" altLang="ko-KR" b="0" i="1" smtClean="0">
                                      <a:solidFill>
                                        <a:schemeClr val="tx1"/>
                                      </a:solidFill>
                                      <a:latin typeface="Cambria Math" panose="02040503050406030204" pitchFamily="18" charset="0"/>
                                    </a:rPr>
                                    <m:t>𝑑</m:t>
                                  </m:r>
                                </m:num>
                                <m:den>
                                  <m:r>
                                    <a:rPr lang="en-US" altLang="ko-KR" b="0" i="1" smtClean="0">
                                      <a:solidFill>
                                        <a:schemeClr val="tx1"/>
                                      </a:solidFill>
                                      <a:latin typeface="Cambria Math" panose="02040503050406030204" pitchFamily="18" charset="0"/>
                                    </a:rPr>
                                    <m:t>2</m:t>
                                  </m:r>
                                </m:den>
                              </m:f>
                              <m:r>
                                <a:rPr lang="en-US" altLang="ko-KR" b="0" i="1" smtClean="0">
                                  <a:solidFill>
                                    <a:schemeClr val="tx1"/>
                                  </a:solidFill>
                                  <a:latin typeface="Cambria Math" panose="02040503050406030204" pitchFamily="18" charset="0"/>
                                </a:rPr>
                                <m:t>𝑙</m:t>
                              </m:r>
                              <m:r>
                                <a:rPr lang="en-US" altLang="ko-KR" b="0" i="1" smtClean="0">
                                  <a:solidFill>
                                    <a:schemeClr val="tx1"/>
                                  </a:solidFill>
                                  <a:latin typeface="Cambria Math" panose="02040503050406030204" pitchFamily="18" charset="0"/>
                                </a:rPr>
                                <m:t>𝑛</m:t>
                              </m:r>
                              <m:r>
                                <a:rPr lang="en-US" altLang="ko-KR" b="0" i="1" smtClean="0">
                                  <a:solidFill>
                                    <a:schemeClr val="tx1"/>
                                  </a:solidFill>
                                  <a:latin typeface="Cambria Math" panose="02040503050406030204" pitchFamily="18" charset="0"/>
                                </a:rPr>
                                <m:t>(</m:t>
                              </m:r>
                              <m:r>
                                <a:rPr lang="en-US" altLang="ko-KR" b="0" i="1" smtClean="0">
                                  <a:solidFill>
                                    <a:schemeClr val="tx1"/>
                                  </a:solidFill>
                                  <a:latin typeface="Cambria Math" panose="02040503050406030204" pitchFamily="18" charset="0"/>
                                </a:rPr>
                                <m:t>2</m:t>
                              </m:r>
                              <m:r>
                                <a:rPr lang="en-US" altLang="ko-KR" b="0" i="1" smtClean="0">
                                  <a:solidFill>
                                    <a:schemeClr val="tx1"/>
                                  </a:solidFill>
                                  <a:latin typeface="Cambria Math" panose="02040503050406030204" pitchFamily="18" charset="0"/>
                                </a:rPr>
                                <m:t>𝜋</m:t>
                              </m:r>
                              <m:r>
                                <a:rPr lang="en-US" altLang="ko-KR" b="0" i="1" smtClean="0">
                                  <a:solidFill>
                                    <a:schemeClr val="tx1"/>
                                  </a:solidFill>
                                  <a:latin typeface="Cambria Math" panose="02040503050406030204" pitchFamily="18" charset="0"/>
                                </a:rPr>
                                <m:t>)</m:t>
                              </m:r>
                            </m:e>
                          </m:groupChr>
                        </m:e>
                        <m:lim>
                          <m:r>
                            <a:rPr lang="en-US" altLang="ko-KR" b="1" i="1" smtClean="0">
                              <a:solidFill>
                                <a:schemeClr val="tx1"/>
                              </a:solidFill>
                              <a:latin typeface="Cambria Math" panose="02040503050406030204" pitchFamily="18" charset="0"/>
                            </a:rPr>
                            <m:t>𝑪𝒐𝒏𝒔𝒕𝒂𝒏𝒕</m:t>
                          </m:r>
                          <m:r>
                            <a:rPr lang="en-US" altLang="ko-KR" b="1" i="1" smtClean="0">
                              <a:solidFill>
                                <a:schemeClr val="tx1"/>
                              </a:solidFill>
                              <a:latin typeface="Cambria Math" panose="02040503050406030204" pitchFamily="18" charset="0"/>
                            </a:rPr>
                            <m:t> </m:t>
                          </m:r>
                          <m:r>
                            <a:rPr lang="en-US" altLang="ko-KR" b="1" i="1" smtClean="0">
                              <a:solidFill>
                                <a:schemeClr val="tx1"/>
                              </a:solidFill>
                              <a:latin typeface="Cambria Math" panose="02040503050406030204" pitchFamily="18" charset="0"/>
                            </a:rPr>
                            <m:t>𝒕𝒆𝒓𝒎</m:t>
                          </m:r>
                        </m:lim>
                      </m:limLow>
                    </m:oMath>
                  </m:oMathPara>
                </a14:m>
                <a:endParaRPr lang="en-US" altLang="ko-KR" sz="1800" i="1" kern="100" dirty="0">
                  <a:effectLst/>
                  <a:latin typeface="Cambria Math" panose="02040503050406030204" pitchFamily="18" charset="0"/>
                  <a:ea typeface="맑은 고딕" panose="020B0503020000020004" pitchFamily="50" charset="-127"/>
                  <a:cs typeface="Times New Roman" panose="02020603050405020304" pitchFamily="18" charset="0"/>
                </a:endParaRPr>
              </a:p>
              <a:p>
                <a:pPr latinLnBrk="1"/>
                <a:endParaRPr lang="en-US" altLang="ko-KR" dirty="0"/>
              </a:p>
              <a:p>
                <a:pPr marL="285750" indent="-285750" latinLnBrk="1">
                  <a:buFont typeface="Arial" panose="020B0604020202020204" pitchFamily="34" charset="0"/>
                  <a:buChar char="•"/>
                </a:pPr>
                <a:r>
                  <a:rPr lang="en-US" altLang="ko-KR" dirty="0"/>
                  <a:t>The </a:t>
                </a:r>
                <a:r>
                  <a:rPr lang="en-US" altLang="ko-KR" b="1" dirty="0" err="1"/>
                  <a:t>Mahalanobis</a:t>
                </a:r>
                <a:r>
                  <a:rPr lang="en-US" altLang="ko-KR" b="1" dirty="0"/>
                  <a:t> term</a:t>
                </a:r>
                <a:r>
                  <a:rPr lang="en-US" altLang="ko-KR" dirty="0"/>
                  <a:t> represents the normalized distance to the class center </a:t>
                </a:r>
                <a14:m>
                  <m:oMath xmlns:m="http://schemas.openxmlformats.org/officeDocument/2006/math">
                    <m:sSub>
                      <m:sSubPr>
                        <m:ctrlPr>
                          <a:rPr lang="ar-AE" altLang="ko-KR" i="1">
                            <a:latin typeface="Cambria Math" panose="02040503050406030204" pitchFamily="18" charset="0"/>
                          </a:rPr>
                        </m:ctrlPr>
                      </m:sSubPr>
                      <m:e>
                        <m:r>
                          <a:rPr lang="ko-KR" altLang="ar-AE" i="1">
                            <a:latin typeface="Cambria Math" panose="02040503050406030204" pitchFamily="18" charset="0"/>
                          </a:rPr>
                          <m:t>𝜇</m:t>
                        </m:r>
                      </m:e>
                      <m:sub>
                        <m:r>
                          <a:rPr lang="ko-KR" altLang="ar-AE" i="1">
                            <a:latin typeface="Cambria Math" panose="02040503050406030204" pitchFamily="18" charset="0"/>
                          </a:rPr>
                          <m:t>𝑐</m:t>
                        </m:r>
                      </m:sub>
                    </m:sSub>
                  </m:oMath>
                </a14:m>
                <a:r>
                  <a:rPr lang="ar-AE" altLang="ko-KR" dirty="0"/>
                  <a:t>; </a:t>
                </a:r>
                <a:r>
                  <a:rPr lang="en-US" altLang="ko-KR" dirty="0"/>
                  <a:t>if an eigenvalue of the inverse covariance </a:t>
                </a:r>
                <a14:m>
                  <m:oMath xmlns:m="http://schemas.openxmlformats.org/officeDocument/2006/math">
                    <m:sSubSup>
                      <m:sSubSupPr>
                        <m:ctrlPr>
                          <a:rPr lang="ar-AE" altLang="ko-KR" i="1">
                            <a:latin typeface="Cambria Math" panose="02040503050406030204" pitchFamily="18" charset="0"/>
                          </a:rPr>
                        </m:ctrlPr>
                      </m:sSubSupPr>
                      <m:e>
                        <m:r>
                          <m:rPr>
                            <m:sty m:val="p"/>
                          </m:rPr>
                          <a:rPr lang="el-GR" altLang="ko-KR">
                            <a:latin typeface="Cambria Math" panose="02040503050406030204" pitchFamily="18" charset="0"/>
                          </a:rPr>
                          <m:t>Σ</m:t>
                        </m:r>
                      </m:e>
                      <m:sub>
                        <m:r>
                          <a:rPr lang="ko-KR" altLang="ar-AE" i="1">
                            <a:latin typeface="Cambria Math" panose="02040503050406030204" pitchFamily="18" charset="0"/>
                          </a:rPr>
                          <m:t>𝑐</m:t>
                        </m:r>
                      </m:sub>
                      <m:sup>
                        <m:r>
                          <a:rPr lang="ar-AE" altLang="ko-KR">
                            <a:latin typeface="Cambria Math" panose="02040503050406030204" pitchFamily="18" charset="0"/>
                          </a:rPr>
                          <m:t>−</m:t>
                        </m:r>
                        <m:r>
                          <a:rPr lang="ar-AE" altLang="ko-KR">
                            <a:latin typeface="Cambria Math" panose="02040503050406030204" pitchFamily="18" charset="0"/>
                          </a:rPr>
                          <m:t>1</m:t>
                        </m:r>
                      </m:sup>
                    </m:sSubSup>
                  </m:oMath>
                </a14:m>
                <a:r>
                  <a:rPr lang="en-US" altLang="ko-KR" dirty="0"/>
                  <a:t>is large, deviations in that direction incur a much larger penalty.</a:t>
                </a:r>
              </a:p>
              <a:p>
                <a:pPr marL="285750" indent="-285750" latinLnBrk="1">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latinLnBrk="1">
                  <a:buFont typeface="Arial" panose="020B0604020202020204" pitchFamily="34" charset="0"/>
                  <a:buChar char="•"/>
                </a:pPr>
                <a:r>
                  <a:rPr lang="en-US" altLang="ko-KR" dirty="0"/>
                  <a:t>In the </a:t>
                </a:r>
                <a:r>
                  <a:rPr lang="en-US" altLang="ko-KR" b="1" dirty="0"/>
                  <a:t>Determinant term</a:t>
                </a:r>
                <a:r>
                  <a:rPr lang="en-US" altLang="ko-KR" dirty="0"/>
                  <a:t>, </a:t>
                </a:r>
                <a14:m>
                  <m:oMath xmlns:m="http://schemas.openxmlformats.org/officeDocument/2006/math">
                    <m:r>
                      <a:rPr lang="en-US" altLang="ko-KR">
                        <a:latin typeface="Cambria Math" panose="02040503050406030204" pitchFamily="18" charset="0"/>
                      </a:rPr>
                      <m:t>∣</m:t>
                    </m:r>
                    <m:sSub>
                      <m:sSubPr>
                        <m:ctrlPr>
                          <a:rPr lang="ar-AE" altLang="ko-KR" i="1">
                            <a:latin typeface="Cambria Math" panose="02040503050406030204" pitchFamily="18" charset="0"/>
                          </a:rPr>
                        </m:ctrlPr>
                      </m:sSubPr>
                      <m:e>
                        <m:r>
                          <m:rPr>
                            <m:sty m:val="p"/>
                          </m:rPr>
                          <a:rPr lang="el-GR" altLang="ko-KR">
                            <a:latin typeface="Cambria Math" panose="02040503050406030204" pitchFamily="18" charset="0"/>
                          </a:rPr>
                          <m:t>Σ</m:t>
                        </m:r>
                      </m:e>
                      <m:sub>
                        <m:r>
                          <a:rPr lang="ko-KR" altLang="ar-AE" i="1">
                            <a:latin typeface="Cambria Math" panose="02040503050406030204" pitchFamily="18" charset="0"/>
                          </a:rPr>
                          <m:t>𝑐</m:t>
                        </m:r>
                      </m:sub>
                    </m:sSub>
                    <m:r>
                      <a:rPr lang="ar-AE" altLang="ko-KR">
                        <a:latin typeface="Cambria Math" panose="02040503050406030204" pitchFamily="18" charset="0"/>
                      </a:rPr>
                      <m:t>∣</m:t>
                    </m:r>
                    <m:r>
                      <a:rPr lang="en-US" altLang="ko-KR" b="0" i="0" smtClean="0">
                        <a:latin typeface="Cambria Math" panose="02040503050406030204" pitchFamily="18" charset="0"/>
                      </a:rPr>
                      <m:t> </m:t>
                    </m:r>
                  </m:oMath>
                </a14:m>
                <a:r>
                  <a:rPr lang="en-US" altLang="ko-KR" dirty="0"/>
                  <a:t>measures the volume of the class-specific feature cloud and is independent of the test feature </a:t>
                </a:r>
                <a14:m>
                  <m:oMath xmlns:m="http://schemas.openxmlformats.org/officeDocument/2006/math">
                    <m:r>
                      <a:rPr lang="ko-KR" altLang="en-US" i="1">
                        <a:latin typeface="Cambria Math" panose="02040503050406030204" pitchFamily="18" charset="0"/>
                      </a:rPr>
                      <m:t>𝑧</m:t>
                    </m:r>
                  </m:oMath>
                </a14:m>
                <a:r>
                  <a:rPr lang="en-US" altLang="ko-KR" dirty="0"/>
                  <a:t>.</a:t>
                </a:r>
              </a:p>
              <a:p>
                <a:pPr marL="285750" indent="-285750" latinLnBrk="1">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latinLnBrk="1">
                  <a:buFont typeface="Arial" panose="020B0604020202020204" pitchFamily="34" charset="0"/>
                  <a:buChar char="•"/>
                </a:pPr>
                <a:r>
                  <a:rPr lang="en-US" altLang="ko-KR" dirty="0"/>
                  <a:t>The </a:t>
                </a:r>
                <a:r>
                  <a:rPr lang="en-US" altLang="ko-KR" b="1" dirty="0"/>
                  <a:t>Constant term</a:t>
                </a:r>
                <a:r>
                  <a:rPr lang="en-US" altLang="ko-KR" dirty="0"/>
                  <a:t> is identical across all classes and does not influence the OOD score in DDU.</a:t>
                </a:r>
                <a:endParaRPr lang="en-US" altLang="ko-KR" dirty="0">
                  <a:latin typeface="Cambria Math" panose="02040503050406030204" pitchFamily="18" charset="0"/>
                </a:endParaRPr>
              </a:p>
            </p:txBody>
          </p:sp>
        </mc:Choice>
        <mc:Fallback>
          <p:sp>
            <p:nvSpPr>
              <p:cNvPr id="28" name="TextBox 27">
                <a:extLst>
                  <a:ext uri="{FF2B5EF4-FFF2-40B4-BE49-F238E27FC236}">
                    <a16:creationId xmlns:a16="http://schemas.microsoft.com/office/drawing/2014/main" id="{AB320BC5-8F98-3CB7-A3DD-361EAB092D21}"/>
                  </a:ext>
                </a:extLst>
              </p:cNvPr>
              <p:cNvSpPr txBox="1">
                <a:spLocks noRot="1" noChangeAspect="1" noMove="1" noResize="1" noEditPoints="1" noAdjustHandles="1" noChangeArrowheads="1" noChangeShapeType="1" noTextEdit="1"/>
              </p:cNvSpPr>
              <p:nvPr/>
            </p:nvSpPr>
            <p:spPr>
              <a:xfrm>
                <a:off x="199224" y="16917141"/>
                <a:ext cx="10011682" cy="5585503"/>
              </a:xfrm>
              <a:prstGeom prst="rect">
                <a:avLst/>
              </a:prstGeom>
              <a:blipFill>
                <a:blip r:embed="rId11"/>
                <a:stretch>
                  <a:fillRect l="-670" t="-546" r="-548" b="-873"/>
                </a:stretch>
              </a:blipFill>
              <a:ln>
                <a:noFill/>
              </a:ln>
            </p:spPr>
            <p:txBody>
              <a:bodyPr/>
              <a:lstStyle/>
              <a:p>
                <a:r>
                  <a:rPr lang="ko-KR" altLang="en-US">
                    <a:noFill/>
                  </a:rPr>
                  <a:t> </a:t>
                </a:r>
              </a:p>
            </p:txBody>
          </p:sp>
        </mc:Fallback>
      </mc:AlternateContent>
      <p:sp>
        <p:nvSpPr>
          <p:cNvPr id="39" name="직사각형 38">
            <a:extLst>
              <a:ext uri="{FF2B5EF4-FFF2-40B4-BE49-F238E27FC236}">
                <a16:creationId xmlns:a16="http://schemas.microsoft.com/office/drawing/2014/main" id="{FC99E1A4-E4A0-6C51-0F88-56E84A508C6C}"/>
              </a:ext>
            </a:extLst>
          </p:cNvPr>
          <p:cNvSpPr/>
          <p:nvPr/>
        </p:nvSpPr>
        <p:spPr>
          <a:xfrm>
            <a:off x="253284" y="22476877"/>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Impact of SAM </a:t>
            </a:r>
            <a:r>
              <a:rPr lang="en-US" altLang="ko-KR" sz="3400" b="1" dirty="0" err="1"/>
              <a:t>Isotropization</a:t>
            </a:r>
            <a:endParaRPr lang="en-US" altLang="ko-KR" sz="3400" b="1"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90D708C-11A7-5BA5-F2C3-FE88A963CC40}"/>
                  </a:ext>
                </a:extLst>
              </p:cNvPr>
              <p:cNvSpPr txBox="1"/>
              <p:nvPr/>
            </p:nvSpPr>
            <p:spPr>
              <a:xfrm>
                <a:off x="248312" y="25479492"/>
                <a:ext cx="10211636" cy="3416320"/>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altLang="ko-KR" dirty="0"/>
                  <a:t>Because </a:t>
                </a:r>
                <a:r>
                  <a:rPr lang="en-US" altLang="ko-KR" dirty="0" err="1"/>
                  <a:t>kNN</a:t>
                </a:r>
                <a:r>
                  <a:rPr lang="en-US" altLang="ko-KR" dirty="0"/>
                  <a:t> relies purely on L2 distances, it is sensitive only to scale changes and is relatively robust to shifts in anisotropy induced by SAM.</a:t>
                </a:r>
              </a:p>
              <a:p>
                <a:pPr algn="just"/>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dirty="0" err="1"/>
                  <a:t>Mahalanobis</a:t>
                </a:r>
                <a:r>
                  <a:rPr lang="en-US" altLang="ko-KR" dirty="0"/>
                  <a:t> distance assumes a shared covariance across all classes. When SAM preserves inter-class mean distances while reducing intra-class anisotropy, this shared-covariance assumption becomes more accurate, potentially making </a:t>
                </a:r>
                <a:r>
                  <a:rPr lang="en-US" altLang="ko-KR" dirty="0" err="1"/>
                  <a:t>Mahalanobis</a:t>
                </a:r>
                <a:r>
                  <a:rPr lang="en-US" altLang="ko-KR" dirty="0"/>
                  <a:t> scoring more stable..</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dirty="0"/>
                  <a:t>DDU directly uses class-specific covariances </a:t>
                </a:r>
                <a14:m>
                  <m:oMath xmlns:m="http://schemas.openxmlformats.org/officeDocument/2006/math">
                    <m:sSub>
                      <m:sSubPr>
                        <m:ctrlPr>
                          <a:rPr lang="ar-AE" altLang="ko-KR" i="1">
                            <a:latin typeface="Cambria Math" panose="02040503050406030204" pitchFamily="18" charset="0"/>
                          </a:rPr>
                        </m:ctrlPr>
                      </m:sSubPr>
                      <m:e>
                        <m:r>
                          <m:rPr>
                            <m:sty m:val="p"/>
                          </m:rPr>
                          <a:rPr lang="el-GR" altLang="ko-KR">
                            <a:latin typeface="Cambria Math" panose="02040503050406030204" pitchFamily="18" charset="0"/>
                          </a:rPr>
                          <m:t>Σ</m:t>
                        </m:r>
                      </m:e>
                      <m:sub>
                        <m:r>
                          <a:rPr lang="ko-KR" altLang="ar-AE" i="1">
                            <a:latin typeface="Cambria Math" panose="02040503050406030204" pitchFamily="18" charset="0"/>
                          </a:rPr>
                          <m:t>𝑐</m:t>
                        </m:r>
                      </m:sub>
                    </m:sSub>
                  </m:oMath>
                </a14:m>
                <a:r>
                  <a:rPr lang="ar-AE" altLang="ko-KR" dirty="0"/>
                  <a:t>, </a:t>
                </a:r>
                <a:r>
                  <a:rPr lang="en-US" altLang="ko-KR" dirty="0"/>
                  <a:t>making it the most sensitive to SAM-induced </a:t>
                </a:r>
                <a:r>
                  <a:rPr lang="en-US" altLang="ko-KR" dirty="0" err="1"/>
                  <a:t>isotropization</a:t>
                </a:r>
                <a:r>
                  <a:rPr lang="en-US" altLang="ko-KR" dirty="0"/>
                  <a:t>. Under SGD, strong anisotropy produces very small eigenvalues in </a:t>
                </a:r>
                <a14:m>
                  <m:oMath xmlns:m="http://schemas.openxmlformats.org/officeDocument/2006/math">
                    <m:sSub>
                      <m:sSubPr>
                        <m:ctrlPr>
                          <a:rPr lang="ar-AE" altLang="ko-KR" i="1">
                            <a:latin typeface="Cambria Math" panose="02040503050406030204" pitchFamily="18" charset="0"/>
                          </a:rPr>
                        </m:ctrlPr>
                      </m:sSubPr>
                      <m:e>
                        <m:r>
                          <m:rPr>
                            <m:sty m:val="p"/>
                          </m:rPr>
                          <a:rPr lang="el-GR" altLang="ko-KR">
                            <a:latin typeface="Cambria Math" panose="02040503050406030204" pitchFamily="18" charset="0"/>
                          </a:rPr>
                          <m:t>Σ</m:t>
                        </m:r>
                      </m:e>
                      <m:sub>
                        <m:r>
                          <a:rPr lang="ko-KR" altLang="ar-AE" i="1">
                            <a:latin typeface="Cambria Math" panose="02040503050406030204" pitchFamily="18" charset="0"/>
                          </a:rPr>
                          <m:t>𝑐</m:t>
                        </m:r>
                      </m:sub>
                    </m:sSub>
                  </m:oMath>
                </a14:m>
                <a:r>
                  <a:rPr lang="ar-AE" altLang="ko-KR" dirty="0"/>
                  <a:t>, </a:t>
                </a:r>
                <a:r>
                  <a:rPr lang="en-US" altLang="ko-KR" dirty="0"/>
                  <a:t>enabling sharp </a:t>
                </a:r>
                <a:r>
                  <a:rPr lang="en-US" altLang="ko-KR" dirty="0" err="1"/>
                  <a:t>Mahalanobis</a:t>
                </a:r>
                <a:r>
                  <a:rPr lang="en-US" altLang="ko-KR" dirty="0"/>
                  <a:t> penalties along narrow feature directions and allowing robust separation of near-OOD samples. SAM, however, enlarges these small eigenvalues, weakening those penalties and increasing the risk that boundary OOD samples are absorbed into the ID region.</a:t>
                </a:r>
              </a:p>
            </p:txBody>
          </p:sp>
        </mc:Choice>
        <mc:Fallback xmlns="">
          <p:sp>
            <p:nvSpPr>
              <p:cNvPr id="44" name="TextBox 43">
                <a:extLst>
                  <a:ext uri="{FF2B5EF4-FFF2-40B4-BE49-F238E27FC236}">
                    <a16:creationId xmlns:a16="http://schemas.microsoft.com/office/drawing/2014/main" id="{490D708C-11A7-5BA5-F2C3-FE88A963CC40}"/>
                  </a:ext>
                </a:extLst>
              </p:cNvPr>
              <p:cNvSpPr txBox="1">
                <a:spLocks noRot="1" noChangeAspect="1" noMove="1" noResize="1" noEditPoints="1" noAdjustHandles="1" noChangeArrowheads="1" noChangeShapeType="1" noTextEdit="1"/>
              </p:cNvSpPr>
              <p:nvPr/>
            </p:nvSpPr>
            <p:spPr>
              <a:xfrm>
                <a:off x="248312" y="25479492"/>
                <a:ext cx="10211636" cy="3416320"/>
              </a:xfrm>
              <a:prstGeom prst="rect">
                <a:avLst/>
              </a:prstGeom>
              <a:blipFill>
                <a:blip r:embed="rId12"/>
                <a:stretch>
                  <a:fillRect l="-418" t="-1071" r="-478" b="-1964"/>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49" name="표 48">
                <a:extLst>
                  <a:ext uri="{FF2B5EF4-FFF2-40B4-BE49-F238E27FC236}">
                    <a16:creationId xmlns:a16="http://schemas.microsoft.com/office/drawing/2014/main" id="{CC951450-E179-8B2B-2006-3597FF2FBD70}"/>
                  </a:ext>
                </a:extLst>
              </p:cNvPr>
              <p:cNvGraphicFramePr>
                <a:graphicFrameLocks noGrp="1"/>
              </p:cNvGraphicFramePr>
              <p:nvPr>
                <p:extLst>
                  <p:ext uri="{D42A27DB-BD31-4B8C-83A1-F6EECF244321}">
                    <p14:modId xmlns:p14="http://schemas.microsoft.com/office/powerpoint/2010/main" val="2998041533"/>
                  </p:ext>
                </p:extLst>
              </p:nvPr>
            </p:nvGraphicFramePr>
            <p:xfrm>
              <a:off x="253284" y="23193492"/>
              <a:ext cx="10300438" cy="2286000"/>
            </p:xfrm>
            <a:graphic>
              <a:graphicData uri="http://schemas.openxmlformats.org/drawingml/2006/table">
                <a:tbl>
                  <a:tblPr firstRow="1" bandRow="1">
                    <a:tableStyleId>{5C22544A-7EE6-4342-B048-85BDC9FD1C3A}</a:tableStyleId>
                  </a:tblPr>
                  <a:tblGrid>
                    <a:gridCol w="1621054">
                      <a:extLst>
                        <a:ext uri="{9D8B030D-6E8A-4147-A177-3AD203B41FA5}">
                          <a16:colId xmlns:a16="http://schemas.microsoft.com/office/drawing/2014/main" val="3877342326"/>
                        </a:ext>
                      </a:extLst>
                    </a:gridCol>
                    <a:gridCol w="8679384">
                      <a:extLst>
                        <a:ext uri="{9D8B030D-6E8A-4147-A177-3AD203B41FA5}">
                          <a16:colId xmlns:a16="http://schemas.microsoft.com/office/drawing/2014/main" val="3812952972"/>
                        </a:ext>
                      </a:extLst>
                    </a:gridCol>
                  </a:tblGrid>
                  <a:tr h="330201">
                    <a:tc>
                      <a:txBody>
                        <a:bodyPr/>
                        <a:lstStyle/>
                        <a:p>
                          <a:pPr marL="0" algn="ctr" defTabSz="2138324" rtl="0" eaLnBrk="1" latinLnBrk="1" hangingPunct="1"/>
                          <a:r>
                            <a:rPr lang="en-US" altLang="ko-KR" sz="1800" b="1" kern="1200" dirty="0">
                              <a:solidFill>
                                <a:schemeClr val="lt1"/>
                              </a:solidFill>
                              <a:latin typeface="+mn-lt"/>
                              <a:ea typeface="+mn-ea"/>
                              <a:cs typeface="+mn-cs"/>
                            </a:rPr>
                            <a:t>Method</a:t>
                          </a:r>
                          <a:endParaRPr lang="ko-KR" altLang="en-US" sz="1800" b="1" kern="1200" dirty="0">
                            <a:solidFill>
                              <a:schemeClr val="lt1"/>
                            </a:solidFill>
                            <a:latin typeface="+mn-lt"/>
                            <a:ea typeface="+mn-ea"/>
                            <a:cs typeface="+mn-cs"/>
                          </a:endParaRPr>
                        </a:p>
                      </a:txBody>
                      <a:tcPr/>
                    </a:tc>
                    <a:tc>
                      <a:txBody>
                        <a:bodyPr/>
                        <a:lstStyle/>
                        <a:p>
                          <a:pPr marL="0" algn="ctr" defTabSz="2138324" rtl="0" eaLnBrk="1" latinLnBrk="1" hangingPunct="1"/>
                          <a:r>
                            <a:rPr lang="en-US" sz="1800" b="1" kern="1200" dirty="0">
                              <a:solidFill>
                                <a:schemeClr val="lt1"/>
                              </a:solidFill>
                              <a:latin typeface="+mn-lt"/>
                              <a:ea typeface="+mn-ea"/>
                              <a:cs typeface="+mn-cs"/>
                            </a:rPr>
                            <a:t>Impact of SAM </a:t>
                          </a:r>
                          <a:r>
                            <a:rPr lang="en-US" sz="1800" b="1" kern="1200" dirty="0" err="1">
                              <a:solidFill>
                                <a:schemeClr val="lt1"/>
                              </a:solidFill>
                              <a:latin typeface="+mn-lt"/>
                              <a:ea typeface="+mn-ea"/>
                              <a:cs typeface="+mn-cs"/>
                            </a:rPr>
                            <a:t>Isotropization</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399137591"/>
                      </a:ext>
                    </a:extLst>
                  </a:tr>
                  <a:tr h="448733">
                    <a:tc>
                      <a:txBody>
                        <a:bodyPr/>
                        <a:lstStyle/>
                        <a:p>
                          <a:pPr algn="ctr"/>
                          <a:r>
                            <a:rPr lang="en-US" sz="1800" kern="1200" dirty="0" err="1">
                              <a:solidFill>
                                <a:schemeClr val="dk1"/>
                              </a:solidFill>
                              <a:latin typeface="+mn-lt"/>
                              <a:ea typeface="+mn-ea"/>
                              <a:cs typeface="+mn-cs"/>
                            </a:rPr>
                            <a:t>kNN</a:t>
                          </a:r>
                          <a:endParaRPr lang="en-US" sz="1800" kern="1200" dirty="0">
                            <a:solidFill>
                              <a:schemeClr val="dk1"/>
                            </a:solidFill>
                            <a:latin typeface="+mn-lt"/>
                            <a:ea typeface="+mn-ea"/>
                            <a:cs typeface="+mn-cs"/>
                          </a:endParaRPr>
                        </a:p>
                      </a:txBody>
                      <a:tcPr anchor="ctr"/>
                    </a:tc>
                    <a:tc>
                      <a:txBody>
                        <a:bodyPr/>
                        <a:lstStyle/>
                        <a:p>
                          <a:pPr algn="l"/>
                          <a:r>
                            <a:rPr lang="en-US" altLang="ko-KR" sz="1800" dirty="0"/>
                            <a:t>Non-parametric, distance-based methods are relatively insensitive to changes in anisotropy, minimizing their dependence on feature geometry.</a:t>
                          </a:r>
                        </a:p>
                      </a:txBody>
                      <a:tcPr/>
                    </a:tc>
                    <a:extLst>
                      <a:ext uri="{0D108BD9-81ED-4DB2-BD59-A6C34878D82A}">
                        <a16:rowId xmlns:a16="http://schemas.microsoft.com/office/drawing/2014/main" val="2465178322"/>
                      </a:ext>
                    </a:extLst>
                  </a:tr>
                  <a:tr h="448733">
                    <a:tc>
                      <a:txBody>
                        <a:bodyPr/>
                        <a:lstStyle/>
                        <a:p>
                          <a:pPr marL="0" algn="ctr" defTabSz="2138324" rtl="0" eaLnBrk="1" latinLnBrk="1" hangingPunct="1"/>
                          <a:r>
                            <a:rPr lang="en-US" sz="1800" kern="1200" dirty="0" err="1">
                              <a:solidFill>
                                <a:schemeClr val="dk1"/>
                              </a:solidFill>
                              <a:latin typeface="+mn-lt"/>
                              <a:ea typeface="+mn-ea"/>
                              <a:cs typeface="+mn-cs"/>
                            </a:rPr>
                            <a:t>Mahalanobis</a:t>
                          </a:r>
                          <a:endParaRPr lang="en-US" sz="1800" kern="1200" dirty="0">
                            <a:solidFill>
                              <a:schemeClr val="dk1"/>
                            </a:solidFill>
                            <a:latin typeface="+mn-lt"/>
                            <a:ea typeface="+mn-ea"/>
                            <a:cs typeface="+mn-cs"/>
                          </a:endParaRPr>
                        </a:p>
                      </a:txBody>
                      <a:tcPr anchor="ctr"/>
                    </a:tc>
                    <a:tc>
                      <a:txBody>
                        <a:bodyPr/>
                        <a:lstStyle/>
                        <a:p>
                          <a:pPr algn="l" latinLnBrk="1"/>
                          <a:r>
                            <a:rPr lang="en-US" altLang="ko-KR" sz="1800" dirty="0"/>
                            <a:t>Reduced anisotropy strengthens the assumption of a shared covariance </a:t>
                          </a:r>
                          <a14:m>
                            <m:oMath xmlns:m="http://schemas.openxmlformats.org/officeDocument/2006/math">
                              <m:r>
                                <m:rPr>
                                  <m:sty m:val="p"/>
                                </m:rPr>
                                <a:rPr lang="en-US" altLang="ko-KR" sz="1800" smtClean="0">
                                  <a:latin typeface="Cambria Math" panose="02040503050406030204" pitchFamily="18" charset="0"/>
                                </a:rPr>
                                <m:t>Σ</m:t>
                              </m:r>
                            </m:oMath>
                          </a14:m>
                          <a:r>
                            <a:rPr lang="en-US" altLang="ko-KR" sz="1800" dirty="0"/>
                            <a:t>, potentially stabilizing or improving performance.</a:t>
                          </a:r>
                          <a:endParaRPr lang="ko-KR" altLang="en-US" sz="1800" dirty="0"/>
                        </a:p>
                      </a:txBody>
                      <a:tcPr/>
                    </a:tc>
                    <a:extLst>
                      <a:ext uri="{0D108BD9-81ED-4DB2-BD59-A6C34878D82A}">
                        <a16:rowId xmlns:a16="http://schemas.microsoft.com/office/drawing/2014/main" val="1456079378"/>
                      </a:ext>
                    </a:extLst>
                  </a:tr>
                  <a:tr h="448733">
                    <a:tc>
                      <a:txBody>
                        <a:bodyPr/>
                        <a:lstStyle/>
                        <a:p>
                          <a:pPr algn="ctr"/>
                          <a:r>
                            <a:rPr lang="en-US" sz="1800" kern="1200" dirty="0">
                              <a:solidFill>
                                <a:schemeClr val="dk1"/>
                              </a:solidFill>
                              <a:latin typeface="+mn-lt"/>
                              <a:ea typeface="+mn-ea"/>
                              <a:cs typeface="+mn-cs"/>
                            </a:rPr>
                            <a:t>DDU</a:t>
                          </a:r>
                        </a:p>
                      </a:txBody>
                      <a:tcPr anchor="ctr"/>
                    </a:tc>
                    <a:tc>
                      <a:txBody>
                        <a:bodyPr/>
                        <a:lstStyle/>
                        <a:p>
                          <a:pPr algn="l"/>
                          <a:r>
                            <a:rPr lang="en-US" altLang="ko-KR" sz="1800" dirty="0"/>
                            <a:t>Decreasing anisotropy increases the small eigenvalues of class-specific covariances </a:t>
                          </a:r>
                          <a14:m>
                            <m:oMath xmlns:m="http://schemas.openxmlformats.org/officeDocument/2006/math">
                              <m:sSub>
                                <m:sSubPr>
                                  <m:ctrlPr>
                                    <a:rPr lang="ko-KR" altLang="ko-KR" sz="18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ko-KR" altLang="ko-KR" sz="1800" kern="100">
                                      <a:latin typeface="Cambria Math" panose="02040503050406030204" pitchFamily="18" charset="0"/>
                                      <a:cs typeface="Times New Roman" panose="02020603050405020304" pitchFamily="18" charset="0"/>
                                    </a:rPr>
                                    <m:t>Σ</m:t>
                                  </m:r>
                                </m:e>
                                <m:sub>
                                  <m:r>
                                    <a:rPr lang="en-US" altLang="ko-KR" sz="1800" i="1" kern="100">
                                      <a:latin typeface="Cambria Math" panose="02040503050406030204" pitchFamily="18" charset="0"/>
                                      <a:cs typeface="Times New Roman" panose="02020603050405020304" pitchFamily="18" charset="0"/>
                                    </a:rPr>
                                    <m:t>𝑐</m:t>
                                  </m:r>
                                </m:sub>
                              </m:sSub>
                            </m:oMath>
                          </a14:m>
                          <a:r>
                            <a:rPr lang="ar-AE" altLang="ko-KR" sz="1800" dirty="0"/>
                            <a:t>, </a:t>
                          </a:r>
                          <a:r>
                            <a:rPr lang="en-US" altLang="ko-KR" sz="1800" dirty="0"/>
                            <a:t>which can weaken near-OOD separability and degrade performance.</a:t>
                          </a:r>
                        </a:p>
                      </a:txBody>
                      <a:tcPr anchor="ctr"/>
                    </a:tc>
                    <a:extLst>
                      <a:ext uri="{0D108BD9-81ED-4DB2-BD59-A6C34878D82A}">
                        <a16:rowId xmlns:a16="http://schemas.microsoft.com/office/drawing/2014/main" val="1562401258"/>
                      </a:ext>
                    </a:extLst>
                  </a:tr>
                </a:tbl>
              </a:graphicData>
            </a:graphic>
          </p:graphicFrame>
        </mc:Choice>
        <mc:Fallback xmlns="">
          <p:graphicFrame>
            <p:nvGraphicFramePr>
              <p:cNvPr id="49" name="표 48">
                <a:extLst>
                  <a:ext uri="{FF2B5EF4-FFF2-40B4-BE49-F238E27FC236}">
                    <a16:creationId xmlns:a16="http://schemas.microsoft.com/office/drawing/2014/main" id="{CC951450-E179-8B2B-2006-3597FF2FBD70}"/>
                  </a:ext>
                </a:extLst>
              </p:cNvPr>
              <p:cNvGraphicFramePr>
                <a:graphicFrameLocks noGrp="1"/>
              </p:cNvGraphicFramePr>
              <p:nvPr>
                <p:extLst>
                  <p:ext uri="{D42A27DB-BD31-4B8C-83A1-F6EECF244321}">
                    <p14:modId xmlns:p14="http://schemas.microsoft.com/office/powerpoint/2010/main" val="2998041533"/>
                  </p:ext>
                </p:extLst>
              </p:nvPr>
            </p:nvGraphicFramePr>
            <p:xfrm>
              <a:off x="253284" y="23193492"/>
              <a:ext cx="10300438" cy="2286000"/>
            </p:xfrm>
            <a:graphic>
              <a:graphicData uri="http://schemas.openxmlformats.org/drawingml/2006/table">
                <a:tbl>
                  <a:tblPr firstRow="1" bandRow="1">
                    <a:tableStyleId>{5C22544A-7EE6-4342-B048-85BDC9FD1C3A}</a:tableStyleId>
                  </a:tblPr>
                  <a:tblGrid>
                    <a:gridCol w="1621054">
                      <a:extLst>
                        <a:ext uri="{9D8B030D-6E8A-4147-A177-3AD203B41FA5}">
                          <a16:colId xmlns:a16="http://schemas.microsoft.com/office/drawing/2014/main" val="3877342326"/>
                        </a:ext>
                      </a:extLst>
                    </a:gridCol>
                    <a:gridCol w="8679384">
                      <a:extLst>
                        <a:ext uri="{9D8B030D-6E8A-4147-A177-3AD203B41FA5}">
                          <a16:colId xmlns:a16="http://schemas.microsoft.com/office/drawing/2014/main" val="3812952972"/>
                        </a:ext>
                      </a:extLst>
                    </a:gridCol>
                  </a:tblGrid>
                  <a:tr h="365760">
                    <a:tc>
                      <a:txBody>
                        <a:bodyPr/>
                        <a:lstStyle/>
                        <a:p>
                          <a:pPr marL="0" algn="ctr" defTabSz="2138324" rtl="0" eaLnBrk="1" latinLnBrk="1" hangingPunct="1"/>
                          <a:r>
                            <a:rPr lang="en-US" altLang="ko-KR" sz="1800" b="1" kern="1200" dirty="0">
                              <a:solidFill>
                                <a:schemeClr val="lt1"/>
                              </a:solidFill>
                              <a:latin typeface="+mn-lt"/>
                              <a:ea typeface="+mn-ea"/>
                              <a:cs typeface="+mn-cs"/>
                            </a:rPr>
                            <a:t>Method</a:t>
                          </a:r>
                          <a:endParaRPr lang="ko-KR" altLang="en-US" sz="1800" b="1" kern="1200" dirty="0">
                            <a:solidFill>
                              <a:schemeClr val="lt1"/>
                            </a:solidFill>
                            <a:latin typeface="+mn-lt"/>
                            <a:ea typeface="+mn-ea"/>
                            <a:cs typeface="+mn-cs"/>
                          </a:endParaRPr>
                        </a:p>
                      </a:txBody>
                      <a:tcPr/>
                    </a:tc>
                    <a:tc>
                      <a:txBody>
                        <a:bodyPr/>
                        <a:lstStyle/>
                        <a:p>
                          <a:pPr marL="0" algn="ctr" defTabSz="2138324" rtl="0" eaLnBrk="1" latinLnBrk="1" hangingPunct="1"/>
                          <a:r>
                            <a:rPr lang="en-US" sz="1800" b="1" kern="1200" dirty="0">
                              <a:solidFill>
                                <a:schemeClr val="lt1"/>
                              </a:solidFill>
                              <a:latin typeface="+mn-lt"/>
                              <a:ea typeface="+mn-ea"/>
                              <a:cs typeface="+mn-cs"/>
                            </a:rPr>
                            <a:t>Impact of SAM </a:t>
                          </a:r>
                          <a:r>
                            <a:rPr lang="en-US" sz="1800" b="1" kern="1200" dirty="0" err="1">
                              <a:solidFill>
                                <a:schemeClr val="lt1"/>
                              </a:solidFill>
                              <a:latin typeface="+mn-lt"/>
                              <a:ea typeface="+mn-ea"/>
                              <a:cs typeface="+mn-cs"/>
                            </a:rPr>
                            <a:t>Isotropization</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399137591"/>
                      </a:ext>
                    </a:extLst>
                  </a:tr>
                  <a:tr h="640080">
                    <a:tc>
                      <a:txBody>
                        <a:bodyPr/>
                        <a:lstStyle/>
                        <a:p>
                          <a:pPr algn="ctr"/>
                          <a:r>
                            <a:rPr lang="en-US" sz="1800" kern="1200" dirty="0" err="1">
                              <a:solidFill>
                                <a:schemeClr val="dk1"/>
                              </a:solidFill>
                              <a:latin typeface="+mn-lt"/>
                              <a:ea typeface="+mn-ea"/>
                              <a:cs typeface="+mn-cs"/>
                            </a:rPr>
                            <a:t>kNN</a:t>
                          </a:r>
                          <a:endParaRPr lang="en-US" sz="1800" kern="1200" dirty="0">
                            <a:solidFill>
                              <a:schemeClr val="dk1"/>
                            </a:solidFill>
                            <a:latin typeface="+mn-lt"/>
                            <a:ea typeface="+mn-ea"/>
                            <a:cs typeface="+mn-cs"/>
                          </a:endParaRPr>
                        </a:p>
                      </a:txBody>
                      <a:tcPr anchor="ctr"/>
                    </a:tc>
                    <a:tc>
                      <a:txBody>
                        <a:bodyPr/>
                        <a:lstStyle/>
                        <a:p>
                          <a:pPr algn="l"/>
                          <a:r>
                            <a:rPr lang="en-US" altLang="ko-KR" sz="1800" dirty="0"/>
                            <a:t>Non-parametric, distance-based methods are relatively insensitive to changes in anisotropy, minimizing their dependence on feature geometry.</a:t>
                          </a:r>
                        </a:p>
                      </a:txBody>
                      <a:tcPr/>
                    </a:tc>
                    <a:extLst>
                      <a:ext uri="{0D108BD9-81ED-4DB2-BD59-A6C34878D82A}">
                        <a16:rowId xmlns:a16="http://schemas.microsoft.com/office/drawing/2014/main" val="2465178322"/>
                      </a:ext>
                    </a:extLst>
                  </a:tr>
                  <a:tr h="640080">
                    <a:tc>
                      <a:txBody>
                        <a:bodyPr/>
                        <a:lstStyle/>
                        <a:p>
                          <a:pPr marL="0" algn="ctr" defTabSz="2138324" rtl="0" eaLnBrk="1" latinLnBrk="1" hangingPunct="1"/>
                          <a:r>
                            <a:rPr lang="en-US" sz="1800" kern="1200" dirty="0" err="1">
                              <a:solidFill>
                                <a:schemeClr val="dk1"/>
                              </a:solidFill>
                              <a:latin typeface="+mn-lt"/>
                              <a:ea typeface="+mn-ea"/>
                              <a:cs typeface="+mn-cs"/>
                            </a:rPr>
                            <a:t>Mahalanobis</a:t>
                          </a:r>
                          <a:endParaRPr lang="en-US" sz="1800" kern="1200" dirty="0">
                            <a:solidFill>
                              <a:schemeClr val="dk1"/>
                            </a:solidFill>
                            <a:latin typeface="+mn-lt"/>
                            <a:ea typeface="+mn-ea"/>
                            <a:cs typeface="+mn-cs"/>
                          </a:endParaRPr>
                        </a:p>
                      </a:txBody>
                      <a:tcPr anchor="ctr"/>
                    </a:tc>
                    <a:tc>
                      <a:txBody>
                        <a:bodyPr/>
                        <a:lstStyle/>
                        <a:p>
                          <a:endParaRPr lang="ko-KR"/>
                        </a:p>
                      </a:txBody>
                      <a:tcPr>
                        <a:blipFill>
                          <a:blip r:embed="rId13"/>
                          <a:stretch>
                            <a:fillRect l="-18737" t="-160377" r="-281" b="-114151"/>
                          </a:stretch>
                        </a:blipFill>
                      </a:tcPr>
                    </a:tc>
                    <a:extLst>
                      <a:ext uri="{0D108BD9-81ED-4DB2-BD59-A6C34878D82A}">
                        <a16:rowId xmlns:a16="http://schemas.microsoft.com/office/drawing/2014/main" val="1456079378"/>
                      </a:ext>
                    </a:extLst>
                  </a:tr>
                  <a:tr h="640080">
                    <a:tc>
                      <a:txBody>
                        <a:bodyPr/>
                        <a:lstStyle/>
                        <a:p>
                          <a:pPr algn="ctr"/>
                          <a:r>
                            <a:rPr lang="en-US" sz="1800" kern="1200" dirty="0">
                              <a:solidFill>
                                <a:schemeClr val="dk1"/>
                              </a:solidFill>
                              <a:latin typeface="+mn-lt"/>
                              <a:ea typeface="+mn-ea"/>
                              <a:cs typeface="+mn-cs"/>
                            </a:rPr>
                            <a:t>DDU</a:t>
                          </a:r>
                        </a:p>
                      </a:txBody>
                      <a:tcPr anchor="ctr"/>
                    </a:tc>
                    <a:tc>
                      <a:txBody>
                        <a:bodyPr/>
                        <a:lstStyle/>
                        <a:p>
                          <a:endParaRPr lang="ko-KR"/>
                        </a:p>
                      </a:txBody>
                      <a:tcPr anchor="ctr">
                        <a:blipFill>
                          <a:blip r:embed="rId13"/>
                          <a:stretch>
                            <a:fillRect l="-18737" t="-262857" r="-281" b="-15238"/>
                          </a:stretch>
                        </a:blipFill>
                      </a:tcPr>
                    </a:tc>
                    <a:extLst>
                      <a:ext uri="{0D108BD9-81ED-4DB2-BD59-A6C34878D82A}">
                        <a16:rowId xmlns:a16="http://schemas.microsoft.com/office/drawing/2014/main" val="1562401258"/>
                      </a:ext>
                    </a:extLst>
                  </a:tr>
                </a:tbl>
              </a:graphicData>
            </a:graphic>
          </p:graphicFrame>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42093DA-0E92-5C78-DCE5-73D1E8B64F03}"/>
                  </a:ext>
                </a:extLst>
              </p:cNvPr>
              <p:cNvSpPr txBox="1"/>
              <p:nvPr/>
            </p:nvSpPr>
            <p:spPr>
              <a:xfrm>
                <a:off x="-95521" y="28902491"/>
                <a:ext cx="12188825" cy="646331"/>
              </a:xfrm>
              <a:prstGeom prst="rect">
                <a:avLst/>
              </a:prstGeom>
              <a:noFill/>
              <a:ln>
                <a:noFill/>
              </a:ln>
            </p:spPr>
            <p:txBody>
              <a:bodyPr wrap="square" rtlCol="0">
                <a:spAutoFit/>
              </a:bodyPr>
              <a:lstStyle/>
              <a:p>
                <a:pPr algn="ctr"/>
                <a:r>
                  <a:rPr lang="en-US" altLang="ko-KR" b="1" dirty="0"/>
                  <a:t>“SAM’s </a:t>
                </a:r>
                <a:r>
                  <a:rPr lang="en-US" altLang="ko-KR" b="1" dirty="0" err="1"/>
                  <a:t>isotropization</a:t>
                </a:r>
                <a:r>
                  <a:rPr lang="en-US" altLang="ko-KR" b="1" dirty="0"/>
                  <a:t> increases the small eigenvalues of </a:t>
                </a:r>
                <a14:m>
                  <m:oMath xmlns:m="http://schemas.openxmlformats.org/officeDocument/2006/math">
                    <m:sSub>
                      <m:sSubPr>
                        <m:ctrlPr>
                          <a:rPr lang="ar-AE" altLang="ko-KR" b="1" i="1">
                            <a:latin typeface="Cambria Math" panose="02040503050406030204" pitchFamily="18" charset="0"/>
                          </a:rPr>
                        </m:ctrlPr>
                      </m:sSubPr>
                      <m:e>
                        <m:r>
                          <a:rPr lang="el-GR" altLang="ko-KR" b="1" i="1">
                            <a:latin typeface="Cambria Math" panose="02040503050406030204" pitchFamily="18" charset="0"/>
                          </a:rPr>
                          <m:t>𝜮</m:t>
                        </m:r>
                      </m:e>
                      <m:sub>
                        <m:r>
                          <a:rPr lang="ko-KR" altLang="ar-AE" b="1" i="1">
                            <a:latin typeface="Cambria Math" panose="02040503050406030204" pitchFamily="18" charset="0"/>
                          </a:rPr>
                          <m:t>𝒄</m:t>
                        </m:r>
                      </m:sub>
                    </m:sSub>
                  </m:oMath>
                </a14:m>
                <a:r>
                  <a:rPr lang="en-US" altLang="ko-KR" b="1" dirty="0"/>
                  <a:t>,</a:t>
                </a:r>
              </a:p>
              <a:p>
                <a:pPr algn="ctr"/>
                <a:r>
                  <a:rPr lang="en-US" altLang="ko-KR" b="1" dirty="0"/>
                  <a:t>which can degrade DDU’s ability to separate near-OOD samples.”</a:t>
                </a:r>
              </a:p>
            </p:txBody>
          </p:sp>
        </mc:Choice>
        <mc:Fallback xmlns="">
          <p:sp>
            <p:nvSpPr>
              <p:cNvPr id="51" name="TextBox 50">
                <a:extLst>
                  <a:ext uri="{FF2B5EF4-FFF2-40B4-BE49-F238E27FC236}">
                    <a16:creationId xmlns:a16="http://schemas.microsoft.com/office/drawing/2014/main" id="{442093DA-0E92-5C78-DCE5-73D1E8B64F03}"/>
                  </a:ext>
                </a:extLst>
              </p:cNvPr>
              <p:cNvSpPr txBox="1">
                <a:spLocks noRot="1" noChangeAspect="1" noMove="1" noResize="1" noEditPoints="1" noAdjustHandles="1" noChangeArrowheads="1" noChangeShapeType="1" noTextEdit="1"/>
              </p:cNvSpPr>
              <p:nvPr/>
            </p:nvSpPr>
            <p:spPr>
              <a:xfrm>
                <a:off x="-95521" y="28902491"/>
                <a:ext cx="12188825" cy="646331"/>
              </a:xfrm>
              <a:prstGeom prst="rect">
                <a:avLst/>
              </a:prstGeom>
              <a:blipFill>
                <a:blip r:embed="rId14"/>
                <a:stretch>
                  <a:fillRect t="-4717" b="-14151"/>
                </a:stretch>
              </a:blipFill>
              <a:ln>
                <a:noFill/>
              </a:ln>
            </p:spPr>
            <p:txBody>
              <a:bodyPr/>
              <a:lstStyle/>
              <a:p>
                <a:r>
                  <a:rPr lang="ko-KR" altLang="en-US">
                    <a:noFill/>
                  </a:rPr>
                  <a:t> </a:t>
                </a:r>
              </a:p>
            </p:txBody>
          </p:sp>
        </mc:Fallback>
      </mc:AlternateContent>
      <p:sp>
        <p:nvSpPr>
          <p:cNvPr id="69" name="직사각형 68">
            <a:extLst>
              <a:ext uri="{FF2B5EF4-FFF2-40B4-BE49-F238E27FC236}">
                <a16:creationId xmlns:a16="http://schemas.microsoft.com/office/drawing/2014/main" id="{E96619A9-13A1-09BD-B5C9-010C2305E00B}"/>
              </a:ext>
            </a:extLst>
          </p:cNvPr>
          <p:cNvSpPr/>
          <p:nvPr/>
        </p:nvSpPr>
        <p:spPr>
          <a:xfrm>
            <a:off x="10775212" y="12705443"/>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Feature geometry &amp; OOD AUROC</a:t>
            </a:r>
            <a:endParaRPr lang="ko-KR" altLang="en-US" sz="3400" b="1" dirty="0"/>
          </a:p>
        </p:txBody>
      </p:sp>
      <p:sp>
        <p:nvSpPr>
          <p:cNvPr id="70" name="직사각형 69">
            <a:extLst>
              <a:ext uri="{FF2B5EF4-FFF2-40B4-BE49-F238E27FC236}">
                <a16:creationId xmlns:a16="http://schemas.microsoft.com/office/drawing/2014/main" id="{F568C86E-E674-E9CD-3808-5CFEDE840B03}"/>
              </a:ext>
            </a:extLst>
          </p:cNvPr>
          <p:cNvSpPr/>
          <p:nvPr/>
        </p:nvSpPr>
        <p:spPr>
          <a:xfrm>
            <a:off x="10830874" y="26746443"/>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Conclusion</a:t>
            </a:r>
            <a:endParaRPr lang="ko-KR" altLang="en-US" sz="3400" b="1" dirty="0"/>
          </a:p>
        </p:txBody>
      </p:sp>
      <p:graphicFrame>
        <p:nvGraphicFramePr>
          <p:cNvPr id="71" name="표 70">
            <a:extLst>
              <a:ext uri="{FF2B5EF4-FFF2-40B4-BE49-F238E27FC236}">
                <a16:creationId xmlns:a16="http://schemas.microsoft.com/office/drawing/2014/main" id="{39B1A70D-45FF-59C8-7A47-B23E2A8980F2}"/>
              </a:ext>
            </a:extLst>
          </p:cNvPr>
          <p:cNvGraphicFramePr>
            <a:graphicFrameLocks noGrp="1"/>
          </p:cNvGraphicFramePr>
          <p:nvPr>
            <p:extLst>
              <p:ext uri="{D42A27DB-BD31-4B8C-83A1-F6EECF244321}">
                <p14:modId xmlns:p14="http://schemas.microsoft.com/office/powerpoint/2010/main" val="1565344005"/>
              </p:ext>
            </p:extLst>
          </p:nvPr>
        </p:nvGraphicFramePr>
        <p:xfrm>
          <a:off x="10797405" y="13496756"/>
          <a:ext cx="10278245" cy="1737360"/>
        </p:xfrm>
        <a:graphic>
          <a:graphicData uri="http://schemas.openxmlformats.org/drawingml/2006/table">
            <a:tbl>
              <a:tblPr firstRow="1" bandRow="1">
                <a:tableStyleId>{5C22544A-7EE6-4342-B048-85BDC9FD1C3A}</a:tableStyleId>
              </a:tblPr>
              <a:tblGrid>
                <a:gridCol w="1208649">
                  <a:extLst>
                    <a:ext uri="{9D8B030D-6E8A-4147-A177-3AD203B41FA5}">
                      <a16:colId xmlns:a16="http://schemas.microsoft.com/office/drawing/2014/main" val="4164641632"/>
                    </a:ext>
                  </a:extLst>
                </a:gridCol>
                <a:gridCol w="2981634">
                  <a:extLst>
                    <a:ext uri="{9D8B030D-6E8A-4147-A177-3AD203B41FA5}">
                      <a16:colId xmlns:a16="http://schemas.microsoft.com/office/drawing/2014/main" val="1339530085"/>
                    </a:ext>
                  </a:extLst>
                </a:gridCol>
                <a:gridCol w="3043981">
                  <a:extLst>
                    <a:ext uri="{9D8B030D-6E8A-4147-A177-3AD203B41FA5}">
                      <a16:colId xmlns:a16="http://schemas.microsoft.com/office/drawing/2014/main" val="660998033"/>
                    </a:ext>
                  </a:extLst>
                </a:gridCol>
                <a:gridCol w="3043981">
                  <a:extLst>
                    <a:ext uri="{9D8B030D-6E8A-4147-A177-3AD203B41FA5}">
                      <a16:colId xmlns:a16="http://schemas.microsoft.com/office/drawing/2014/main" val="3752842942"/>
                    </a:ext>
                  </a:extLst>
                </a:gridCol>
              </a:tblGrid>
              <a:tr h="347039">
                <a:tc>
                  <a:txBody>
                    <a:bodyPr/>
                    <a:lstStyle/>
                    <a:p>
                      <a:pPr algn="ctr" latinLnBrk="1"/>
                      <a:r>
                        <a:rPr lang="en-US" altLang="ko-KR" sz="1800" dirty="0"/>
                        <a:t>Optimizer</a:t>
                      </a:r>
                      <a:endParaRPr lang="ko-KR" altLang="en-US" sz="1800" dirty="0"/>
                    </a:p>
                  </a:txBody>
                  <a:tcPr/>
                </a:tc>
                <a:tc>
                  <a:txBody>
                    <a:bodyPr/>
                    <a:lstStyle/>
                    <a:p>
                      <a:pPr algn="ctr" latinLnBrk="1"/>
                      <a:r>
                        <a:rPr lang="en-US" altLang="ko-KR" sz="1800" b="1" dirty="0">
                          <a:effectLst/>
                        </a:rPr>
                        <a:t>Within-class Var </a:t>
                      </a:r>
                      <a:endParaRPr lang="ko-KR" altLang="en-US" sz="1800" dirty="0"/>
                    </a:p>
                  </a:txBody>
                  <a:tcPr/>
                </a:tc>
                <a:tc>
                  <a:txBody>
                    <a:bodyPr/>
                    <a:lstStyle/>
                    <a:p>
                      <a:pPr algn="ctr" latinLnBrk="1"/>
                      <a:r>
                        <a:rPr lang="en-US" altLang="ko-KR" sz="1800" b="1" dirty="0">
                          <a:effectLst/>
                        </a:rPr>
                        <a:t>Inter-class mean distance</a:t>
                      </a:r>
                      <a:endParaRPr lang="ko-KR" altLang="en-US" sz="1800" dirty="0"/>
                    </a:p>
                  </a:txBody>
                  <a:tcPr/>
                </a:tc>
                <a:tc>
                  <a:txBody>
                    <a:bodyPr/>
                    <a:lstStyle/>
                    <a:p>
                      <a:pPr algn="ctr" latinLnBrk="1"/>
                      <a:r>
                        <a:rPr lang="en-US" altLang="ko-KR" sz="1800" b="1" dirty="0">
                          <a:effectLst/>
                        </a:rPr>
                        <a:t>Anisotropy (</a:t>
                      </a:r>
                      <a:r>
                        <a:rPr lang="el-GR" altLang="ko-KR" sz="1800" b="1" dirty="0">
                          <a:effectLst/>
                        </a:rPr>
                        <a:t>λ₁ / </a:t>
                      </a:r>
                      <a:r>
                        <a:rPr lang="en-US" altLang="ko-KR" sz="1800" b="1" dirty="0">
                          <a:effectLst/>
                        </a:rPr>
                        <a:t>trace)</a:t>
                      </a:r>
                      <a:endParaRPr lang="ko-KR" altLang="en-US" sz="1800" dirty="0"/>
                    </a:p>
                  </a:txBody>
                  <a:tcPr/>
                </a:tc>
                <a:extLst>
                  <a:ext uri="{0D108BD9-81ED-4DB2-BD59-A6C34878D82A}">
                    <a16:rowId xmlns:a16="http://schemas.microsoft.com/office/drawing/2014/main" val="643745562"/>
                  </a:ext>
                </a:extLst>
              </a:tr>
              <a:tr h="347039">
                <a:tc>
                  <a:txBody>
                    <a:bodyPr/>
                    <a:lstStyle/>
                    <a:p>
                      <a:pPr algn="ctr" latinLnBrk="1"/>
                      <a:r>
                        <a:rPr lang="en-US" altLang="ko-KR" sz="1800" b="0" dirty="0"/>
                        <a:t>SGD</a:t>
                      </a:r>
                      <a:endParaRPr lang="ko-KR" altLang="en-US" sz="1800" b="0" dirty="0"/>
                    </a:p>
                  </a:txBody>
                  <a:tcPr/>
                </a:tc>
                <a:tc>
                  <a:txBody>
                    <a:bodyPr/>
                    <a:lstStyle/>
                    <a:p>
                      <a:pPr algn="ctr" latinLnBrk="1"/>
                      <a:r>
                        <a:rPr lang="en-US" altLang="ko-KR" sz="1800" b="0" dirty="0">
                          <a:effectLst/>
                        </a:rPr>
                        <a:t>7.81</a:t>
                      </a:r>
                      <a:endParaRPr lang="ko-KR" altLang="en-US" sz="1800" b="0" dirty="0"/>
                    </a:p>
                  </a:txBody>
                  <a:tcPr/>
                </a:tc>
                <a:tc>
                  <a:txBody>
                    <a:bodyPr/>
                    <a:lstStyle/>
                    <a:p>
                      <a:pPr algn="ctr" latinLnBrk="1"/>
                      <a:r>
                        <a:rPr lang="en-US" altLang="ko-KR" sz="1800" b="0" dirty="0">
                          <a:effectLst/>
                        </a:rPr>
                        <a:t>14.16</a:t>
                      </a:r>
                      <a:endParaRPr lang="ko-KR" altLang="en-US" sz="1800" b="0" dirty="0"/>
                    </a:p>
                  </a:txBody>
                  <a:tcPr/>
                </a:tc>
                <a:tc>
                  <a:txBody>
                    <a:bodyPr/>
                    <a:lstStyle/>
                    <a:p>
                      <a:pPr algn="ctr" latinLnBrk="1"/>
                      <a:r>
                        <a:rPr lang="en-US" altLang="ko-KR" sz="1800" b="0" dirty="0">
                          <a:effectLst/>
                        </a:rPr>
                        <a:t>0.221</a:t>
                      </a:r>
                      <a:endParaRPr lang="ko-KR" altLang="en-US" sz="1800" b="0" dirty="0"/>
                    </a:p>
                  </a:txBody>
                  <a:tcPr/>
                </a:tc>
                <a:extLst>
                  <a:ext uri="{0D108BD9-81ED-4DB2-BD59-A6C34878D82A}">
                    <a16:rowId xmlns:a16="http://schemas.microsoft.com/office/drawing/2014/main" val="1390813890"/>
                  </a:ext>
                </a:extLst>
              </a:tr>
              <a:tr h="347039">
                <a:tc>
                  <a:txBody>
                    <a:bodyPr/>
                    <a:lstStyle/>
                    <a:p>
                      <a:pPr algn="ctr" latinLnBrk="1"/>
                      <a:r>
                        <a:rPr lang="en-US" altLang="ko-KR" sz="1800" b="0" dirty="0"/>
                        <a:t>SAM</a:t>
                      </a:r>
                      <a:endParaRPr lang="ko-KR" altLang="en-US" sz="1800" b="0" dirty="0"/>
                    </a:p>
                  </a:txBody>
                  <a:tcPr/>
                </a:tc>
                <a:tc>
                  <a:txBody>
                    <a:bodyPr/>
                    <a:lstStyle/>
                    <a:p>
                      <a:pPr algn="ctr" latinLnBrk="1"/>
                      <a:r>
                        <a:rPr lang="en-US" altLang="ko-KR" sz="1800" b="0" dirty="0"/>
                        <a:t>16.89</a:t>
                      </a:r>
                      <a:endParaRPr lang="ko-KR" altLang="en-US" sz="1800" b="0" dirty="0"/>
                    </a:p>
                  </a:txBody>
                  <a:tcPr/>
                </a:tc>
                <a:tc>
                  <a:txBody>
                    <a:bodyPr/>
                    <a:lstStyle/>
                    <a:p>
                      <a:pPr algn="ctr" latinLnBrk="1"/>
                      <a:r>
                        <a:rPr lang="en-US" altLang="ko-KR" sz="1800" b="0" dirty="0"/>
                        <a:t>12.87</a:t>
                      </a:r>
                      <a:endParaRPr lang="ko-KR" altLang="en-US" sz="1800" b="0" dirty="0"/>
                    </a:p>
                  </a:txBody>
                  <a:tcPr/>
                </a:tc>
                <a:tc>
                  <a:txBody>
                    <a:bodyPr/>
                    <a:lstStyle/>
                    <a:p>
                      <a:pPr algn="ctr" latinLnBrk="1"/>
                      <a:r>
                        <a:rPr lang="en-US" altLang="ko-KR" sz="1800" b="0" dirty="0"/>
                        <a:t>0.13</a:t>
                      </a:r>
                      <a:endParaRPr lang="ko-KR" altLang="en-US" sz="1800" b="0" dirty="0"/>
                    </a:p>
                  </a:txBody>
                  <a:tcPr/>
                </a:tc>
                <a:extLst>
                  <a:ext uri="{0D108BD9-81ED-4DB2-BD59-A6C34878D82A}">
                    <a16:rowId xmlns:a16="http://schemas.microsoft.com/office/drawing/2014/main" val="3205699654"/>
                  </a:ext>
                </a:extLst>
              </a:tr>
              <a:tr h="347039">
                <a:tc>
                  <a:txBody>
                    <a:bodyPr/>
                    <a:lstStyle/>
                    <a:p>
                      <a:pPr algn="ctr" latinLnBrk="1"/>
                      <a:r>
                        <a:rPr lang="en-US" altLang="ko-KR" sz="1800" dirty="0"/>
                        <a:t>Change</a:t>
                      </a:r>
                      <a:endParaRPr lang="ko-KR" altLang="en-US" sz="1800" b="0" dirty="0"/>
                    </a:p>
                  </a:txBody>
                  <a:tcPr/>
                </a:tc>
                <a:tc>
                  <a:txBody>
                    <a:bodyPr/>
                    <a:lstStyle/>
                    <a:p>
                      <a:pPr algn="ctr"/>
                      <a:r>
                        <a:rPr lang="en-US" altLang="ko-KR" sz="1800" dirty="0"/>
                        <a:t>Within-class variance ↑</a:t>
                      </a:r>
                    </a:p>
                  </a:txBody>
                  <a:tcPr/>
                </a:tc>
                <a:tc>
                  <a:txBody>
                    <a:bodyPr/>
                    <a:lstStyle/>
                    <a:p>
                      <a:pPr algn="ctr"/>
                      <a:r>
                        <a:rPr lang="en-US" altLang="ko-KR" sz="1800" dirty="0"/>
                        <a:t>No significant change</a:t>
                      </a:r>
                    </a:p>
                  </a:txBody>
                  <a:tcPr/>
                </a:tc>
                <a:tc>
                  <a:txBody>
                    <a:bodyPr/>
                    <a:lstStyle/>
                    <a:p>
                      <a:pPr algn="ctr"/>
                      <a:r>
                        <a:rPr lang="en-US" altLang="ko-KR" sz="1800" dirty="0"/>
                        <a:t>Reduced by half </a:t>
                      </a:r>
                      <a:br>
                        <a:rPr lang="en-US" altLang="ko-KR" sz="1800" dirty="0"/>
                      </a:br>
                      <a:r>
                        <a:rPr lang="en-US" altLang="ko-KR" sz="1800" dirty="0"/>
                        <a:t>more isotropic</a:t>
                      </a:r>
                    </a:p>
                  </a:txBody>
                  <a:tcPr/>
                </a:tc>
                <a:extLst>
                  <a:ext uri="{0D108BD9-81ED-4DB2-BD59-A6C34878D82A}">
                    <a16:rowId xmlns:a16="http://schemas.microsoft.com/office/drawing/2014/main" val="3770742764"/>
                  </a:ext>
                </a:extLst>
              </a:tr>
            </a:tbl>
          </a:graphicData>
        </a:graphic>
      </p:graphicFrame>
      <p:sp>
        <p:nvSpPr>
          <p:cNvPr id="78" name="TextBox 77">
            <a:extLst>
              <a:ext uri="{FF2B5EF4-FFF2-40B4-BE49-F238E27FC236}">
                <a16:creationId xmlns:a16="http://schemas.microsoft.com/office/drawing/2014/main" id="{0B3D3F49-2C16-14F3-18ED-02352542C230}"/>
              </a:ext>
            </a:extLst>
          </p:cNvPr>
          <p:cNvSpPr txBox="1"/>
          <p:nvPr/>
        </p:nvSpPr>
        <p:spPr>
          <a:xfrm>
            <a:off x="10811880" y="15197004"/>
            <a:ext cx="10278245" cy="2308324"/>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altLang="ko-KR" b="1" dirty="0"/>
              <a:t>Within-class variance increases under SAM</a:t>
            </a:r>
            <a:r>
              <a:rPr lang="en-US" altLang="ko-KR" dirty="0"/>
              <a:t> → SAM substantially enlarges the intra-class spread, producing thicker feature clouds relative to SGD.</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b="1" dirty="0"/>
              <a:t>Inter-class distance remains largely unchanged</a:t>
            </a:r>
            <a:r>
              <a:rPr lang="en-US" altLang="ko-KR" dirty="0"/>
              <a:t> → Class separation is preserved because class means do not shift significantly.</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b="1" dirty="0"/>
              <a:t>Anisotropy decreases by roughly half</a:t>
            </a:r>
            <a:r>
              <a:rPr lang="en-US" altLang="ko-KR" dirty="0"/>
              <a:t> → The eigenvalue spectrum becomes flatter, indicating that feature clouds become more isotropic.</a:t>
            </a:r>
          </a:p>
        </p:txBody>
      </p:sp>
      <p:sp>
        <p:nvSpPr>
          <p:cNvPr id="80" name="TextBox 79">
            <a:extLst>
              <a:ext uri="{FF2B5EF4-FFF2-40B4-BE49-F238E27FC236}">
                <a16:creationId xmlns:a16="http://schemas.microsoft.com/office/drawing/2014/main" id="{A59A25A1-B09A-2477-0D7E-A65ADFA95A5F}"/>
              </a:ext>
            </a:extLst>
          </p:cNvPr>
          <p:cNvSpPr txBox="1"/>
          <p:nvPr/>
        </p:nvSpPr>
        <p:spPr>
          <a:xfrm>
            <a:off x="10770436" y="13167926"/>
            <a:ext cx="2992399" cy="369332"/>
          </a:xfrm>
          <a:prstGeom prst="rect">
            <a:avLst/>
          </a:prstGeom>
          <a:noFill/>
        </p:spPr>
        <p:txBody>
          <a:bodyPr wrap="square">
            <a:spAutoFit/>
          </a:bodyPr>
          <a:lstStyle/>
          <a:p>
            <a:pPr algn="just"/>
            <a:r>
              <a:rPr lang="en-US" altLang="ko-KR" b="1" dirty="0">
                <a:solidFill>
                  <a:srgbClr val="0070C0"/>
                </a:solidFill>
              </a:rPr>
              <a:t>T</a:t>
            </a:r>
            <a:r>
              <a:rPr lang="en-US" altLang="ko-KR" sz="1800" b="1" dirty="0">
                <a:solidFill>
                  <a:srgbClr val="0070C0"/>
                </a:solidFill>
              </a:rPr>
              <a:t>rain data feature geometry</a:t>
            </a:r>
          </a:p>
        </p:txBody>
      </p:sp>
      <p:sp>
        <p:nvSpPr>
          <p:cNvPr id="83" name="TextBox 82">
            <a:extLst>
              <a:ext uri="{FF2B5EF4-FFF2-40B4-BE49-F238E27FC236}">
                <a16:creationId xmlns:a16="http://schemas.microsoft.com/office/drawing/2014/main" id="{EA1F92A0-2475-782C-07D5-CDB0D47004FD}"/>
              </a:ext>
            </a:extLst>
          </p:cNvPr>
          <p:cNvSpPr txBox="1"/>
          <p:nvPr/>
        </p:nvSpPr>
        <p:spPr>
          <a:xfrm>
            <a:off x="10775212" y="17459159"/>
            <a:ext cx="1956488" cy="461665"/>
          </a:xfrm>
          <a:prstGeom prst="rect">
            <a:avLst/>
          </a:prstGeom>
          <a:noFill/>
        </p:spPr>
        <p:txBody>
          <a:bodyPr wrap="square">
            <a:spAutoFit/>
          </a:bodyPr>
          <a:lstStyle/>
          <a:p>
            <a:pPr algn="just"/>
            <a:r>
              <a:rPr lang="en-US" altLang="ko-KR" sz="2400" b="1" dirty="0">
                <a:solidFill>
                  <a:srgbClr val="0070C0"/>
                </a:solidFill>
              </a:rPr>
              <a:t>OOD AUROC</a:t>
            </a:r>
          </a:p>
        </p:txBody>
      </p:sp>
      <p:sp>
        <p:nvSpPr>
          <p:cNvPr id="84" name="TextBox 83">
            <a:extLst>
              <a:ext uri="{FF2B5EF4-FFF2-40B4-BE49-F238E27FC236}">
                <a16:creationId xmlns:a16="http://schemas.microsoft.com/office/drawing/2014/main" id="{F5EF8FA7-D14B-17E0-8AB8-3C6511442331}"/>
              </a:ext>
            </a:extLst>
          </p:cNvPr>
          <p:cNvSpPr txBox="1"/>
          <p:nvPr/>
        </p:nvSpPr>
        <p:spPr>
          <a:xfrm>
            <a:off x="10785941" y="17853280"/>
            <a:ext cx="3642887" cy="369332"/>
          </a:xfrm>
          <a:prstGeom prst="rect">
            <a:avLst/>
          </a:prstGeom>
          <a:noFill/>
        </p:spPr>
        <p:txBody>
          <a:bodyPr wrap="square">
            <a:spAutoFit/>
          </a:bodyPr>
          <a:lstStyle/>
          <a:p>
            <a:pPr algn="just"/>
            <a:r>
              <a:rPr lang="en-US" altLang="ko-KR" sz="1800" b="1" dirty="0">
                <a:solidFill>
                  <a:srgbClr val="0070C0"/>
                </a:solidFill>
              </a:rPr>
              <a:t>Result1 : </a:t>
            </a:r>
            <a:r>
              <a:rPr lang="en-US" altLang="ko-KR" sz="1800" b="1" dirty="0" err="1">
                <a:solidFill>
                  <a:srgbClr val="0070C0"/>
                </a:solidFill>
              </a:rPr>
              <a:t>TinyImageNet</a:t>
            </a:r>
            <a:r>
              <a:rPr lang="en-US" altLang="ko-KR" sz="1800" b="1" dirty="0">
                <a:solidFill>
                  <a:srgbClr val="0070C0"/>
                </a:solidFill>
              </a:rPr>
              <a:t> (near-OOD)</a:t>
            </a:r>
          </a:p>
        </p:txBody>
      </p:sp>
      <p:graphicFrame>
        <p:nvGraphicFramePr>
          <p:cNvPr id="85" name="표 84">
            <a:extLst>
              <a:ext uri="{FF2B5EF4-FFF2-40B4-BE49-F238E27FC236}">
                <a16:creationId xmlns:a16="http://schemas.microsoft.com/office/drawing/2014/main" id="{8A1E1679-FF35-2864-0FBF-43343AEDF0DB}"/>
              </a:ext>
            </a:extLst>
          </p:cNvPr>
          <p:cNvGraphicFramePr>
            <a:graphicFrameLocks noGrp="1"/>
          </p:cNvGraphicFramePr>
          <p:nvPr>
            <p:extLst>
              <p:ext uri="{D42A27DB-BD31-4B8C-83A1-F6EECF244321}">
                <p14:modId xmlns:p14="http://schemas.microsoft.com/office/powerpoint/2010/main" val="3291232428"/>
              </p:ext>
            </p:extLst>
          </p:nvPr>
        </p:nvGraphicFramePr>
        <p:xfrm>
          <a:off x="10849691" y="18190289"/>
          <a:ext cx="10262803" cy="1463040"/>
        </p:xfrm>
        <a:graphic>
          <a:graphicData uri="http://schemas.openxmlformats.org/drawingml/2006/table">
            <a:tbl>
              <a:tblPr firstRow="1" bandRow="1">
                <a:tableStyleId>{5C22544A-7EE6-4342-B048-85BDC9FD1C3A}</a:tableStyleId>
              </a:tblPr>
              <a:tblGrid>
                <a:gridCol w="1429433">
                  <a:extLst>
                    <a:ext uri="{9D8B030D-6E8A-4147-A177-3AD203B41FA5}">
                      <a16:colId xmlns:a16="http://schemas.microsoft.com/office/drawing/2014/main" val="4164641632"/>
                    </a:ext>
                  </a:extLst>
                </a:gridCol>
                <a:gridCol w="2754554">
                  <a:extLst>
                    <a:ext uri="{9D8B030D-6E8A-4147-A177-3AD203B41FA5}">
                      <a16:colId xmlns:a16="http://schemas.microsoft.com/office/drawing/2014/main" val="1339530085"/>
                    </a:ext>
                  </a:extLst>
                </a:gridCol>
                <a:gridCol w="3039408">
                  <a:extLst>
                    <a:ext uri="{9D8B030D-6E8A-4147-A177-3AD203B41FA5}">
                      <a16:colId xmlns:a16="http://schemas.microsoft.com/office/drawing/2014/main" val="660998033"/>
                    </a:ext>
                  </a:extLst>
                </a:gridCol>
                <a:gridCol w="3039408">
                  <a:extLst>
                    <a:ext uri="{9D8B030D-6E8A-4147-A177-3AD203B41FA5}">
                      <a16:colId xmlns:a16="http://schemas.microsoft.com/office/drawing/2014/main" val="3752842942"/>
                    </a:ext>
                  </a:extLst>
                </a:gridCol>
              </a:tblGrid>
              <a:tr h="253684">
                <a:tc>
                  <a:txBody>
                    <a:bodyPr/>
                    <a:lstStyle/>
                    <a:p>
                      <a:pPr algn="ctr" latinLnBrk="1"/>
                      <a:r>
                        <a:rPr lang="en-US" altLang="ko-KR" sz="1800" dirty="0"/>
                        <a:t>Optimizer</a:t>
                      </a:r>
                      <a:endParaRPr lang="ko-KR" altLang="en-US" sz="1800" dirty="0"/>
                    </a:p>
                  </a:txBody>
                  <a:tcPr/>
                </a:tc>
                <a:tc>
                  <a:txBody>
                    <a:bodyPr/>
                    <a:lstStyle/>
                    <a:p>
                      <a:pPr algn="ctr" latinLnBrk="1"/>
                      <a:r>
                        <a:rPr lang="en-US" altLang="ko-KR" sz="1800" b="1" dirty="0" err="1">
                          <a:effectLst/>
                        </a:rPr>
                        <a:t>kNN</a:t>
                      </a:r>
                      <a:r>
                        <a:rPr lang="en-US" altLang="ko-KR" sz="1800" b="1" dirty="0">
                          <a:effectLst/>
                        </a:rPr>
                        <a:t> AUROC</a:t>
                      </a:r>
                      <a:endParaRPr lang="ko-KR" altLang="en-US" sz="1800" dirty="0"/>
                    </a:p>
                  </a:txBody>
                  <a:tcPr/>
                </a:tc>
                <a:tc>
                  <a:txBody>
                    <a:bodyPr/>
                    <a:lstStyle/>
                    <a:p>
                      <a:pPr algn="ctr" latinLnBrk="1"/>
                      <a:r>
                        <a:rPr lang="en-US" altLang="ko-KR" sz="1800" b="1" dirty="0" err="1">
                          <a:effectLst/>
                        </a:rPr>
                        <a:t>Mahalanobis</a:t>
                      </a:r>
                      <a:r>
                        <a:rPr lang="en-US" altLang="ko-KR" sz="1800" b="1" dirty="0">
                          <a:effectLst/>
                        </a:rPr>
                        <a:t> AUROC</a:t>
                      </a:r>
                      <a:endParaRPr lang="ko-KR" altLang="en-US" sz="1800" dirty="0"/>
                    </a:p>
                  </a:txBody>
                  <a:tcPr/>
                </a:tc>
                <a:tc>
                  <a:txBody>
                    <a:bodyPr/>
                    <a:lstStyle/>
                    <a:p>
                      <a:pPr algn="ctr" latinLnBrk="1"/>
                      <a:r>
                        <a:rPr lang="en-US" altLang="ko-KR" sz="1800" b="1" dirty="0">
                          <a:effectLst/>
                        </a:rPr>
                        <a:t>DDU AUROC</a:t>
                      </a:r>
                      <a:endParaRPr lang="ko-KR" altLang="en-US" sz="1800" dirty="0"/>
                    </a:p>
                  </a:txBody>
                  <a:tcPr/>
                </a:tc>
                <a:extLst>
                  <a:ext uri="{0D108BD9-81ED-4DB2-BD59-A6C34878D82A}">
                    <a16:rowId xmlns:a16="http://schemas.microsoft.com/office/drawing/2014/main" val="643745562"/>
                  </a:ext>
                </a:extLst>
              </a:tr>
              <a:tr h="323647">
                <a:tc>
                  <a:txBody>
                    <a:bodyPr/>
                    <a:lstStyle/>
                    <a:p>
                      <a:pPr algn="ctr" latinLnBrk="1"/>
                      <a:r>
                        <a:rPr lang="en-US" altLang="ko-KR" sz="1800" b="0" dirty="0"/>
                        <a:t>SGD</a:t>
                      </a:r>
                      <a:endParaRPr lang="ko-KR" altLang="en-US" sz="1800" b="0" dirty="0"/>
                    </a:p>
                  </a:txBody>
                  <a:tcPr/>
                </a:tc>
                <a:tc>
                  <a:txBody>
                    <a:bodyPr/>
                    <a:lstStyle/>
                    <a:p>
                      <a:pPr algn="ctr" latinLnBrk="1"/>
                      <a:r>
                        <a:rPr lang="en-US" altLang="ko-KR" sz="1800" dirty="0"/>
                        <a:t>0.875</a:t>
                      </a:r>
                      <a:endParaRPr lang="ko-KR" altLang="en-US" sz="1800" b="0" dirty="0"/>
                    </a:p>
                  </a:txBody>
                  <a:tcPr/>
                </a:tc>
                <a:tc>
                  <a:txBody>
                    <a:bodyPr/>
                    <a:lstStyle/>
                    <a:p>
                      <a:pPr marL="0" marR="0" lvl="0" indent="0" algn="ctr" defTabSz="2138324" rtl="0" eaLnBrk="1" fontAlgn="auto" latinLnBrk="1" hangingPunct="1">
                        <a:lnSpc>
                          <a:spcPct val="100000"/>
                        </a:lnSpc>
                        <a:spcBef>
                          <a:spcPts val="0"/>
                        </a:spcBef>
                        <a:spcAft>
                          <a:spcPts val="0"/>
                        </a:spcAft>
                        <a:buClrTx/>
                        <a:buSzTx/>
                        <a:buFontTx/>
                        <a:buNone/>
                        <a:tabLst/>
                        <a:defRPr/>
                      </a:pPr>
                      <a:r>
                        <a:rPr lang="en-US" altLang="ko-KR" sz="1800" dirty="0"/>
                        <a:t>0.882</a:t>
                      </a:r>
                      <a:endParaRPr lang="ko-KR" altLang="en-US" sz="1800" b="0" dirty="0"/>
                    </a:p>
                  </a:txBody>
                  <a:tcPr/>
                </a:tc>
                <a:tc>
                  <a:txBody>
                    <a:bodyPr/>
                    <a:lstStyle/>
                    <a:p>
                      <a:pPr algn="ctr" latinLnBrk="1"/>
                      <a:r>
                        <a:rPr lang="en-US" altLang="ko-KR" sz="1800" dirty="0"/>
                        <a:t>0.718</a:t>
                      </a:r>
                      <a:endParaRPr lang="ko-KR" altLang="en-US" sz="1800" b="0" dirty="0"/>
                    </a:p>
                  </a:txBody>
                  <a:tcPr/>
                </a:tc>
                <a:extLst>
                  <a:ext uri="{0D108BD9-81ED-4DB2-BD59-A6C34878D82A}">
                    <a16:rowId xmlns:a16="http://schemas.microsoft.com/office/drawing/2014/main" val="1390813890"/>
                  </a:ext>
                </a:extLst>
              </a:tr>
              <a:tr h="323647">
                <a:tc>
                  <a:txBody>
                    <a:bodyPr/>
                    <a:lstStyle/>
                    <a:p>
                      <a:pPr algn="ctr" latinLnBrk="1"/>
                      <a:r>
                        <a:rPr lang="en-US" altLang="ko-KR" sz="1800" b="0" dirty="0"/>
                        <a:t>SAM</a:t>
                      </a:r>
                      <a:endParaRPr lang="ko-KR" altLang="en-US" sz="1800" b="0" dirty="0"/>
                    </a:p>
                  </a:txBody>
                  <a:tcPr/>
                </a:tc>
                <a:tc>
                  <a:txBody>
                    <a:bodyPr/>
                    <a:lstStyle/>
                    <a:p>
                      <a:pPr algn="ctr" latinLnBrk="1"/>
                      <a:r>
                        <a:rPr lang="en-US" altLang="ko-KR" sz="1800" dirty="0"/>
                        <a:t>0.910</a:t>
                      </a:r>
                      <a:endParaRPr lang="ko-KR" altLang="en-US" sz="1800" b="0" dirty="0"/>
                    </a:p>
                  </a:txBody>
                  <a:tcPr/>
                </a:tc>
                <a:tc>
                  <a:txBody>
                    <a:bodyPr/>
                    <a:lstStyle/>
                    <a:p>
                      <a:pPr algn="ctr" latinLnBrk="1"/>
                      <a:r>
                        <a:rPr lang="en-US" altLang="ko-KR" sz="1800" dirty="0"/>
                        <a:t>0.878</a:t>
                      </a:r>
                      <a:endParaRPr lang="ko-KR" altLang="en-US" sz="1800" b="0" dirty="0"/>
                    </a:p>
                  </a:txBody>
                  <a:tcPr/>
                </a:tc>
                <a:tc>
                  <a:txBody>
                    <a:bodyPr/>
                    <a:lstStyle/>
                    <a:p>
                      <a:pPr algn="ctr" latinLnBrk="1"/>
                      <a:r>
                        <a:rPr lang="en-US" altLang="ko-KR" sz="1800" dirty="0"/>
                        <a:t>0.687</a:t>
                      </a:r>
                      <a:endParaRPr lang="ko-KR" altLang="en-US" sz="1800" b="0" dirty="0"/>
                    </a:p>
                  </a:txBody>
                  <a:tcPr/>
                </a:tc>
                <a:extLst>
                  <a:ext uri="{0D108BD9-81ED-4DB2-BD59-A6C34878D82A}">
                    <a16:rowId xmlns:a16="http://schemas.microsoft.com/office/drawing/2014/main" val="3205699654"/>
                  </a:ext>
                </a:extLst>
              </a:tr>
              <a:tr h="323647">
                <a:tc>
                  <a:txBody>
                    <a:bodyPr/>
                    <a:lstStyle/>
                    <a:p>
                      <a:pPr algn="ctr" latinLnBrk="1"/>
                      <a:r>
                        <a:rPr lang="el-GR" altLang="ko-KR" sz="1800" dirty="0"/>
                        <a:t>Δ (</a:t>
                      </a:r>
                      <a:r>
                        <a:rPr lang="en-US" altLang="ko-KR" sz="1800" dirty="0"/>
                        <a:t>SAM−SGD)</a:t>
                      </a:r>
                      <a:endParaRPr lang="ko-KR" altLang="en-US" sz="1800" b="0" dirty="0"/>
                    </a:p>
                  </a:txBody>
                  <a:tcPr/>
                </a:tc>
                <a:tc>
                  <a:txBody>
                    <a:bodyPr/>
                    <a:lstStyle/>
                    <a:p>
                      <a:pPr algn="ctr" latinLnBrk="1"/>
                      <a:r>
                        <a:rPr lang="en-US" altLang="ko-KR" sz="1800" b="0" dirty="0"/>
                        <a:t>+0.035</a:t>
                      </a:r>
                      <a:endParaRPr lang="ko-KR" altLang="en-US" sz="1800" b="0" dirty="0"/>
                    </a:p>
                  </a:txBody>
                  <a:tcPr/>
                </a:tc>
                <a:tc>
                  <a:txBody>
                    <a:bodyPr/>
                    <a:lstStyle/>
                    <a:p>
                      <a:pPr algn="ctr" latinLnBrk="1"/>
                      <a:r>
                        <a:rPr lang="en-US" altLang="ko-KR" sz="1800" b="0" dirty="0">
                          <a:solidFill>
                            <a:schemeClr val="tx1"/>
                          </a:solidFill>
                        </a:rPr>
                        <a:t>- 0.004</a:t>
                      </a:r>
                      <a:endParaRPr lang="ko-KR" altLang="en-US" sz="1800" b="0" dirty="0">
                        <a:solidFill>
                          <a:schemeClr val="tx1"/>
                        </a:solidFill>
                      </a:endParaRPr>
                    </a:p>
                  </a:txBody>
                  <a:tcPr/>
                </a:tc>
                <a:tc>
                  <a:txBody>
                    <a:bodyPr/>
                    <a:lstStyle/>
                    <a:p>
                      <a:pPr algn="ctr" latinLnBrk="1"/>
                      <a:r>
                        <a:rPr lang="en-US" altLang="ko-KR" sz="1800" b="1" dirty="0">
                          <a:solidFill>
                            <a:srgbClr val="C00000"/>
                          </a:solidFill>
                        </a:rPr>
                        <a:t>- 0.03</a:t>
                      </a:r>
                    </a:p>
                  </a:txBody>
                  <a:tcPr/>
                </a:tc>
                <a:extLst>
                  <a:ext uri="{0D108BD9-81ED-4DB2-BD59-A6C34878D82A}">
                    <a16:rowId xmlns:a16="http://schemas.microsoft.com/office/drawing/2014/main" val="3770742764"/>
                  </a:ext>
                </a:extLst>
              </a:tr>
            </a:tbl>
          </a:graphicData>
        </a:graphic>
      </p:graphicFrame>
      <p:graphicFrame>
        <p:nvGraphicFramePr>
          <p:cNvPr id="86" name="표 85">
            <a:extLst>
              <a:ext uri="{FF2B5EF4-FFF2-40B4-BE49-F238E27FC236}">
                <a16:creationId xmlns:a16="http://schemas.microsoft.com/office/drawing/2014/main" id="{4E76E740-3524-C2ED-0DE6-3270D131DB9A}"/>
              </a:ext>
            </a:extLst>
          </p:cNvPr>
          <p:cNvGraphicFramePr>
            <a:graphicFrameLocks noGrp="1"/>
          </p:cNvGraphicFramePr>
          <p:nvPr>
            <p:extLst>
              <p:ext uri="{D42A27DB-BD31-4B8C-83A1-F6EECF244321}">
                <p14:modId xmlns:p14="http://schemas.microsoft.com/office/powerpoint/2010/main" val="2246790403"/>
              </p:ext>
            </p:extLst>
          </p:nvPr>
        </p:nvGraphicFramePr>
        <p:xfrm>
          <a:off x="10849532" y="22662203"/>
          <a:ext cx="10275260" cy="1463040"/>
        </p:xfrm>
        <a:graphic>
          <a:graphicData uri="http://schemas.openxmlformats.org/drawingml/2006/table">
            <a:tbl>
              <a:tblPr firstRow="1" bandRow="1">
                <a:tableStyleId>{5C22544A-7EE6-4342-B048-85BDC9FD1C3A}</a:tableStyleId>
              </a:tblPr>
              <a:tblGrid>
                <a:gridCol w="1530751">
                  <a:extLst>
                    <a:ext uri="{9D8B030D-6E8A-4147-A177-3AD203B41FA5}">
                      <a16:colId xmlns:a16="http://schemas.microsoft.com/office/drawing/2014/main" val="4164641632"/>
                    </a:ext>
                  </a:extLst>
                </a:gridCol>
                <a:gridCol w="2658315">
                  <a:extLst>
                    <a:ext uri="{9D8B030D-6E8A-4147-A177-3AD203B41FA5}">
                      <a16:colId xmlns:a16="http://schemas.microsoft.com/office/drawing/2014/main" val="1339530085"/>
                    </a:ext>
                  </a:extLst>
                </a:gridCol>
                <a:gridCol w="3043097">
                  <a:extLst>
                    <a:ext uri="{9D8B030D-6E8A-4147-A177-3AD203B41FA5}">
                      <a16:colId xmlns:a16="http://schemas.microsoft.com/office/drawing/2014/main" val="660998033"/>
                    </a:ext>
                  </a:extLst>
                </a:gridCol>
                <a:gridCol w="3043097">
                  <a:extLst>
                    <a:ext uri="{9D8B030D-6E8A-4147-A177-3AD203B41FA5}">
                      <a16:colId xmlns:a16="http://schemas.microsoft.com/office/drawing/2014/main" val="3752842942"/>
                    </a:ext>
                  </a:extLst>
                </a:gridCol>
              </a:tblGrid>
              <a:tr h="0">
                <a:tc>
                  <a:txBody>
                    <a:bodyPr/>
                    <a:lstStyle/>
                    <a:p>
                      <a:pPr algn="ctr" latinLnBrk="1"/>
                      <a:r>
                        <a:rPr lang="en-US" altLang="ko-KR" sz="1800" dirty="0"/>
                        <a:t>Optimizer</a:t>
                      </a:r>
                      <a:endParaRPr lang="ko-KR" altLang="en-US" sz="1800" dirty="0"/>
                    </a:p>
                  </a:txBody>
                  <a:tcPr/>
                </a:tc>
                <a:tc>
                  <a:txBody>
                    <a:bodyPr/>
                    <a:lstStyle/>
                    <a:p>
                      <a:pPr algn="ctr" latinLnBrk="1"/>
                      <a:r>
                        <a:rPr lang="en-US" altLang="ko-KR" sz="1800" b="1" dirty="0" err="1">
                          <a:effectLst/>
                        </a:rPr>
                        <a:t>kNN</a:t>
                      </a:r>
                      <a:r>
                        <a:rPr lang="en-US" altLang="ko-KR" sz="1800" b="1" dirty="0">
                          <a:effectLst/>
                        </a:rPr>
                        <a:t> AUROC</a:t>
                      </a:r>
                      <a:endParaRPr lang="ko-KR" altLang="en-US" sz="1800" dirty="0"/>
                    </a:p>
                  </a:txBody>
                  <a:tcPr/>
                </a:tc>
                <a:tc>
                  <a:txBody>
                    <a:bodyPr/>
                    <a:lstStyle/>
                    <a:p>
                      <a:pPr algn="ctr" latinLnBrk="1"/>
                      <a:r>
                        <a:rPr lang="en-US" altLang="ko-KR" sz="1800" b="1" dirty="0" err="1">
                          <a:effectLst/>
                        </a:rPr>
                        <a:t>Mahalanobis</a:t>
                      </a:r>
                      <a:r>
                        <a:rPr lang="en-US" altLang="ko-KR" sz="1800" b="1" dirty="0">
                          <a:effectLst/>
                        </a:rPr>
                        <a:t> AUROC</a:t>
                      </a:r>
                      <a:endParaRPr lang="ko-KR" altLang="en-US" sz="1800" dirty="0"/>
                    </a:p>
                  </a:txBody>
                  <a:tcPr/>
                </a:tc>
                <a:tc>
                  <a:txBody>
                    <a:bodyPr/>
                    <a:lstStyle/>
                    <a:p>
                      <a:pPr algn="ctr" latinLnBrk="1"/>
                      <a:r>
                        <a:rPr lang="en-US" altLang="ko-KR" sz="1800" b="1" dirty="0">
                          <a:effectLst/>
                        </a:rPr>
                        <a:t>DDU AUROC</a:t>
                      </a:r>
                      <a:endParaRPr lang="ko-KR" altLang="en-US" sz="1800" dirty="0"/>
                    </a:p>
                  </a:txBody>
                  <a:tcPr/>
                </a:tc>
                <a:extLst>
                  <a:ext uri="{0D108BD9-81ED-4DB2-BD59-A6C34878D82A}">
                    <a16:rowId xmlns:a16="http://schemas.microsoft.com/office/drawing/2014/main" val="643745562"/>
                  </a:ext>
                </a:extLst>
              </a:tr>
              <a:tr h="323647">
                <a:tc>
                  <a:txBody>
                    <a:bodyPr/>
                    <a:lstStyle/>
                    <a:p>
                      <a:pPr algn="ctr" latinLnBrk="1"/>
                      <a:r>
                        <a:rPr lang="en-US" altLang="ko-KR" sz="1800" b="0" dirty="0"/>
                        <a:t>SGD</a:t>
                      </a:r>
                      <a:endParaRPr lang="ko-KR" altLang="en-US" sz="1800" b="0" dirty="0"/>
                    </a:p>
                  </a:txBody>
                  <a:tcPr/>
                </a:tc>
                <a:tc>
                  <a:txBody>
                    <a:bodyPr/>
                    <a:lstStyle/>
                    <a:p>
                      <a:pPr algn="ctr" latinLnBrk="1"/>
                      <a:r>
                        <a:rPr lang="en-US" altLang="ko-KR" sz="1800" dirty="0"/>
                        <a:t>0.798</a:t>
                      </a:r>
                      <a:endParaRPr lang="ko-KR" altLang="en-US" sz="1800" b="0" dirty="0"/>
                    </a:p>
                  </a:txBody>
                  <a:tcPr/>
                </a:tc>
                <a:tc>
                  <a:txBody>
                    <a:bodyPr/>
                    <a:lstStyle/>
                    <a:p>
                      <a:pPr algn="ctr" latinLnBrk="1"/>
                      <a:r>
                        <a:rPr lang="en-US" altLang="ko-KR" sz="1800" dirty="0"/>
                        <a:t>0.808</a:t>
                      </a:r>
                      <a:endParaRPr lang="ko-KR" altLang="en-US" sz="1800" b="0" dirty="0"/>
                    </a:p>
                  </a:txBody>
                  <a:tcPr/>
                </a:tc>
                <a:tc>
                  <a:txBody>
                    <a:bodyPr/>
                    <a:lstStyle/>
                    <a:p>
                      <a:pPr algn="ctr" latinLnBrk="1"/>
                      <a:r>
                        <a:rPr lang="en-US" altLang="ko-KR" sz="1800" dirty="0"/>
                        <a:t>0.882</a:t>
                      </a:r>
                      <a:endParaRPr lang="ko-KR" altLang="en-US" sz="1800" b="0" dirty="0"/>
                    </a:p>
                  </a:txBody>
                  <a:tcPr/>
                </a:tc>
                <a:extLst>
                  <a:ext uri="{0D108BD9-81ED-4DB2-BD59-A6C34878D82A}">
                    <a16:rowId xmlns:a16="http://schemas.microsoft.com/office/drawing/2014/main" val="1390813890"/>
                  </a:ext>
                </a:extLst>
              </a:tr>
              <a:tr h="323647">
                <a:tc>
                  <a:txBody>
                    <a:bodyPr/>
                    <a:lstStyle/>
                    <a:p>
                      <a:pPr algn="ctr" latinLnBrk="1"/>
                      <a:r>
                        <a:rPr lang="en-US" altLang="ko-KR" sz="1800" b="0" dirty="0"/>
                        <a:t>SAM</a:t>
                      </a:r>
                      <a:endParaRPr lang="ko-KR" altLang="en-US" sz="1800" b="0" dirty="0"/>
                    </a:p>
                  </a:txBody>
                  <a:tcPr/>
                </a:tc>
                <a:tc>
                  <a:txBody>
                    <a:bodyPr/>
                    <a:lstStyle/>
                    <a:p>
                      <a:pPr algn="ctr" latinLnBrk="1"/>
                      <a:r>
                        <a:rPr lang="en-US" altLang="ko-KR" sz="1800" dirty="0"/>
                        <a:t>0.888</a:t>
                      </a:r>
                      <a:endParaRPr lang="ko-KR" altLang="en-US" sz="1800" b="0" dirty="0"/>
                    </a:p>
                  </a:txBody>
                  <a:tcPr/>
                </a:tc>
                <a:tc>
                  <a:txBody>
                    <a:bodyPr/>
                    <a:lstStyle/>
                    <a:p>
                      <a:pPr algn="ctr" latinLnBrk="1"/>
                      <a:r>
                        <a:rPr lang="en-US" altLang="ko-KR" sz="1800" dirty="0"/>
                        <a:t>0.914</a:t>
                      </a:r>
                      <a:endParaRPr lang="ko-KR" altLang="en-US" sz="1800" b="0" dirty="0"/>
                    </a:p>
                  </a:txBody>
                  <a:tcPr/>
                </a:tc>
                <a:tc>
                  <a:txBody>
                    <a:bodyPr/>
                    <a:lstStyle/>
                    <a:p>
                      <a:pPr algn="ctr" latinLnBrk="1"/>
                      <a:r>
                        <a:rPr lang="en-US" altLang="ko-KR" sz="1800" dirty="0"/>
                        <a:t>0.878</a:t>
                      </a:r>
                      <a:endParaRPr lang="ko-KR" altLang="en-US" sz="1800" b="0" dirty="0"/>
                    </a:p>
                  </a:txBody>
                  <a:tcPr/>
                </a:tc>
                <a:extLst>
                  <a:ext uri="{0D108BD9-81ED-4DB2-BD59-A6C34878D82A}">
                    <a16:rowId xmlns:a16="http://schemas.microsoft.com/office/drawing/2014/main" val="3205699654"/>
                  </a:ext>
                </a:extLst>
              </a:tr>
              <a:tr h="323647">
                <a:tc>
                  <a:txBody>
                    <a:bodyPr/>
                    <a:lstStyle/>
                    <a:p>
                      <a:pPr algn="ctr" latinLnBrk="1"/>
                      <a:r>
                        <a:rPr lang="el-GR" altLang="ko-KR" sz="1800" dirty="0"/>
                        <a:t>Δ (</a:t>
                      </a:r>
                      <a:r>
                        <a:rPr lang="en-US" altLang="ko-KR" sz="1800" dirty="0"/>
                        <a:t>SAM−SGD)</a:t>
                      </a:r>
                      <a:endParaRPr lang="ko-KR" altLang="en-US" sz="1800" b="0" dirty="0"/>
                    </a:p>
                  </a:txBody>
                  <a:tcPr/>
                </a:tc>
                <a:tc>
                  <a:txBody>
                    <a:bodyPr/>
                    <a:lstStyle/>
                    <a:p>
                      <a:pPr algn="ctr" latinLnBrk="1"/>
                      <a:r>
                        <a:rPr lang="en-US" altLang="ko-KR" sz="1800" b="0" dirty="0"/>
                        <a:t>+0.09</a:t>
                      </a:r>
                      <a:endParaRPr lang="ko-KR" altLang="en-US" sz="1800" b="0" dirty="0"/>
                    </a:p>
                  </a:txBody>
                  <a:tcPr/>
                </a:tc>
                <a:tc>
                  <a:txBody>
                    <a:bodyPr/>
                    <a:lstStyle/>
                    <a:p>
                      <a:pPr algn="ctr" latinLnBrk="1"/>
                      <a:r>
                        <a:rPr lang="en-US" altLang="ko-KR" sz="1800" b="0" dirty="0"/>
                        <a:t>+0.106</a:t>
                      </a:r>
                      <a:endParaRPr lang="ko-KR" altLang="en-US" sz="1800" b="0" dirty="0"/>
                    </a:p>
                  </a:txBody>
                  <a:tcPr/>
                </a:tc>
                <a:tc>
                  <a:txBody>
                    <a:bodyPr/>
                    <a:lstStyle/>
                    <a:p>
                      <a:pPr algn="ctr" latinLnBrk="1"/>
                      <a:r>
                        <a:rPr lang="en-US" altLang="ko-KR" sz="1800" b="0" dirty="0"/>
                        <a:t>-0.004</a:t>
                      </a:r>
                      <a:endParaRPr lang="ko-KR" altLang="en-US" sz="1800" b="0" dirty="0"/>
                    </a:p>
                  </a:txBody>
                  <a:tcPr/>
                </a:tc>
                <a:extLst>
                  <a:ext uri="{0D108BD9-81ED-4DB2-BD59-A6C34878D82A}">
                    <a16:rowId xmlns:a16="http://schemas.microsoft.com/office/drawing/2014/main" val="3770742764"/>
                  </a:ext>
                </a:extLst>
              </a:tr>
            </a:tbl>
          </a:graphicData>
        </a:graphic>
      </p:graphicFrame>
      <p:sp>
        <p:nvSpPr>
          <p:cNvPr id="87" name="TextBox 86">
            <a:extLst>
              <a:ext uri="{FF2B5EF4-FFF2-40B4-BE49-F238E27FC236}">
                <a16:creationId xmlns:a16="http://schemas.microsoft.com/office/drawing/2014/main" id="{E0714072-4833-2E91-B424-0F18AFC9B8CC}"/>
              </a:ext>
            </a:extLst>
          </p:cNvPr>
          <p:cNvSpPr txBox="1"/>
          <p:nvPr/>
        </p:nvSpPr>
        <p:spPr>
          <a:xfrm>
            <a:off x="10843887" y="22317978"/>
            <a:ext cx="2645737" cy="369332"/>
          </a:xfrm>
          <a:prstGeom prst="rect">
            <a:avLst/>
          </a:prstGeom>
          <a:noFill/>
        </p:spPr>
        <p:txBody>
          <a:bodyPr wrap="square">
            <a:spAutoFit/>
          </a:bodyPr>
          <a:lstStyle/>
          <a:p>
            <a:pPr algn="just"/>
            <a:r>
              <a:rPr lang="en-US" altLang="ko-KR" sz="1800" b="1" dirty="0">
                <a:solidFill>
                  <a:srgbClr val="0070C0"/>
                </a:solidFill>
              </a:rPr>
              <a:t>Result2 : </a:t>
            </a:r>
            <a:r>
              <a:rPr lang="en-US" altLang="ko-KR" b="1" dirty="0">
                <a:solidFill>
                  <a:srgbClr val="0070C0"/>
                </a:solidFill>
              </a:rPr>
              <a:t>SVHN</a:t>
            </a:r>
            <a:r>
              <a:rPr lang="en-US" altLang="ko-KR" sz="1800" b="1" dirty="0">
                <a:solidFill>
                  <a:srgbClr val="0070C0"/>
                </a:solidFill>
              </a:rPr>
              <a:t> (far-OOD)</a:t>
            </a:r>
          </a:p>
        </p:txBody>
      </p:sp>
      <p:sp>
        <p:nvSpPr>
          <p:cNvPr id="88" name="TextBox 87">
            <a:extLst>
              <a:ext uri="{FF2B5EF4-FFF2-40B4-BE49-F238E27FC236}">
                <a16:creationId xmlns:a16="http://schemas.microsoft.com/office/drawing/2014/main" id="{D75C65CC-2CE5-CEE2-EF57-123F5F9D1601}"/>
              </a:ext>
            </a:extLst>
          </p:cNvPr>
          <p:cNvSpPr txBox="1"/>
          <p:nvPr/>
        </p:nvSpPr>
        <p:spPr>
          <a:xfrm>
            <a:off x="10843887" y="24140458"/>
            <a:ext cx="10237042" cy="2585323"/>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altLang="ko-KR" b="1" dirty="0" err="1">
                <a:ea typeface="Pretendard" panose="02000503000000020004" pitchFamily="2" charset="-127"/>
                <a:cs typeface="Pretendard" panose="02000503000000020004" pitchFamily="2" charset="-127"/>
              </a:rPr>
              <a:t>kNN</a:t>
            </a:r>
            <a:r>
              <a:rPr lang="en-US" altLang="ko-KR" dirty="0">
                <a:ea typeface="Pretendard" panose="02000503000000020004" pitchFamily="2" charset="-127"/>
                <a:cs typeface="Pretendard" panose="02000503000000020004" pitchFamily="2" charset="-127"/>
              </a:rPr>
              <a:t> : </a:t>
            </a:r>
            <a:r>
              <a:rPr lang="en-US" altLang="ko-KR" dirty="0"/>
              <a:t>SAM’s </a:t>
            </a:r>
            <a:r>
              <a:rPr lang="en-US" altLang="ko-KR" dirty="0" err="1"/>
              <a:t>isotropization</a:t>
            </a:r>
            <a:r>
              <a:rPr lang="en-US" altLang="ko-KR" dirty="0"/>
              <a:t> trims anisotropic tails of ID feature clouds, enlarging the ID–far-OOD distance gap and thus improving </a:t>
            </a:r>
            <a:r>
              <a:rPr lang="en-US" altLang="ko-KR" dirty="0" err="1"/>
              <a:t>kNN</a:t>
            </a:r>
            <a:r>
              <a:rPr lang="en-US" altLang="ko-KR" dirty="0"/>
              <a:t> AUROC.</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b="1" dirty="0" err="1"/>
              <a:t>Mahalanobis</a:t>
            </a:r>
            <a:r>
              <a:rPr lang="en-US" altLang="ko-KR" b="1" dirty="0"/>
              <a:t> :</a:t>
            </a:r>
            <a:r>
              <a:rPr lang="en-US" altLang="ko-KR" dirty="0"/>
              <a:t> AUROC improves substantially from </a:t>
            </a:r>
            <a:r>
              <a:rPr lang="en-US" altLang="ko-KR" b="1" dirty="0"/>
              <a:t>0.808 → 0.914 (+0.106)</a:t>
            </a:r>
            <a:r>
              <a:rPr lang="en-US" altLang="ko-KR" dirty="0"/>
              <a:t>. This suggests that SAM’s reduction in anisotropy makes the </a:t>
            </a:r>
            <a:r>
              <a:rPr lang="en-US" altLang="ko-KR" i="1" dirty="0"/>
              <a:t>shared covariance</a:t>
            </a:r>
            <a:r>
              <a:rPr lang="en-US" altLang="ko-KR" dirty="0"/>
              <a:t> assumption of </a:t>
            </a:r>
            <a:r>
              <a:rPr lang="en-US" altLang="ko-KR" dirty="0" err="1"/>
              <a:t>Mahalanobis</a:t>
            </a:r>
            <a:r>
              <a:rPr lang="en-US" altLang="ko-KR" dirty="0"/>
              <a:t> distance particularly well-aligned with far-OOD scenarios.</a:t>
            </a:r>
          </a:p>
          <a:p>
            <a:pPr marL="285750" indent="-285750" algn="just">
              <a:buFont typeface="Arial" panose="020B0604020202020204" pitchFamily="34" charset="0"/>
              <a:buChar char="•"/>
            </a:pPr>
            <a:endParaRPr lang="en-US" altLang="ko-KR" dirty="0">
              <a:latin typeface="Pretendard" panose="02000503000000020004" pitchFamily="2" charset="-127"/>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b="1" dirty="0"/>
              <a:t>DDU :</a:t>
            </a:r>
            <a:r>
              <a:rPr lang="en-US" altLang="ko-KR" dirty="0"/>
              <a:t> AUROC changes only marginally (</a:t>
            </a:r>
            <a:r>
              <a:rPr lang="en-US" altLang="ko-KR" b="1" dirty="0"/>
              <a:t>0.882 → 0.878, −0.004</a:t>
            </a:r>
            <a:r>
              <a:rPr lang="en-US" altLang="ko-KR" dirty="0"/>
              <a:t>), indicating that unlike in near-OOD settings the </a:t>
            </a:r>
            <a:r>
              <a:rPr lang="en-US" altLang="ko-KR" dirty="0" err="1"/>
              <a:t>isotropization</a:t>
            </a:r>
            <a:r>
              <a:rPr lang="en-US" altLang="ko-KR" dirty="0"/>
              <a:t> induced by SAM has little impact on DDU performance for far-OOD detection.</a:t>
            </a:r>
          </a:p>
        </p:txBody>
      </p:sp>
      <p:sp>
        <p:nvSpPr>
          <p:cNvPr id="95" name="TextBox 94">
            <a:extLst>
              <a:ext uri="{FF2B5EF4-FFF2-40B4-BE49-F238E27FC236}">
                <a16:creationId xmlns:a16="http://schemas.microsoft.com/office/drawing/2014/main" id="{B3830FA3-7EAB-C666-CAAE-24DC7DDE8238}"/>
              </a:ext>
            </a:extLst>
          </p:cNvPr>
          <p:cNvSpPr txBox="1"/>
          <p:nvPr/>
        </p:nvSpPr>
        <p:spPr>
          <a:xfrm>
            <a:off x="10830874" y="19714874"/>
            <a:ext cx="10293918" cy="2585323"/>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altLang="ko-KR" b="1" dirty="0" err="1"/>
              <a:t>kNN</a:t>
            </a:r>
            <a:r>
              <a:rPr lang="en-US" altLang="ko-KR" dirty="0"/>
              <a:t> : AUROC increases under SAM, suggesting that even with more isotropic feature clouds, simple distance-based </a:t>
            </a:r>
            <a:r>
              <a:rPr lang="en-US" altLang="ko-KR" dirty="0" err="1"/>
              <a:t>kNN</a:t>
            </a:r>
            <a:r>
              <a:rPr lang="en-US" altLang="ko-KR" dirty="0"/>
              <a:t> detection can benefit from smoother feature geometry.</a:t>
            </a:r>
          </a:p>
          <a:p>
            <a:pPr marL="285750" indent="-285750" algn="just">
              <a:buFont typeface="Arial" panose="020B0604020202020204" pitchFamily="34" charset="0"/>
              <a:buChar char="•"/>
            </a:pPr>
            <a:endParaRPr lang="en-US" altLang="ko-KR" dirty="0">
              <a:ea typeface="Pretendard" panose="02000503000000020004" pitchFamily="2" charset="-127"/>
              <a:cs typeface="Pretendard" panose="02000503000000020004" pitchFamily="2" charset="-127"/>
            </a:endParaRPr>
          </a:p>
          <a:p>
            <a:pPr marL="285750" indent="-285750" algn="just">
              <a:buFont typeface="Arial" panose="020B0604020202020204" pitchFamily="34" charset="0"/>
              <a:buChar char="•"/>
            </a:pPr>
            <a:r>
              <a:rPr lang="en-US" altLang="ko-KR" b="1" dirty="0" err="1"/>
              <a:t>Mahalanobis</a:t>
            </a:r>
            <a:r>
              <a:rPr lang="en-US" altLang="ko-KR" dirty="0"/>
              <a:t> : The change is minimal (≈ 0.004), indicating that the shared-covariance assumption underlying </a:t>
            </a:r>
            <a:r>
              <a:rPr lang="en-US" altLang="ko-KR" dirty="0" err="1"/>
              <a:t>Mahalanobis</a:t>
            </a:r>
            <a:r>
              <a:rPr lang="en-US" altLang="ko-KR" dirty="0"/>
              <a:t> distance remains stable despite SAM-induced </a:t>
            </a:r>
            <a:r>
              <a:rPr lang="en-US" altLang="ko-KR" dirty="0" err="1"/>
              <a:t>isotropization</a:t>
            </a:r>
            <a:r>
              <a:rPr lang="en-US" altLang="ko-KR" dirty="0"/>
              <a:t>.</a:t>
            </a:r>
          </a:p>
          <a:p>
            <a:pPr marL="285750" indent="-285750" algn="just">
              <a:buFont typeface="Arial" panose="020B0604020202020204" pitchFamily="34" charset="0"/>
              <a:buChar char="•"/>
            </a:pPr>
            <a:endParaRPr lang="en-US" altLang="ko-KR" dirty="0">
              <a:ea typeface="Pretendard" panose="02000503000000020004" pitchFamily="2" charset="-127"/>
              <a:cs typeface="Pretendard" panose="02000503000000020004" pitchFamily="2" charset="-127"/>
            </a:endParaRPr>
          </a:p>
          <a:p>
            <a:pPr marL="285750" indent="-285750">
              <a:buFont typeface="Arial" panose="020B0604020202020204" pitchFamily="34" charset="0"/>
              <a:buChar char="•"/>
            </a:pPr>
            <a:r>
              <a:rPr lang="en-US" altLang="ko-KR" b="1" dirty="0"/>
              <a:t>DDU</a:t>
            </a:r>
            <a:r>
              <a:rPr lang="en-US" altLang="ko-KR" dirty="0"/>
              <a:t> : AUROC drops from 0.718 → 0.687 (−0.031). Because DDU relies on class-specific covariance matrices </a:t>
            </a:r>
            <a:r>
              <a:rPr lang="el-GR" altLang="ko-KR" dirty="0"/>
              <a:t>Σ₍</a:t>
            </a:r>
            <a:r>
              <a:rPr lang="en-US" altLang="ko-KR" dirty="0"/>
              <a:t>c₎, the enlargement of small eigenvalues under SAM weakens separation in formerly “thin” directions, making near-OOD instances harder to distinguish.</a:t>
            </a:r>
          </a:p>
        </p:txBody>
      </p:sp>
      <p:pic>
        <p:nvPicPr>
          <p:cNvPr id="24" name="그림 23">
            <a:extLst>
              <a:ext uri="{FF2B5EF4-FFF2-40B4-BE49-F238E27FC236}">
                <a16:creationId xmlns:a16="http://schemas.microsoft.com/office/drawing/2014/main" id="{3D200640-3587-FD15-4001-362964DDF1C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4802428" y="9949229"/>
            <a:ext cx="3061919" cy="2308168"/>
          </a:xfrm>
          <a:prstGeom prst="rect">
            <a:avLst/>
          </a:prstGeom>
        </p:spPr>
      </p:pic>
      <p:pic>
        <p:nvPicPr>
          <p:cNvPr id="30" name="그림 29">
            <a:extLst>
              <a:ext uri="{FF2B5EF4-FFF2-40B4-BE49-F238E27FC236}">
                <a16:creationId xmlns:a16="http://schemas.microsoft.com/office/drawing/2014/main" id="{8ED17951-C4F9-3768-04CB-527A2506100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558621" y="6158880"/>
            <a:ext cx="4572691" cy="3246285"/>
          </a:xfrm>
          <a:prstGeom prst="rect">
            <a:avLst/>
          </a:prstGeom>
        </p:spPr>
      </p:pic>
      <p:pic>
        <p:nvPicPr>
          <p:cNvPr id="32" name="그림 31">
            <a:extLst>
              <a:ext uri="{FF2B5EF4-FFF2-40B4-BE49-F238E27FC236}">
                <a16:creationId xmlns:a16="http://schemas.microsoft.com/office/drawing/2014/main" id="{67124ECA-9B92-4432-E20A-011B8DE86CC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125312" y="9946943"/>
            <a:ext cx="3006000" cy="2250302"/>
          </a:xfrm>
          <a:prstGeom prst="rect">
            <a:avLst/>
          </a:prstGeom>
        </p:spPr>
      </p:pic>
      <p:sp>
        <p:nvSpPr>
          <p:cNvPr id="37" name="TextBox 36">
            <a:extLst>
              <a:ext uri="{FF2B5EF4-FFF2-40B4-BE49-F238E27FC236}">
                <a16:creationId xmlns:a16="http://schemas.microsoft.com/office/drawing/2014/main" id="{C066B9C8-464A-39D5-7399-C5E938597B23}"/>
              </a:ext>
            </a:extLst>
          </p:cNvPr>
          <p:cNvSpPr txBox="1"/>
          <p:nvPr/>
        </p:nvSpPr>
        <p:spPr>
          <a:xfrm>
            <a:off x="16927167" y="9338522"/>
            <a:ext cx="4797119" cy="369332"/>
          </a:xfrm>
          <a:prstGeom prst="rect">
            <a:avLst/>
          </a:prstGeom>
          <a:noFill/>
        </p:spPr>
        <p:txBody>
          <a:bodyPr wrap="square" rtlCol="0">
            <a:spAutoFit/>
          </a:bodyPr>
          <a:lstStyle/>
          <a:p>
            <a:pPr algn="ctr"/>
            <a:r>
              <a:rPr lang="en-US" altLang="ko-KR" b="1" dirty="0">
                <a:solidFill>
                  <a:srgbClr val="0070C0"/>
                </a:solidFill>
              </a:rPr>
              <a:t>Train data : CIFAR-100</a:t>
            </a:r>
          </a:p>
        </p:txBody>
      </p:sp>
      <p:sp>
        <p:nvSpPr>
          <p:cNvPr id="38" name="TextBox 37">
            <a:extLst>
              <a:ext uri="{FF2B5EF4-FFF2-40B4-BE49-F238E27FC236}">
                <a16:creationId xmlns:a16="http://schemas.microsoft.com/office/drawing/2014/main" id="{C5CC7383-C968-CFC7-3424-4724CC5AAE9D}"/>
              </a:ext>
            </a:extLst>
          </p:cNvPr>
          <p:cNvSpPr txBox="1"/>
          <p:nvPr/>
        </p:nvSpPr>
        <p:spPr>
          <a:xfrm>
            <a:off x="18346150" y="12213898"/>
            <a:ext cx="2607262" cy="369332"/>
          </a:xfrm>
          <a:prstGeom prst="rect">
            <a:avLst/>
          </a:prstGeom>
          <a:noFill/>
        </p:spPr>
        <p:txBody>
          <a:bodyPr wrap="square" rtlCol="0">
            <a:spAutoFit/>
          </a:bodyPr>
          <a:lstStyle/>
          <a:p>
            <a:pPr algn="ctr"/>
            <a:r>
              <a:rPr lang="en-US" altLang="ko-KR" b="1" dirty="0">
                <a:solidFill>
                  <a:srgbClr val="0070C0"/>
                </a:solidFill>
              </a:rPr>
              <a:t>Far OOD data : SVHN</a:t>
            </a:r>
          </a:p>
        </p:txBody>
      </p:sp>
      <p:sp>
        <p:nvSpPr>
          <p:cNvPr id="40" name="TextBox 39">
            <a:extLst>
              <a:ext uri="{FF2B5EF4-FFF2-40B4-BE49-F238E27FC236}">
                <a16:creationId xmlns:a16="http://schemas.microsoft.com/office/drawing/2014/main" id="{7724F33C-CD17-3284-F6A1-09A5EFCE3893}"/>
              </a:ext>
            </a:extLst>
          </p:cNvPr>
          <p:cNvSpPr txBox="1"/>
          <p:nvPr/>
        </p:nvSpPr>
        <p:spPr>
          <a:xfrm>
            <a:off x="14248961" y="12219467"/>
            <a:ext cx="4797119" cy="369332"/>
          </a:xfrm>
          <a:prstGeom prst="rect">
            <a:avLst/>
          </a:prstGeom>
          <a:noFill/>
        </p:spPr>
        <p:txBody>
          <a:bodyPr wrap="square" rtlCol="0">
            <a:spAutoFit/>
          </a:bodyPr>
          <a:lstStyle/>
          <a:p>
            <a:pPr algn="ctr"/>
            <a:r>
              <a:rPr lang="en-US" altLang="ko-KR" b="1" dirty="0">
                <a:solidFill>
                  <a:srgbClr val="0070C0"/>
                </a:solidFill>
              </a:rPr>
              <a:t>Near OOD data : </a:t>
            </a:r>
            <a:r>
              <a:rPr lang="en-US" altLang="ko-KR" b="1" dirty="0" err="1">
                <a:solidFill>
                  <a:srgbClr val="0070C0"/>
                </a:solidFill>
              </a:rPr>
              <a:t>TinyImageNet</a:t>
            </a:r>
            <a:endParaRPr lang="en-US" altLang="ko-KR" b="1" dirty="0">
              <a:solidFill>
                <a:srgbClr val="0070C0"/>
              </a:solidFill>
            </a:endParaRPr>
          </a:p>
        </p:txBody>
      </p:sp>
      <p:sp>
        <p:nvSpPr>
          <p:cNvPr id="12" name="직사각형 11">
            <a:extLst>
              <a:ext uri="{FF2B5EF4-FFF2-40B4-BE49-F238E27FC236}">
                <a16:creationId xmlns:a16="http://schemas.microsoft.com/office/drawing/2014/main" id="{49462693-3E39-2448-5A80-C92CEECC4B7C}"/>
              </a:ext>
            </a:extLst>
          </p:cNvPr>
          <p:cNvSpPr/>
          <p:nvPr/>
        </p:nvSpPr>
        <p:spPr>
          <a:xfrm>
            <a:off x="271307" y="3058216"/>
            <a:ext cx="20841010"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Motivation</a:t>
            </a:r>
            <a:endParaRPr lang="ko-KR" altLang="en-US" sz="3400" b="1" dirty="0"/>
          </a:p>
        </p:txBody>
      </p:sp>
      <p:sp>
        <p:nvSpPr>
          <p:cNvPr id="17" name="TextBox 16">
            <a:extLst>
              <a:ext uri="{FF2B5EF4-FFF2-40B4-BE49-F238E27FC236}">
                <a16:creationId xmlns:a16="http://schemas.microsoft.com/office/drawing/2014/main" id="{498229B0-34F6-F91D-3B9D-CBAC99FEDD25}"/>
              </a:ext>
            </a:extLst>
          </p:cNvPr>
          <p:cNvSpPr txBox="1"/>
          <p:nvPr/>
        </p:nvSpPr>
        <p:spPr>
          <a:xfrm>
            <a:off x="199224" y="3583722"/>
            <a:ext cx="20818378" cy="2031325"/>
          </a:xfrm>
          <a:prstGeom prst="rect">
            <a:avLst/>
          </a:prstGeom>
          <a:noFill/>
        </p:spPr>
        <p:txBody>
          <a:bodyPr wrap="square" rtlCol="0">
            <a:spAutoFit/>
          </a:bodyPr>
          <a:lstStyle/>
          <a:p>
            <a:pPr algn="just"/>
            <a:r>
              <a:rPr lang="en-US" altLang="ko-KR" dirty="0"/>
              <a:t>Deep neural networks often remain over-confident on unseen inputs, motivating interest in methods that improve uncertainty and robustness. Sharpness-Aware Minimization (SAM) has been shown to enhance generalization, reduce ECE, and maintain or improve </a:t>
            </a:r>
            <a:r>
              <a:rPr lang="en-US" altLang="ko-KR" i="1" dirty="0"/>
              <a:t>logit-based</a:t>
            </a:r>
            <a:r>
              <a:rPr lang="en-US" altLang="ko-KR" dirty="0"/>
              <a:t> OOD detection.</a:t>
            </a:r>
          </a:p>
          <a:p>
            <a:pPr algn="just"/>
            <a:endParaRPr lang="en-US" altLang="ko-KR" dirty="0">
              <a:ea typeface="Pretendard" panose="02000503000000020004" pitchFamily="2" charset="-127"/>
              <a:cs typeface="Pretendard" panose="02000503000000020004" pitchFamily="2" charset="-127"/>
            </a:endParaRPr>
          </a:p>
          <a:p>
            <a:pPr algn="ctr"/>
            <a:r>
              <a:rPr lang="en-US" altLang="ko-KR" b="1" dirty="0"/>
              <a:t>“But do these benefits of SAM also hold for </a:t>
            </a:r>
            <a:r>
              <a:rPr lang="en-US" altLang="ko-KR" b="1" i="1" dirty="0"/>
              <a:t>distance-based</a:t>
            </a:r>
            <a:r>
              <a:rPr lang="en-US" altLang="ko-KR" b="1" dirty="0"/>
              <a:t> OOD detection methods, which are highly sensitive to feature-space geometry?”</a:t>
            </a:r>
          </a:p>
          <a:p>
            <a:pPr algn="ctr"/>
            <a:endParaRPr lang="en-US" altLang="ko-KR" dirty="0"/>
          </a:p>
          <a:p>
            <a:r>
              <a:rPr lang="en-US" altLang="ko-KR" dirty="0"/>
              <a:t>To answer this, we compare SGD and SAM in terms of how they reshape last-layer feature geometry, and we evaluate how these geometric shifts affect distance-based OOD detectors. Our results show that the interaction among optimizer choice, feature-space geometry, and OOD performance must be jointly considered for reliable deployment</a:t>
            </a:r>
          </a:p>
        </p:txBody>
      </p:sp>
      <p:sp>
        <p:nvSpPr>
          <p:cNvPr id="23" name="TextBox 22">
            <a:extLst>
              <a:ext uri="{FF2B5EF4-FFF2-40B4-BE49-F238E27FC236}">
                <a16:creationId xmlns:a16="http://schemas.microsoft.com/office/drawing/2014/main" id="{6CB31989-4C5A-FA1B-6016-877E73C9CDB3}"/>
              </a:ext>
            </a:extLst>
          </p:cNvPr>
          <p:cNvSpPr txBox="1"/>
          <p:nvPr/>
        </p:nvSpPr>
        <p:spPr>
          <a:xfrm>
            <a:off x="248312" y="22871864"/>
            <a:ext cx="4326984" cy="369332"/>
          </a:xfrm>
          <a:prstGeom prst="rect">
            <a:avLst/>
          </a:prstGeom>
          <a:noFill/>
        </p:spPr>
        <p:txBody>
          <a:bodyPr wrap="square">
            <a:spAutoFit/>
          </a:bodyPr>
          <a:lstStyle/>
          <a:p>
            <a:pPr algn="just"/>
            <a:r>
              <a:rPr lang="en-US" altLang="ko-KR" b="1" dirty="0">
                <a:solidFill>
                  <a:srgbClr val="0070C0"/>
                </a:solidFill>
              </a:rPr>
              <a:t>Distance-based OOD Detection Comparison</a:t>
            </a:r>
          </a:p>
        </p:txBody>
      </p:sp>
      <p:sp>
        <p:nvSpPr>
          <p:cNvPr id="27" name="직사각형 26">
            <a:extLst>
              <a:ext uri="{FF2B5EF4-FFF2-40B4-BE49-F238E27FC236}">
                <a16:creationId xmlns:a16="http://schemas.microsoft.com/office/drawing/2014/main" id="{6BDA4BCE-55D2-8A37-43CA-5DFE89B72E72}"/>
              </a:ext>
            </a:extLst>
          </p:cNvPr>
          <p:cNvSpPr/>
          <p:nvPr/>
        </p:nvSpPr>
        <p:spPr>
          <a:xfrm>
            <a:off x="10811880" y="5631345"/>
            <a:ext cx="10300438" cy="461377"/>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3600" rtlCol="0" anchor="b"/>
          <a:lstStyle/>
          <a:p>
            <a:r>
              <a:rPr lang="en-US" altLang="ko-KR" sz="3400" b="1" dirty="0"/>
              <a:t> Experimental setup</a:t>
            </a:r>
            <a:endParaRPr lang="ko-KR" altLang="en-US" sz="3400" b="1" dirty="0"/>
          </a:p>
        </p:txBody>
      </p:sp>
      <p:sp>
        <p:nvSpPr>
          <p:cNvPr id="5" name="TextBox 4">
            <a:extLst>
              <a:ext uri="{FF2B5EF4-FFF2-40B4-BE49-F238E27FC236}">
                <a16:creationId xmlns:a16="http://schemas.microsoft.com/office/drawing/2014/main" id="{A9E8E14C-70B3-F834-68A7-F495E585869E}"/>
              </a:ext>
            </a:extLst>
          </p:cNvPr>
          <p:cNvSpPr txBox="1"/>
          <p:nvPr/>
        </p:nvSpPr>
        <p:spPr>
          <a:xfrm>
            <a:off x="10843887" y="8448104"/>
            <a:ext cx="5361860" cy="1508105"/>
          </a:xfrm>
          <a:prstGeom prst="rect">
            <a:avLst/>
          </a:prstGeom>
          <a:noFill/>
          <a:ln>
            <a:noFill/>
          </a:ln>
        </p:spPr>
        <p:txBody>
          <a:bodyPr wrap="square" rtlCol="0">
            <a:spAutoFit/>
          </a:bodyPr>
          <a:lstStyle/>
          <a:p>
            <a:pPr algn="just"/>
            <a:r>
              <a:rPr lang="en-US" altLang="ko-KR" sz="2000" b="1" dirty="0">
                <a:solidFill>
                  <a:srgbClr val="0070C0"/>
                </a:solidFill>
              </a:rPr>
              <a:t>OOD </a:t>
            </a:r>
            <a:r>
              <a:rPr lang="en-US" altLang="ko-KR" sz="2000" b="1" dirty="0" err="1">
                <a:solidFill>
                  <a:srgbClr val="0070C0"/>
                </a:solidFill>
              </a:rPr>
              <a:t>Dectection</a:t>
            </a:r>
            <a:r>
              <a:rPr lang="en-US" altLang="ko-KR" sz="2000" b="1" dirty="0">
                <a:solidFill>
                  <a:srgbClr val="0070C0"/>
                </a:solidFill>
              </a:rPr>
              <a:t> Evaluation </a:t>
            </a:r>
          </a:p>
          <a:p>
            <a:pPr marL="285750" indent="-285750" algn="just">
              <a:buFont typeface="Arial" panose="020B0604020202020204" pitchFamily="34" charset="0"/>
              <a:buChar char="•"/>
            </a:pPr>
            <a:r>
              <a:rPr lang="en-US" altLang="ko-KR" dirty="0"/>
              <a:t> Near-OOD : </a:t>
            </a:r>
            <a:r>
              <a:rPr lang="en-US" altLang="ko-KR" dirty="0" err="1"/>
              <a:t>TinyImageNet</a:t>
            </a:r>
            <a:r>
              <a:rPr lang="en-US" altLang="ko-KR" dirty="0"/>
              <a:t>, Far-OOD : SVHN</a:t>
            </a:r>
          </a:p>
          <a:p>
            <a:pPr marL="342900" indent="-342900" algn="just">
              <a:buFont typeface="Arial" panose="020B0604020202020204" pitchFamily="34" charset="0"/>
              <a:buChar char="•"/>
            </a:pPr>
            <a:r>
              <a:rPr lang="en-US" altLang="ko-KR" dirty="0"/>
              <a:t>Metrics : AUROC (</a:t>
            </a:r>
            <a:r>
              <a:rPr lang="en-US" altLang="ko-KR" dirty="0" err="1"/>
              <a:t>kNN</a:t>
            </a:r>
            <a:r>
              <a:rPr lang="en-US" altLang="ko-KR" dirty="0"/>
              <a:t>, </a:t>
            </a:r>
            <a:r>
              <a:rPr lang="en-US" altLang="ko-KR" dirty="0" err="1"/>
              <a:t>Mahalanobis</a:t>
            </a:r>
            <a:r>
              <a:rPr lang="en-US" altLang="ko-KR" dirty="0"/>
              <a:t>, DDU)</a:t>
            </a:r>
          </a:p>
          <a:p>
            <a:pPr marL="342900" indent="-342900" algn="just">
              <a:buFont typeface="Arial" panose="020B0604020202020204" pitchFamily="34" charset="0"/>
              <a:buChar char="•"/>
            </a:pPr>
            <a:r>
              <a:rPr lang="en-US" altLang="ko-KR" dirty="0"/>
              <a:t>Evaluate OOD performance changes under different optimizers in near-OOD and far-OOD settings.</a:t>
            </a:r>
          </a:p>
        </p:txBody>
      </p:sp>
      <p:sp>
        <p:nvSpPr>
          <p:cNvPr id="6" name="TextBox 5">
            <a:extLst>
              <a:ext uri="{FF2B5EF4-FFF2-40B4-BE49-F238E27FC236}">
                <a16:creationId xmlns:a16="http://schemas.microsoft.com/office/drawing/2014/main" id="{C23B050A-7026-8EDB-3C98-AC20049EA03A}"/>
              </a:ext>
            </a:extLst>
          </p:cNvPr>
          <p:cNvSpPr txBox="1"/>
          <p:nvPr/>
        </p:nvSpPr>
        <p:spPr>
          <a:xfrm>
            <a:off x="10811880" y="10083260"/>
            <a:ext cx="3990548" cy="1785104"/>
          </a:xfrm>
          <a:prstGeom prst="rect">
            <a:avLst/>
          </a:prstGeom>
          <a:noFill/>
          <a:ln>
            <a:noFill/>
          </a:ln>
        </p:spPr>
        <p:txBody>
          <a:bodyPr wrap="square" rtlCol="0">
            <a:spAutoFit/>
          </a:bodyPr>
          <a:lstStyle/>
          <a:p>
            <a:pPr algn="just"/>
            <a:r>
              <a:rPr lang="en-US" altLang="ko-KR" sz="2000" b="1" dirty="0">
                <a:solidFill>
                  <a:srgbClr val="0070C0"/>
                </a:solidFill>
              </a:rPr>
              <a:t>Feature Geometry Analysis</a:t>
            </a:r>
          </a:p>
          <a:p>
            <a:pPr marL="285750" indent="-285750" algn="just">
              <a:buFont typeface="Arial" panose="020B0604020202020204" pitchFamily="34" charset="0"/>
              <a:buChar char="•"/>
            </a:pPr>
            <a:r>
              <a:rPr lang="en-US" altLang="ko-KR" dirty="0"/>
              <a:t>within-class var, inter-class distance, anisotropy(λ₁/trace)</a:t>
            </a:r>
          </a:p>
          <a:p>
            <a:pPr marL="285750" indent="-285750" algn="just">
              <a:buFont typeface="Arial" panose="020B0604020202020204" pitchFamily="34" charset="0"/>
              <a:buChar char="•"/>
            </a:pPr>
            <a:r>
              <a:rPr lang="en-US" altLang="ko-KR" dirty="0"/>
              <a:t>Quantify geometry changes while keeping all conditions fixed except the optimizer.</a:t>
            </a:r>
          </a:p>
        </p:txBody>
      </p:sp>
      <p:sp>
        <p:nvSpPr>
          <p:cNvPr id="9" name="TextBox 8">
            <a:extLst>
              <a:ext uri="{FF2B5EF4-FFF2-40B4-BE49-F238E27FC236}">
                <a16:creationId xmlns:a16="http://schemas.microsoft.com/office/drawing/2014/main" id="{C1DA1434-F1ED-E52B-1F05-142B2F06006A}"/>
              </a:ext>
            </a:extLst>
          </p:cNvPr>
          <p:cNvSpPr txBox="1"/>
          <p:nvPr/>
        </p:nvSpPr>
        <p:spPr>
          <a:xfrm>
            <a:off x="10830874" y="27235768"/>
            <a:ext cx="10312912" cy="2308324"/>
          </a:xfrm>
          <a:prstGeom prst="rect">
            <a:avLst/>
          </a:prstGeom>
          <a:noFill/>
          <a:ln>
            <a:noFill/>
          </a:ln>
        </p:spPr>
        <p:txBody>
          <a:bodyPr wrap="square" rtlCol="0">
            <a:spAutoFit/>
          </a:bodyPr>
          <a:lstStyle/>
          <a:p>
            <a:pPr marL="285750" indent="-285750" algn="just">
              <a:buFont typeface="Arial" panose="020B0604020202020204" pitchFamily="34" charset="0"/>
              <a:buChar char="•"/>
            </a:pPr>
            <a:r>
              <a:rPr lang="en-US" altLang="ko-KR" dirty="0"/>
              <a:t>The experimental results show that SAM reshapes the geometry of the ID feature clouds by increasing within-class variance and reducing anisotropy.</a:t>
            </a:r>
          </a:p>
          <a:p>
            <a:pPr marL="285750" indent="-285750" algn="just">
              <a:buFont typeface="Arial" panose="020B0604020202020204" pitchFamily="34" charset="0"/>
              <a:buChar char="•"/>
            </a:pPr>
            <a:r>
              <a:rPr lang="en-US" altLang="ko-KR" dirty="0"/>
              <a:t>We observe that distance-based OOD detection methods—</a:t>
            </a:r>
            <a:r>
              <a:rPr lang="en-US" altLang="ko-KR" dirty="0" err="1"/>
              <a:t>kNN</a:t>
            </a:r>
            <a:r>
              <a:rPr lang="en-US" altLang="ko-KR" dirty="0"/>
              <a:t>, </a:t>
            </a:r>
            <a:r>
              <a:rPr lang="en-US" altLang="ko-KR" dirty="0" err="1"/>
              <a:t>Mahalanobis</a:t>
            </a:r>
            <a:r>
              <a:rPr lang="en-US" altLang="ko-KR" dirty="0"/>
              <a:t>, and DDU—respond differently to these geometric changes.</a:t>
            </a:r>
          </a:p>
          <a:p>
            <a:pPr marL="285750" indent="-285750" algn="just">
              <a:buFont typeface="Arial" panose="020B0604020202020204" pitchFamily="34" charset="0"/>
              <a:buChar char="•"/>
            </a:pPr>
            <a:r>
              <a:rPr lang="en-US" altLang="ko-KR" dirty="0"/>
              <a:t>These findings highlight that optimization choices can inadvertently weaken certain OOD detection methods depending on how they alter feature geometry. Thus, for reliable uncertainty estimation in practical systems, the interaction among optimization, feature geometry, and OOD detection mechanisms must be jointly considered.</a:t>
            </a:r>
          </a:p>
        </p:txBody>
      </p:sp>
    </p:spTree>
    <p:extLst>
      <p:ext uri="{BB962C8B-B14F-4D97-AF65-F5344CB8AC3E}">
        <p14:creationId xmlns:p14="http://schemas.microsoft.com/office/powerpoint/2010/main" val="3861984827"/>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33712</TotalTime>
  <Words>1495</Words>
  <Application>Microsoft Office PowerPoint</Application>
  <PresentationFormat>사용자 지정</PresentationFormat>
  <Paragraphs>168</Paragraphs>
  <Slides>1</Slides>
  <Notes>1</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1</vt:i4>
      </vt:variant>
    </vt:vector>
  </HeadingPairs>
  <TitlesOfParts>
    <vt:vector size="12" baseType="lpstr">
      <vt:lpstr>HY신명조</vt:lpstr>
      <vt:lpstr>Pretendard</vt:lpstr>
      <vt:lpstr>Malgun Gothic</vt:lpstr>
      <vt:lpstr>Malgun Gothic</vt:lpstr>
      <vt:lpstr>Arial</vt:lpstr>
      <vt:lpstr>Calibri</vt:lpstr>
      <vt:lpstr>Calibri Light</vt:lpstr>
      <vt:lpstr>Cambria Math</vt:lpstr>
      <vt:lpstr>Copperplate Gothic Bold</vt:lpstr>
      <vt:lpstr>Times New Roman</vt:lpstr>
      <vt:lpstr>Office 테마</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jaewon shim</dc:creator>
  <cp:lastModifiedBy>user</cp:lastModifiedBy>
  <cp:revision>454</cp:revision>
  <cp:lastPrinted>2025-06-10T13:12:36Z</cp:lastPrinted>
  <dcterms:created xsi:type="dcterms:W3CDTF">2022-04-18T01:59:51Z</dcterms:created>
  <dcterms:modified xsi:type="dcterms:W3CDTF">2025-12-07T09:29:44Z</dcterms:modified>
</cp:coreProperties>
</file>